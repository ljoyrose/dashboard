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In the next twenty minutes I'll show you how an app gets made in a factory, not in a back bedroom. You'll see the road every idea travels, the checks that keep your customers' data safe, and how your business can start with one short form. Everything you see uses invented businesses and invented numbers, so nothing here is anyone's private data.</a:t>
            </a:r>
          </a:p>
          <a:p/>
          <a:p>
            <a:r>
              <a:t>Framework beat: Title Hook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tell you where this started. And a note for whoever presents this: this story is to be checked with Lisa before use. I run animal businesses, and I trained as a solicitor, so rules and records are part of my everyday life. I wanted simple tools for my own clients. Every app I paid for was hand-made from nothing. Each one had different gaps. When I asked a simple question, 'can one customer ever see another customer's records?', nobody could give me a straight answer with proof. And none of those apps learned anything from the one before. That was my wall. I had good ideas, and I had customers who wanted them, but I had fragile apps and no way to trust them.</a:t>
            </a:r>
          </a:p>
          <a:p/>
          <a:p>
            <a:r>
              <a:t>Framework beat: Origin Story · Epiphany Bridge: Backstory, Desire, Wall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it clicked. Car makers don't hand-carve every car. They have a production line, standard parts and an inspection at every station, and every car that rolls off the line is better because of the ones before it. So I stopped trying to build apps, and I built the factory that builds them. One road with nine stages. A shelf of proven parts that we call bricks. And a gate between every stage, where the work is checked before it's allowed to move on. Each new app reuses what the last one proved. When something goes wrong, the fix becomes a new line on the checklist, so it can't happen again. That's the plan you're about to see.</a:t>
            </a:r>
          </a:p>
          <a:p/>
          <a:p>
            <a:r>
              <a:t>Framework beat: Origin Story · Epiphany Bridge: Epiphany, Plan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from today, make it this one. A factory with gates is what makes a custom app safe, fast and affordable. Here's why. A problem caught at the idea stage costs a short conversation. The same problem caught while building costs credits and time. Caught after launch, it costs customers, money and trust, and sometimes a call from a regulator. So the factory refuses to move an app forward until the evidence for that stage is there. Every stage has a finished-when line, and every gate checks it. That discipline is what lets one small team ship many apps without cutting corners, and it's what lets you trust the app with your customers.</a:t>
            </a:r>
          </a:p>
          <a:p/>
          <a:p>
            <a:r>
              <a:t>Framework beat: The One Thing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there are three beliefs that stop business owners from getting the app they need, and I want to break each one. The first is about the vehicle: the belief that every app has to be invented from nothing, so it must be slow and expensive. The second is about you: the belief that you need to be technical, or hire someone technical, to get an app made. The third is about the world outside: the belief that safety, privacy and the law are someone else's problem, to be sorted out later. Each of the next sections takes one of those beliefs and shows you what the factory does instead. Let's start with the vehicle.</a:t>
            </a:r>
          </a:p>
          <a:p/>
          <a:p>
            <a:r>
              <a:t>Framework beat: 3 Secrets Overview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one. Apps are assembled, not invented. Every app is built from bricks: small, proven parts, each one already tested in other apps. There are one hundred and one bricks in the register today, and they sit on eight shelves. BASICS is the floor that every app gets: sign-in and menus. Boundaries holds the walls between businesses, customers and the public. Bucks handles plans and payments. Body is everything your customers actually see, like bookings and records. Brand swaps the name, colours and logo. Boost gets you found, with public pages and reviews. Brains works things out, like scores and reports. And Bots run on their own, sending reminders and doing imports. Bricks then group into kits, numbered K00 to K08: a booking kit, a client portal kit, a breeding records kit.</a:t>
            </a:r>
          </a:p>
          <a:p/>
          <a:p>
            <a:r>
              <a:t>Framework beat: Secret 1 · Vehicle: Teach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two. You don't need to be technical; you need to be clear. Your part starts with one form. It asks for your vision in a sentence, who pays, and the pain you solve for them. Then it asks twenty short code questions, in plain words. For example: can a stranger read anything without signing in? Can one person belong to two businesses? Six of those questions must be answered. The rest are allowed to say 'not yet known', and the factory will find out. Then come three kill questions: could it give wrong answers that look right, would people use it once and stop, and is there no reason to come back. Finally the factory suggests a verdict, pass, hold or kill, and the data role: who is responsible for the personal data.</a:t>
            </a:r>
          </a:p>
          <a:p/>
          <a:p>
            <a:r>
              <a:t>Framework beat: Secret 2 · Internal: Teach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three. Safety and the law are built in, not bolted on at the end. The factory has eight walls, and each app gets the ones its codes call for. The brand wall means one business can never see another business's data, even inside the same app. The member wall means one customer can never see another customer's records. The public wall controls exactly what a signed-out stranger can read or submit. And the sensitivity hold stops any app that handles health or children's data until a proper data protection impact check has been done and signed. These walls aren't promises in a brochure. As you're about to see, they're tested, again and again, from outside the app.</a:t>
            </a:r>
          </a:p>
          <a:p/>
          <a:p>
            <a:r>
              <a:t>Framework beat: Secret 3 · External: Teach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several ways in, and you can start wherever fits. You can learn how it all works with this course. You can send one idea through the idea form and get an honest verdict. You can have your app built through the factory. If you have an audience of your own, like members, clients or a club, you can put your brand on apps for them with a reseller plan. And if you simply know businesses that need this, you can share a partner link. Each step leads naturally to the next, but none of them forces it. The best place for most people to start is the idea form, because it costs nothing to fill in.</a:t>
            </a:r>
          </a:p>
          <a:p/>
          <a:p>
            <a:r>
              <a:t>Framework beat: Value Ladder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close. If you'd like to see whether your idea fits the factory, fill in the idea form using the partner link on screen. Mention who shared this with you. I'm a partner, and I may earn a referral fee if you go ahead; that never changes your price. Nobody is promised any income.</a:t>
            </a:r>
          </a:p>
          <a:p/>
          <a:p>
            <a:r>
              <a:t>Framework beat: Call To Action · Partner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7.png"/><Relationship Id="rId4" Type="http://schemas.openxmlformats.org/officeDocument/2006/relationships/image" Target="../media/image1.png"/><Relationship Id="rId5" Type="http://schemas.openxmlformats.org/officeDocument/2006/relationships/image" Target="../media/image11.png"/><Relationship Id="rId6" Type="http://schemas.openxmlformats.org/officeDocument/2006/relationships/image" Target="../media/image24.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24.png"/><Relationship Id="rId4"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LJR7 App Factory</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Partner Webinar Cut</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96550" y="457200"/>
            <a:ext cx="107950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91800" y="489584"/>
            <a:ext cx="113030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10 Minutes</a:t>
            </a:r>
          </a:p>
        </p:txBody>
      </p:sp>
      <p:sp>
        <p:nvSpPr>
          <p:cNvPr id="7" name="Rectangle 6"/>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9" name="TextBox 8"/>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1</a:t>
            </a:r>
          </a:p>
        </p:txBody>
      </p:sp>
      <p:sp>
        <p:nvSpPr>
          <p:cNvPr id="10" name="TextBox 9"/>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11" name="TextBox 10"/>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2" name="TextBox 11"/>
          <p:cNvSpPr txBox="1"/>
          <p:nvPr/>
        </p:nvSpPr>
        <p:spPr>
          <a:xfrm>
            <a:off x="609600" y="2252979"/>
            <a:ext cx="7035800" cy="174244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From Idea To Live</a:t>
            </a:r>
          </a:p>
          <a:p>
            <a:pPr algn="l">
              <a:lnSpc>
                <a:spcPts val="6760"/>
              </a:lnSpc>
            </a:pPr>
            <a:r>
              <a:rPr sz="5200" b="1">
                <a:solidFill>
                  <a:srgbClr val="2C2C2A"/>
                </a:solidFill>
                <a:latin typeface="Lexend"/>
              </a:rPr>
              <a:t>App, Every Day</a:t>
            </a:r>
          </a:p>
        </p:txBody>
      </p:sp>
      <p:sp>
        <p:nvSpPr>
          <p:cNvPr id="13" name="TextBox 12"/>
          <p:cNvSpPr txBox="1"/>
          <p:nvPr/>
        </p:nvSpPr>
        <p:spPr>
          <a:xfrm>
            <a:off x="609600" y="4097020"/>
            <a:ext cx="64008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How A Factory Builds Safe, Branded Apps For Your</a:t>
            </a:r>
          </a:p>
          <a:p>
            <a:pPr algn="l">
              <a:lnSpc>
                <a:spcPts val="2600"/>
              </a:lnSpc>
            </a:pPr>
            <a:r>
              <a:rPr sz="2000" b="0">
                <a:solidFill>
                  <a:srgbClr val="756E65"/>
                </a:solidFill>
                <a:latin typeface="Lexend"/>
              </a:rPr>
              <a:t>Business</a:t>
            </a:r>
          </a:p>
        </p:txBody>
      </p:sp>
      <p:pic>
        <p:nvPicPr>
          <p:cNvPr id="14" name="Picture 13" descr="building-factory-2-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This Started</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Backstory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083800" y="457200"/>
            <a:ext cx="14922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179050" y="489584"/>
            <a:ext cx="15430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Founder's Story</a:t>
            </a:r>
          </a:p>
        </p:txBody>
      </p:sp>
      <p:sp>
        <p:nvSpPr>
          <p:cNvPr id="7" name="Rectangle 6"/>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9" name="TextBox 8"/>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2</a:t>
            </a:r>
          </a:p>
        </p:txBody>
      </p:sp>
      <p:sp>
        <p:nvSpPr>
          <p:cNvPr id="10" name="TextBox 9"/>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11" name="TextBox 10"/>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2" name="Picture 11" descr="book-2C2C2A.png"/>
          <p:cNvPicPr>
            <a:picLocks noChangeAspect="1"/>
          </p:cNvPicPr>
          <p:nvPr/>
        </p:nvPicPr>
        <p:blipFill>
          <a:blip r:embed="rId2"/>
          <a:stretch>
            <a:fillRect/>
          </a:stretch>
        </p:blipFill>
        <p:spPr>
          <a:xfrm>
            <a:off x="609600" y="2887979"/>
            <a:ext cx="1016000" cy="1016000"/>
          </a:xfrm>
          <a:prstGeom prst="rect">
            <a:avLst/>
          </a:prstGeom>
        </p:spPr>
      </p:pic>
      <p:sp>
        <p:nvSpPr>
          <p:cNvPr id="13" name="TextBox 12"/>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I Kept Paying For Apps That Were Built</a:t>
            </a:r>
          </a:p>
          <a:p>
            <a:pPr algn="l">
              <a:lnSpc>
                <a:spcPts val="4680"/>
              </a:lnSpc>
            </a:pPr>
            <a:r>
              <a:rPr sz="3600" b="1">
                <a:solidFill>
                  <a:srgbClr val="2C2C2A"/>
                </a:solidFill>
                <a:latin typeface="Lexend"/>
              </a:rPr>
              <a:t>Once And Then Left To Break</a:t>
            </a:r>
          </a:p>
        </p:txBody>
      </p:sp>
      <p:sp>
        <p:nvSpPr>
          <p:cNvPr id="14" name="TextBox 13"/>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Each One Started From Scratch. None Of Them Learned From The Last.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Moment It Changed</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Epiphany</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ulb-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Stop Building Apps. Build The Factory</a:t>
            </a:r>
          </a:p>
          <a:p>
            <a:pPr algn="l">
              <a:lnSpc>
                <a:spcPts val="4680"/>
              </a:lnSpc>
            </a:pPr>
            <a:r>
              <a:rPr sz="3600" b="1">
                <a:solidFill>
                  <a:srgbClr val="2C2C2A"/>
                </a:solidFill>
                <a:latin typeface="Lexend"/>
              </a:rPr>
              <a:t>That Builds Them.</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Same Road, Same Checks, Same Parts, Every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One Thing</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If You Remember One Slide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key-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Factory With Gates Is What Makes A</a:t>
            </a:r>
          </a:p>
          <a:p>
            <a:pPr algn="l">
              <a:lnSpc>
                <a:spcPts val="4680"/>
              </a:lnSpc>
            </a:pPr>
            <a:r>
              <a:rPr sz="3600" b="1">
                <a:solidFill>
                  <a:srgbClr val="2C2C2A"/>
                </a:solidFill>
                <a:latin typeface="Lexend"/>
              </a:rPr>
              <a:t>Custom App Safe, Fast And Affordable</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Gates Catch Problems While They Are Still Cheap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Three Things Most People Get Wrong</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Three Secrets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ounded Rectangle 9"/>
          <p:cNvSpPr/>
          <p:nvPr/>
        </p:nvSpPr>
        <p:spPr>
          <a:xfrm>
            <a:off x="609600" y="1795779"/>
            <a:ext cx="3522133" cy="1808480"/>
          </a:xfrm>
          <a:prstGeom prst="roundRect">
            <a:avLst>
              <a:gd name="adj" fmla="val 1685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ox-2C2C2A.png"/>
          <p:cNvPicPr>
            <a:picLocks noChangeAspect="1"/>
          </p:cNvPicPr>
          <p:nvPr/>
        </p:nvPicPr>
        <p:blipFill>
          <a:blip r:embed="rId2"/>
          <a:stretch>
            <a:fillRect/>
          </a:stretch>
        </p:blipFill>
        <p:spPr>
          <a:xfrm>
            <a:off x="812800" y="2024379"/>
            <a:ext cx="355600" cy="355600"/>
          </a:xfrm>
          <a:prstGeom prst="rect">
            <a:avLst/>
          </a:prstGeom>
        </p:spPr>
      </p:pic>
      <p:sp>
        <p:nvSpPr>
          <p:cNvPr id="12" name="TextBox 11"/>
          <p:cNvSpPr txBox="1"/>
          <p:nvPr/>
        </p:nvSpPr>
        <p:spPr>
          <a:xfrm>
            <a:off x="812800"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Secret 1 · The Vehicle</a:t>
            </a:r>
          </a:p>
        </p:txBody>
      </p:sp>
      <p:sp>
        <p:nvSpPr>
          <p:cNvPr id="13" name="TextBox 12"/>
          <p:cNvSpPr txBox="1"/>
          <p:nvPr/>
        </p:nvSpPr>
        <p:spPr>
          <a:xfrm>
            <a:off x="812800"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Apps Are Assembled From Proven</a:t>
            </a:r>
          </a:p>
          <a:p>
            <a:pPr algn="l">
              <a:lnSpc>
                <a:spcPts val="1820"/>
              </a:lnSpc>
            </a:pPr>
            <a:r>
              <a:rPr sz="1400" b="0">
                <a:solidFill>
                  <a:srgbClr val="756E65"/>
                </a:solidFill>
                <a:latin typeface="Lexend"/>
              </a:rPr>
              <a:t>Parts, Not Invented</a:t>
            </a:r>
          </a:p>
        </p:txBody>
      </p:sp>
      <p:sp>
        <p:nvSpPr>
          <p:cNvPr id="14" name="Rounded Rectangle 13"/>
          <p:cNvSpPr/>
          <p:nvPr/>
        </p:nvSpPr>
        <p:spPr>
          <a:xfrm>
            <a:off x="4334933" y="1795779"/>
            <a:ext cx="3522133" cy="1808480"/>
          </a:xfrm>
          <a:prstGeom prst="roundRect">
            <a:avLst>
              <a:gd name="adj" fmla="val 1685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user-2C2C2A.png"/>
          <p:cNvPicPr>
            <a:picLocks noChangeAspect="1"/>
          </p:cNvPicPr>
          <p:nvPr/>
        </p:nvPicPr>
        <p:blipFill>
          <a:blip r:embed="rId3"/>
          <a:stretch>
            <a:fillRect/>
          </a:stretch>
        </p:blipFill>
        <p:spPr>
          <a:xfrm>
            <a:off x="4538133" y="2024379"/>
            <a:ext cx="355600" cy="355600"/>
          </a:xfrm>
          <a:prstGeom prst="rect">
            <a:avLst/>
          </a:prstGeom>
        </p:spPr>
      </p:pic>
      <p:sp>
        <p:nvSpPr>
          <p:cNvPr id="16" name="TextBox 15"/>
          <p:cNvSpPr txBox="1"/>
          <p:nvPr/>
        </p:nvSpPr>
        <p:spPr>
          <a:xfrm>
            <a:off x="4538133"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Secret 2 · You</a:t>
            </a:r>
          </a:p>
        </p:txBody>
      </p:sp>
      <p:sp>
        <p:nvSpPr>
          <p:cNvPr id="17" name="TextBox 16"/>
          <p:cNvSpPr txBox="1"/>
          <p:nvPr/>
        </p:nvSpPr>
        <p:spPr>
          <a:xfrm>
            <a:off x="4538133"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You Don't Need To Be Technical,</a:t>
            </a:r>
          </a:p>
          <a:p>
            <a:pPr algn="l">
              <a:lnSpc>
                <a:spcPts val="1820"/>
              </a:lnSpc>
            </a:pPr>
            <a:r>
              <a:rPr sz="1400" b="0">
                <a:solidFill>
                  <a:srgbClr val="756E65"/>
                </a:solidFill>
                <a:latin typeface="Lexend"/>
              </a:rPr>
              <a:t>Just Clear</a:t>
            </a:r>
          </a:p>
        </p:txBody>
      </p:sp>
      <p:sp>
        <p:nvSpPr>
          <p:cNvPr id="18" name="Rounded Rectangle 17"/>
          <p:cNvSpPr/>
          <p:nvPr/>
        </p:nvSpPr>
        <p:spPr>
          <a:xfrm>
            <a:off x="8060266" y="1795779"/>
            <a:ext cx="3522133" cy="1808480"/>
          </a:xfrm>
          <a:prstGeom prst="roundRect">
            <a:avLst>
              <a:gd name="adj" fmla="val 16853"/>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shield-check-2C2C2A.png"/>
          <p:cNvPicPr>
            <a:picLocks noChangeAspect="1"/>
          </p:cNvPicPr>
          <p:nvPr/>
        </p:nvPicPr>
        <p:blipFill>
          <a:blip r:embed="rId4"/>
          <a:stretch>
            <a:fillRect/>
          </a:stretch>
        </p:blipFill>
        <p:spPr>
          <a:xfrm>
            <a:off x="8263466" y="2024379"/>
            <a:ext cx="355600" cy="355600"/>
          </a:xfrm>
          <a:prstGeom prst="rect">
            <a:avLst/>
          </a:prstGeom>
        </p:spPr>
      </p:pic>
      <p:sp>
        <p:nvSpPr>
          <p:cNvPr id="20" name="TextBox 19"/>
          <p:cNvSpPr txBox="1"/>
          <p:nvPr/>
        </p:nvSpPr>
        <p:spPr>
          <a:xfrm>
            <a:off x="8263466" y="2519679"/>
            <a:ext cx="3166533" cy="355600"/>
          </a:xfrm>
          <a:prstGeom prst="rect">
            <a:avLst/>
          </a:prstGeom>
          <a:noFill/>
        </p:spPr>
        <p:txBody>
          <a:bodyPr wrap="square" lIns="0" rIns="0" tIns="0" bIns="0" anchor="t">
            <a:noAutofit/>
          </a:bodyPr>
          <a:lstStyle/>
          <a:p>
            <a:pPr algn="l">
              <a:lnSpc>
                <a:spcPts val="2600"/>
              </a:lnSpc>
            </a:pPr>
            <a:r>
              <a:rPr sz="2000" b="1">
                <a:solidFill>
                  <a:srgbClr val="2C2C2A"/>
                </a:solidFill>
                <a:latin typeface="Lexend"/>
              </a:rPr>
              <a:t>Secret 3 · The World</a:t>
            </a:r>
          </a:p>
        </p:txBody>
      </p:sp>
      <p:sp>
        <p:nvSpPr>
          <p:cNvPr id="21" name="TextBox 20"/>
          <p:cNvSpPr txBox="1"/>
          <p:nvPr/>
        </p:nvSpPr>
        <p:spPr>
          <a:xfrm>
            <a:off x="8263466" y="2887979"/>
            <a:ext cx="3166533"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Safe And Legal Is Built In, Not</a:t>
            </a:r>
          </a:p>
          <a:p>
            <a:pPr algn="l">
              <a:lnSpc>
                <a:spcPts val="1820"/>
              </a:lnSpc>
            </a:pPr>
            <a:r>
              <a:rPr sz="1400" b="0">
                <a:solidFill>
                  <a:srgbClr val="756E65"/>
                </a:solidFill>
                <a:latin typeface="Lexend"/>
              </a:rPr>
              <a:t>Bolted 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1 · Eight Shelves Of Bricks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Every App Is Assembled From The Same Shelves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BRICK-LAYERS-AND-COLOUR-SPINE-2026-09-19.md · BRICK-REGISTRY.csv v0.16 (101 bricks)</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sp>
        <p:nvSpPr>
          <p:cNvPr id="12" name="Rounded Rectangle 11"/>
          <p:cNvSpPr/>
          <p:nvPr/>
        </p:nvSpPr>
        <p:spPr>
          <a:xfrm>
            <a:off x="1181100" y="5956300"/>
            <a:ext cx="165100" cy="139700"/>
          </a:xfrm>
          <a:prstGeom prst="roundRect">
            <a:avLst>
              <a:gd name="adj" fmla="val 18181"/>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Top Band = Shelf Colour</a:t>
            </a:r>
          </a:p>
        </p:txBody>
      </p:sp>
      <p:pic>
        <p:nvPicPr>
          <p:cNvPr id="14" name="Picture 13" descr="box-2C2C2A.png"/>
          <p:cNvPicPr>
            <a:picLocks noChangeAspect="1"/>
          </p:cNvPicPr>
          <p:nvPr/>
        </p:nvPicPr>
        <p:blipFill>
          <a:blip r:embed="rId2"/>
          <a:stretch>
            <a:fillRect/>
          </a:stretch>
        </p:blipFill>
        <p:spPr>
          <a:xfrm>
            <a:off x="3475831" y="5930900"/>
            <a:ext cx="177800" cy="177800"/>
          </a:xfrm>
          <a:prstGeom prst="rect">
            <a:avLst/>
          </a:prstGeom>
        </p:spPr>
      </p:pic>
      <p:sp>
        <p:nvSpPr>
          <p:cNvPr id="15" name="TextBox 14"/>
          <p:cNvSpPr txBox="1"/>
          <p:nvPr/>
        </p:nvSpPr>
        <p:spPr>
          <a:xfrm>
            <a:off x="3729831"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Each Shelf Has Its Own Icon</a:t>
            </a:r>
          </a:p>
        </p:txBody>
      </p:sp>
      <p:sp>
        <p:nvSpPr>
          <p:cNvPr id="16" name="Rounded Rectangle 15"/>
          <p:cNvSpPr/>
          <p:nvPr/>
        </p:nvSpPr>
        <p:spPr>
          <a:xfrm>
            <a:off x="609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 Same Side Corner Rectangle 16"/>
          <p:cNvSpPr/>
          <p:nvPr/>
        </p:nvSpPr>
        <p:spPr>
          <a:xfrm>
            <a:off x="746760" y="1795779"/>
            <a:ext cx="2316480" cy="76200"/>
          </a:xfrm>
          <a:prstGeom prst="round2Same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ox-2C2C2A.png"/>
          <p:cNvPicPr>
            <a:picLocks noChangeAspect="1"/>
          </p:cNvPicPr>
          <p:nvPr/>
        </p:nvPicPr>
        <p:blipFill>
          <a:blip r:embed="rId2"/>
          <a:stretch>
            <a:fillRect/>
          </a:stretch>
        </p:blipFill>
        <p:spPr>
          <a:xfrm>
            <a:off x="812800" y="2024379"/>
            <a:ext cx="355600" cy="355600"/>
          </a:xfrm>
          <a:prstGeom prst="rect">
            <a:avLst/>
          </a:prstGeom>
        </p:spPr>
      </p:pic>
      <p:sp>
        <p:nvSpPr>
          <p:cNvPr id="19" name="TextBox 18"/>
          <p:cNvSpPr txBox="1"/>
          <p:nvPr/>
        </p:nvSpPr>
        <p:spPr>
          <a:xfrm>
            <a:off x="812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BASICS</a:t>
            </a:r>
          </a:p>
        </p:txBody>
      </p:sp>
      <p:sp>
        <p:nvSpPr>
          <p:cNvPr id="20" name="TextBox 19"/>
          <p:cNvSpPr txBox="1"/>
          <p:nvPr/>
        </p:nvSpPr>
        <p:spPr>
          <a:xfrm>
            <a:off x="812800" y="2838449"/>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Always: Sign-In, Menus</a:t>
            </a:r>
          </a:p>
        </p:txBody>
      </p:sp>
      <p:sp>
        <p:nvSpPr>
          <p:cNvPr id="21" name="Rounded Rectangle 20"/>
          <p:cNvSpPr/>
          <p:nvPr/>
        </p:nvSpPr>
        <p:spPr>
          <a:xfrm>
            <a:off x="3403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 Same Side Corner Rectangle 21"/>
          <p:cNvSpPr/>
          <p:nvPr/>
        </p:nvSpPr>
        <p:spPr>
          <a:xfrm>
            <a:off x="3540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wall-2C2C2A.png"/>
          <p:cNvPicPr>
            <a:picLocks noChangeAspect="1"/>
          </p:cNvPicPr>
          <p:nvPr/>
        </p:nvPicPr>
        <p:blipFill>
          <a:blip r:embed="rId3"/>
          <a:stretch>
            <a:fillRect/>
          </a:stretch>
        </p:blipFill>
        <p:spPr>
          <a:xfrm>
            <a:off x="3606800" y="2024379"/>
            <a:ext cx="355600" cy="355600"/>
          </a:xfrm>
          <a:prstGeom prst="rect">
            <a:avLst/>
          </a:prstGeom>
        </p:spPr>
      </p:pic>
      <p:sp>
        <p:nvSpPr>
          <p:cNvPr id="24" name="TextBox 23"/>
          <p:cNvSpPr txBox="1"/>
          <p:nvPr/>
        </p:nvSpPr>
        <p:spPr>
          <a:xfrm>
            <a:off x="3606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Boundaries</a:t>
            </a:r>
          </a:p>
        </p:txBody>
      </p:sp>
      <p:sp>
        <p:nvSpPr>
          <p:cNvPr id="25" name="TextBox 24"/>
          <p:cNvSpPr txBox="1"/>
          <p:nvPr/>
        </p:nvSpPr>
        <p:spPr>
          <a:xfrm>
            <a:off x="3606800" y="2838449"/>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Allowed: Walls, Roles</a:t>
            </a:r>
          </a:p>
        </p:txBody>
      </p:sp>
      <p:sp>
        <p:nvSpPr>
          <p:cNvPr id="26" name="Rounded Rectangle 25"/>
          <p:cNvSpPr/>
          <p:nvPr/>
        </p:nvSpPr>
        <p:spPr>
          <a:xfrm>
            <a:off x="6197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 Same Side Corner Rectangle 26"/>
          <p:cNvSpPr/>
          <p:nvPr/>
        </p:nvSpPr>
        <p:spPr>
          <a:xfrm>
            <a:off x="6334760" y="1795779"/>
            <a:ext cx="2316480" cy="76200"/>
          </a:xfrm>
          <a:prstGeom prst="round2SameRect">
            <a:avLst/>
          </a:prstGeom>
          <a:solidFill>
            <a:srgbClr val="C07D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ash-2C2C2A.png"/>
          <p:cNvPicPr>
            <a:picLocks noChangeAspect="1"/>
          </p:cNvPicPr>
          <p:nvPr/>
        </p:nvPicPr>
        <p:blipFill>
          <a:blip r:embed="rId4"/>
          <a:stretch>
            <a:fillRect/>
          </a:stretch>
        </p:blipFill>
        <p:spPr>
          <a:xfrm>
            <a:off x="6400800" y="2024379"/>
            <a:ext cx="355600" cy="355600"/>
          </a:xfrm>
          <a:prstGeom prst="rect">
            <a:avLst/>
          </a:prstGeom>
        </p:spPr>
      </p:pic>
      <p:sp>
        <p:nvSpPr>
          <p:cNvPr id="29" name="TextBox 28"/>
          <p:cNvSpPr txBox="1"/>
          <p:nvPr/>
        </p:nvSpPr>
        <p:spPr>
          <a:xfrm>
            <a:off x="6400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Bucks</a:t>
            </a:r>
          </a:p>
        </p:txBody>
      </p:sp>
      <p:sp>
        <p:nvSpPr>
          <p:cNvPr id="30" name="TextBox 29"/>
          <p:cNvSpPr txBox="1"/>
          <p:nvPr/>
        </p:nvSpPr>
        <p:spPr>
          <a:xfrm>
            <a:off x="6400800" y="2838449"/>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Money: Plans, Payments</a:t>
            </a:r>
          </a:p>
        </p:txBody>
      </p:sp>
      <p:sp>
        <p:nvSpPr>
          <p:cNvPr id="31" name="Rounded Rectangle 30"/>
          <p:cNvSpPr/>
          <p:nvPr/>
        </p:nvSpPr>
        <p:spPr>
          <a:xfrm>
            <a:off x="8991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 Same Side Corner Rectangle 31"/>
          <p:cNvSpPr/>
          <p:nvPr/>
        </p:nvSpPr>
        <p:spPr>
          <a:xfrm>
            <a:off x="9128760" y="1795779"/>
            <a:ext cx="2316480" cy="76200"/>
          </a:xfrm>
          <a:prstGeom prst="round2SameRect">
            <a:avLst/>
          </a:prstGeom>
          <a:solidFill>
            <a:srgbClr val="B3A7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ayout-dashboard-2C2C2A.png"/>
          <p:cNvPicPr>
            <a:picLocks noChangeAspect="1"/>
          </p:cNvPicPr>
          <p:nvPr/>
        </p:nvPicPr>
        <p:blipFill>
          <a:blip r:embed="rId5"/>
          <a:stretch>
            <a:fillRect/>
          </a:stretch>
        </p:blipFill>
        <p:spPr>
          <a:xfrm>
            <a:off x="9194800" y="2024379"/>
            <a:ext cx="355600" cy="355600"/>
          </a:xfrm>
          <a:prstGeom prst="rect">
            <a:avLst/>
          </a:prstGeom>
        </p:spPr>
      </p:pic>
      <p:sp>
        <p:nvSpPr>
          <p:cNvPr id="34" name="TextBox 33"/>
          <p:cNvSpPr txBox="1"/>
          <p:nvPr/>
        </p:nvSpPr>
        <p:spPr>
          <a:xfrm>
            <a:off x="9194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Body</a:t>
            </a:r>
          </a:p>
        </p:txBody>
      </p:sp>
      <p:sp>
        <p:nvSpPr>
          <p:cNvPr id="35" name="TextBox 34"/>
          <p:cNvSpPr txBox="1"/>
          <p:nvPr/>
        </p:nvSpPr>
        <p:spPr>
          <a:xfrm>
            <a:off x="9194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The Rest: Screens,</a:t>
            </a:r>
          </a:p>
          <a:p>
            <a:pPr algn="l">
              <a:lnSpc>
                <a:spcPts val="1820"/>
              </a:lnSpc>
            </a:pPr>
            <a:r>
              <a:rPr sz="1400" b="0">
                <a:solidFill>
                  <a:srgbClr val="756E65"/>
                </a:solidFill>
                <a:latin typeface="Lexend"/>
              </a:rPr>
              <a:t>Records</a:t>
            </a:r>
          </a:p>
        </p:txBody>
      </p:sp>
      <p:sp>
        <p:nvSpPr>
          <p:cNvPr id="36" name="Rounded Rectangle 35"/>
          <p:cNvSpPr/>
          <p:nvPr/>
        </p:nvSpPr>
        <p:spPr>
          <a:xfrm>
            <a:off x="609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 Same Side Corner Rectangle 36"/>
          <p:cNvSpPr/>
          <p:nvPr/>
        </p:nvSpPr>
        <p:spPr>
          <a:xfrm>
            <a:off x="746760" y="3757929"/>
            <a:ext cx="2316480" cy="76200"/>
          </a:xfrm>
          <a:prstGeom prst="round2SameRect">
            <a:avLst/>
          </a:prstGeom>
          <a:solidFill>
            <a:srgbClr val="89AF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palette-2C2C2A.png"/>
          <p:cNvPicPr>
            <a:picLocks noChangeAspect="1"/>
          </p:cNvPicPr>
          <p:nvPr/>
        </p:nvPicPr>
        <p:blipFill>
          <a:blip r:embed="rId6"/>
          <a:stretch>
            <a:fillRect/>
          </a:stretch>
        </p:blipFill>
        <p:spPr>
          <a:xfrm>
            <a:off x="812800" y="3986529"/>
            <a:ext cx="355600" cy="355600"/>
          </a:xfrm>
          <a:prstGeom prst="rect">
            <a:avLst/>
          </a:prstGeom>
        </p:spPr>
      </p:pic>
      <p:sp>
        <p:nvSpPr>
          <p:cNvPr id="39" name="TextBox 38"/>
          <p:cNvSpPr txBox="1"/>
          <p:nvPr/>
        </p:nvSpPr>
        <p:spPr>
          <a:xfrm>
            <a:off x="812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Brand</a:t>
            </a:r>
          </a:p>
        </p:txBody>
      </p:sp>
      <p:sp>
        <p:nvSpPr>
          <p:cNvPr id="40" name="TextBox 39"/>
          <p:cNvSpPr txBox="1"/>
          <p:nvPr/>
        </p:nvSpPr>
        <p:spPr>
          <a:xfrm>
            <a:off x="812800" y="4800600"/>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Swaps: Name, Colours</a:t>
            </a:r>
          </a:p>
        </p:txBody>
      </p:sp>
      <p:sp>
        <p:nvSpPr>
          <p:cNvPr id="41" name="Rounded Rectangle 40"/>
          <p:cNvSpPr/>
          <p:nvPr/>
        </p:nvSpPr>
        <p:spPr>
          <a:xfrm>
            <a:off x="3403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 Same Side Corner Rectangle 41"/>
          <p:cNvSpPr/>
          <p:nvPr/>
        </p:nvSpPr>
        <p:spPr>
          <a:xfrm>
            <a:off x="3540760" y="3757929"/>
            <a:ext cx="2316480" cy="76200"/>
          </a:xfrm>
          <a:prstGeom prst="round2SameRect">
            <a:avLst/>
          </a:prstGeom>
          <a:solidFill>
            <a:srgbClr val="4098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trending-up-2C2C2A.png"/>
          <p:cNvPicPr>
            <a:picLocks noChangeAspect="1"/>
          </p:cNvPicPr>
          <p:nvPr/>
        </p:nvPicPr>
        <p:blipFill>
          <a:blip r:embed="rId7"/>
          <a:stretch>
            <a:fillRect/>
          </a:stretch>
        </p:blipFill>
        <p:spPr>
          <a:xfrm>
            <a:off x="3606800" y="3986529"/>
            <a:ext cx="355600" cy="355600"/>
          </a:xfrm>
          <a:prstGeom prst="rect">
            <a:avLst/>
          </a:prstGeom>
        </p:spPr>
      </p:pic>
      <p:sp>
        <p:nvSpPr>
          <p:cNvPr id="44" name="TextBox 43"/>
          <p:cNvSpPr txBox="1"/>
          <p:nvPr/>
        </p:nvSpPr>
        <p:spPr>
          <a:xfrm>
            <a:off x="3606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Boost</a:t>
            </a:r>
          </a:p>
        </p:txBody>
      </p:sp>
      <p:sp>
        <p:nvSpPr>
          <p:cNvPr id="45" name="TextBox 44"/>
          <p:cNvSpPr txBox="1"/>
          <p:nvPr/>
        </p:nvSpPr>
        <p:spPr>
          <a:xfrm>
            <a:off x="3606800" y="4800600"/>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Found: Pages, Reviews</a:t>
            </a:r>
          </a:p>
        </p:txBody>
      </p:sp>
      <p:sp>
        <p:nvSpPr>
          <p:cNvPr id="46" name="Rounded Rectangle 45"/>
          <p:cNvSpPr/>
          <p:nvPr/>
        </p:nvSpPr>
        <p:spPr>
          <a:xfrm>
            <a:off x="6197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 Same Side Corner Rectangle 46"/>
          <p:cNvSpPr/>
          <p:nvPr/>
        </p:nvSpPr>
        <p:spPr>
          <a:xfrm>
            <a:off x="6334760" y="3757929"/>
            <a:ext cx="2316480" cy="76200"/>
          </a:xfrm>
          <a:prstGeom prst="round2SameRect">
            <a:avLst/>
          </a:prstGeom>
          <a:solidFill>
            <a:srgbClr val="7A6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brain-2C2C2A.png"/>
          <p:cNvPicPr>
            <a:picLocks noChangeAspect="1"/>
          </p:cNvPicPr>
          <p:nvPr/>
        </p:nvPicPr>
        <p:blipFill>
          <a:blip r:embed="rId8"/>
          <a:stretch>
            <a:fillRect/>
          </a:stretch>
        </p:blipFill>
        <p:spPr>
          <a:xfrm>
            <a:off x="6400800" y="3986529"/>
            <a:ext cx="355600" cy="355600"/>
          </a:xfrm>
          <a:prstGeom prst="rect">
            <a:avLst/>
          </a:prstGeom>
        </p:spPr>
      </p:pic>
      <p:sp>
        <p:nvSpPr>
          <p:cNvPr id="49" name="TextBox 48"/>
          <p:cNvSpPr txBox="1"/>
          <p:nvPr/>
        </p:nvSpPr>
        <p:spPr>
          <a:xfrm>
            <a:off x="6400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Brains</a:t>
            </a:r>
          </a:p>
        </p:txBody>
      </p:sp>
      <p:sp>
        <p:nvSpPr>
          <p:cNvPr id="50" name="TextBox 49"/>
          <p:cNvSpPr txBox="1"/>
          <p:nvPr/>
        </p:nvSpPr>
        <p:spPr>
          <a:xfrm>
            <a:off x="6400800" y="4800600"/>
            <a:ext cx="2235200" cy="25654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Works It Out: Scoring</a:t>
            </a:r>
          </a:p>
        </p:txBody>
      </p:sp>
      <p:sp>
        <p:nvSpPr>
          <p:cNvPr id="51" name="Rounded Rectangle 50"/>
          <p:cNvSpPr/>
          <p:nvPr/>
        </p:nvSpPr>
        <p:spPr>
          <a:xfrm>
            <a:off x="8991600" y="375792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 Same Side Corner Rectangle 51"/>
          <p:cNvSpPr/>
          <p:nvPr/>
        </p:nvSpPr>
        <p:spPr>
          <a:xfrm>
            <a:off x="9128760" y="3757929"/>
            <a:ext cx="2316480" cy="76200"/>
          </a:xfrm>
          <a:prstGeom prst="round2SameRect">
            <a:avLst/>
          </a:prstGeom>
          <a:solidFill>
            <a:srgbClr val="8D6B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3" name="Picture 52" descr="robot-2C2C2A.png"/>
          <p:cNvPicPr>
            <a:picLocks noChangeAspect="1"/>
          </p:cNvPicPr>
          <p:nvPr/>
        </p:nvPicPr>
        <p:blipFill>
          <a:blip r:embed="rId9"/>
          <a:stretch>
            <a:fillRect/>
          </a:stretch>
        </p:blipFill>
        <p:spPr>
          <a:xfrm>
            <a:off x="9194800" y="3986529"/>
            <a:ext cx="355600" cy="355600"/>
          </a:xfrm>
          <a:prstGeom prst="rect">
            <a:avLst/>
          </a:prstGeom>
        </p:spPr>
      </p:pic>
      <p:sp>
        <p:nvSpPr>
          <p:cNvPr id="54" name="TextBox 53"/>
          <p:cNvSpPr txBox="1"/>
          <p:nvPr/>
        </p:nvSpPr>
        <p:spPr>
          <a:xfrm>
            <a:off x="9194800" y="4481830"/>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Bots</a:t>
            </a:r>
          </a:p>
        </p:txBody>
      </p:sp>
      <p:sp>
        <p:nvSpPr>
          <p:cNvPr id="55" name="TextBox 54"/>
          <p:cNvSpPr txBox="1"/>
          <p:nvPr/>
        </p:nvSpPr>
        <p:spPr>
          <a:xfrm>
            <a:off x="9194800" y="4800600"/>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Alone: Reminders,</a:t>
            </a:r>
          </a:p>
          <a:p>
            <a:pPr algn="l">
              <a:lnSpc>
                <a:spcPts val="1820"/>
              </a:lnSpc>
            </a:pPr>
            <a:r>
              <a:rPr sz="1400" b="0">
                <a:solidFill>
                  <a:srgbClr val="756E65"/>
                </a:solidFill>
                <a:latin typeface="Lexend"/>
              </a:rPr>
              <a:t>Imports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2 · You Just Fill In 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Idea Form Asks What Only You Know</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AF-CARD-TEMPLATE.md (frozen 19 Oct 2026) · AF-UNDERSTANDING-2026-10-22.md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ounded Rectangle 9"/>
          <p:cNvSpPr/>
          <p:nvPr/>
        </p:nvSpPr>
        <p:spPr>
          <a:xfrm>
            <a:off x="6096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bulb-2C2C2A.png"/>
          <p:cNvPicPr>
            <a:picLocks noChangeAspect="1"/>
          </p:cNvPicPr>
          <p:nvPr/>
        </p:nvPicPr>
        <p:blipFill>
          <a:blip r:embed="rId2"/>
          <a:stretch>
            <a:fillRect/>
          </a:stretch>
        </p:blipFill>
        <p:spPr>
          <a:xfrm>
            <a:off x="1206500" y="2804795"/>
            <a:ext cx="508000" cy="508000"/>
          </a:xfrm>
          <a:prstGeom prst="rect">
            <a:avLst/>
          </a:prstGeom>
        </p:spPr>
      </p:pic>
      <p:sp>
        <p:nvSpPr>
          <p:cNvPr id="12" name="TextBox 11"/>
          <p:cNvSpPr txBox="1"/>
          <p:nvPr/>
        </p:nvSpPr>
        <p:spPr>
          <a:xfrm>
            <a:off x="7112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Your Vision</a:t>
            </a:r>
          </a:p>
        </p:txBody>
      </p:sp>
      <p:sp>
        <p:nvSpPr>
          <p:cNvPr id="13" name="Rounded Rectangle 12"/>
          <p:cNvSpPr/>
          <p:nvPr/>
        </p:nvSpPr>
        <p:spPr>
          <a:xfrm>
            <a:off x="24638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urrency-pound-2C2C2A.png"/>
          <p:cNvPicPr>
            <a:picLocks noChangeAspect="1"/>
          </p:cNvPicPr>
          <p:nvPr/>
        </p:nvPicPr>
        <p:blipFill>
          <a:blip r:embed="rId3"/>
          <a:stretch>
            <a:fillRect/>
          </a:stretch>
        </p:blipFill>
        <p:spPr>
          <a:xfrm>
            <a:off x="3060700" y="2804795"/>
            <a:ext cx="508000" cy="508000"/>
          </a:xfrm>
          <a:prstGeom prst="rect">
            <a:avLst/>
          </a:prstGeom>
        </p:spPr>
      </p:pic>
      <p:sp>
        <p:nvSpPr>
          <p:cNvPr id="15" name="TextBox 14"/>
          <p:cNvSpPr txBox="1"/>
          <p:nvPr/>
        </p:nvSpPr>
        <p:spPr>
          <a:xfrm>
            <a:off x="25654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Who Pays</a:t>
            </a:r>
          </a:p>
        </p:txBody>
      </p:sp>
      <p:sp>
        <p:nvSpPr>
          <p:cNvPr id="16" name="Rounded Rectangle 15"/>
          <p:cNvSpPr/>
          <p:nvPr/>
        </p:nvSpPr>
        <p:spPr>
          <a:xfrm>
            <a:off x="43180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alert-triangle-2C2C2A.png"/>
          <p:cNvPicPr>
            <a:picLocks noChangeAspect="1"/>
          </p:cNvPicPr>
          <p:nvPr/>
        </p:nvPicPr>
        <p:blipFill>
          <a:blip r:embed="rId4"/>
          <a:stretch>
            <a:fillRect/>
          </a:stretch>
        </p:blipFill>
        <p:spPr>
          <a:xfrm>
            <a:off x="4914900" y="2804795"/>
            <a:ext cx="508000" cy="508000"/>
          </a:xfrm>
          <a:prstGeom prst="rect">
            <a:avLst/>
          </a:prstGeom>
        </p:spPr>
      </p:pic>
      <p:sp>
        <p:nvSpPr>
          <p:cNvPr id="18" name="TextBox 17"/>
          <p:cNvSpPr txBox="1"/>
          <p:nvPr/>
        </p:nvSpPr>
        <p:spPr>
          <a:xfrm>
            <a:off x="4419600" y="3490595"/>
            <a:ext cx="15494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The Pain</a:t>
            </a:r>
          </a:p>
        </p:txBody>
      </p:sp>
      <p:sp>
        <p:nvSpPr>
          <p:cNvPr id="19" name="Rounded Rectangle 18"/>
          <p:cNvSpPr/>
          <p:nvPr/>
        </p:nvSpPr>
        <p:spPr>
          <a:xfrm>
            <a:off x="61722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orms-2C2C2A.png"/>
          <p:cNvPicPr>
            <a:picLocks noChangeAspect="1"/>
          </p:cNvPicPr>
          <p:nvPr/>
        </p:nvPicPr>
        <p:blipFill>
          <a:blip r:embed="rId5"/>
          <a:stretch>
            <a:fillRect/>
          </a:stretch>
        </p:blipFill>
        <p:spPr>
          <a:xfrm>
            <a:off x="6769100" y="2804795"/>
            <a:ext cx="508000" cy="508000"/>
          </a:xfrm>
          <a:prstGeom prst="rect">
            <a:avLst/>
          </a:prstGeom>
        </p:spPr>
      </p:pic>
      <p:sp>
        <p:nvSpPr>
          <p:cNvPr id="21" name="TextBox 20"/>
          <p:cNvSpPr txBox="1"/>
          <p:nvPr/>
        </p:nvSpPr>
        <p:spPr>
          <a:xfrm>
            <a:off x="62738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20 Code</a:t>
            </a:r>
          </a:p>
          <a:p>
            <a:pPr algn="ctr">
              <a:lnSpc>
                <a:spcPts val="2080"/>
              </a:lnSpc>
            </a:pPr>
            <a:r>
              <a:rPr sz="1600" b="1">
                <a:solidFill>
                  <a:srgbClr val="2C2C2A"/>
                </a:solidFill>
                <a:latin typeface="Lexend"/>
              </a:rPr>
              <a:t>Questions</a:t>
            </a:r>
          </a:p>
        </p:txBody>
      </p:sp>
      <p:sp>
        <p:nvSpPr>
          <p:cNvPr id="22" name="Rounded Rectangle 21"/>
          <p:cNvSpPr/>
          <p:nvPr/>
        </p:nvSpPr>
        <p:spPr>
          <a:xfrm>
            <a:off x="80264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filter-2C2C2A.png"/>
          <p:cNvPicPr>
            <a:picLocks noChangeAspect="1"/>
          </p:cNvPicPr>
          <p:nvPr/>
        </p:nvPicPr>
        <p:blipFill>
          <a:blip r:embed="rId6"/>
          <a:stretch>
            <a:fillRect/>
          </a:stretch>
        </p:blipFill>
        <p:spPr>
          <a:xfrm>
            <a:off x="8623300" y="2804795"/>
            <a:ext cx="508000" cy="508000"/>
          </a:xfrm>
          <a:prstGeom prst="rect">
            <a:avLst/>
          </a:prstGeom>
        </p:spPr>
      </p:pic>
      <p:sp>
        <p:nvSpPr>
          <p:cNvPr id="24" name="TextBox 23"/>
          <p:cNvSpPr txBox="1"/>
          <p:nvPr/>
        </p:nvSpPr>
        <p:spPr>
          <a:xfrm>
            <a:off x="81280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3 Kill</a:t>
            </a:r>
          </a:p>
          <a:p>
            <a:pPr algn="ctr">
              <a:lnSpc>
                <a:spcPts val="2080"/>
              </a:lnSpc>
            </a:pPr>
            <a:r>
              <a:rPr sz="1600" b="1">
                <a:solidFill>
                  <a:srgbClr val="2C2C2A"/>
                </a:solidFill>
                <a:latin typeface="Lexend"/>
              </a:rPr>
              <a:t>Questions</a:t>
            </a:r>
          </a:p>
        </p:txBody>
      </p:sp>
      <p:sp>
        <p:nvSpPr>
          <p:cNvPr id="25" name="Rounded Rectangle 24"/>
          <p:cNvSpPr/>
          <p:nvPr/>
        </p:nvSpPr>
        <p:spPr>
          <a:xfrm>
            <a:off x="9880600" y="2499995"/>
            <a:ext cx="1701800" cy="1772920"/>
          </a:xfrm>
          <a:prstGeom prst="roundRect">
            <a:avLst>
              <a:gd name="adj" fmla="val 1791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lipboard-check-2C2C2A.png"/>
          <p:cNvPicPr>
            <a:picLocks noChangeAspect="1"/>
          </p:cNvPicPr>
          <p:nvPr/>
        </p:nvPicPr>
        <p:blipFill>
          <a:blip r:embed="rId7"/>
          <a:stretch>
            <a:fillRect/>
          </a:stretch>
        </p:blipFill>
        <p:spPr>
          <a:xfrm>
            <a:off x="10477500" y="2804795"/>
            <a:ext cx="508000" cy="508000"/>
          </a:xfrm>
          <a:prstGeom prst="rect">
            <a:avLst/>
          </a:prstGeom>
        </p:spPr>
      </p:pic>
      <p:sp>
        <p:nvSpPr>
          <p:cNvPr id="27" name="TextBox 26"/>
          <p:cNvSpPr txBox="1"/>
          <p:nvPr/>
        </p:nvSpPr>
        <p:spPr>
          <a:xfrm>
            <a:off x="9982200" y="3490595"/>
            <a:ext cx="1549400" cy="55372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Verdict And</a:t>
            </a:r>
          </a:p>
          <a:p>
            <a:pPr algn="ctr">
              <a:lnSpc>
                <a:spcPts val="2080"/>
              </a:lnSpc>
            </a:pPr>
            <a:r>
              <a:rPr sz="1600" b="1">
                <a:solidFill>
                  <a:srgbClr val="2C2C2A"/>
                </a:solidFill>
                <a:latin typeface="Lexend"/>
              </a:rPr>
              <a:t>Data Role</a:t>
            </a:r>
          </a:p>
        </p:txBody>
      </p:sp>
      <p:sp>
        <p:nvSpPr>
          <p:cNvPr id="28" name="TextBox 27"/>
          <p:cNvSpPr txBox="1"/>
          <p:nvPr/>
        </p:nvSpPr>
        <p:spPr>
          <a:xfrm>
            <a:off x="609600" y="4577715"/>
            <a:ext cx="11023600" cy="306070"/>
          </a:xfrm>
          <a:prstGeom prst="rect">
            <a:avLst/>
          </a:prstGeom>
          <a:noFill/>
        </p:spPr>
        <p:txBody>
          <a:bodyPr wrap="square" lIns="0" rIns="0" tIns="0" bIns="0" anchor="t">
            <a:noAutofit/>
          </a:bodyPr>
          <a:lstStyle/>
          <a:p>
            <a:pPr algn="l">
              <a:lnSpc>
                <a:spcPts val="2210"/>
              </a:lnSpc>
            </a:pPr>
            <a:r>
              <a:rPr sz="1700" b="0">
                <a:solidFill>
                  <a:srgbClr val="756E65"/>
                </a:solidFill>
                <a:latin typeface="Lexend"/>
              </a:rPr>
              <a:t>Plain Questions. Six Must Be Answered; The Rest Can Say Not Yet Known.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Secret 3 · Walls Keep Data Apart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Every App Gets The Walls Its Codes Call For</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codes-catalogue.json (walls W1-W8) · TENANCY-CLASSIFICATION-AND-ISOLATION-RULES.md</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ectangle 9"/>
          <p:cNvSpPr/>
          <p:nvPr/>
        </p:nvSpPr>
        <p:spPr>
          <a:xfrm>
            <a:off x="609600" y="5829300"/>
            <a:ext cx="10972800" cy="6350"/>
          </a:xfrm>
          <a:prstGeom prst="rect">
            <a:avLst/>
          </a:prstGeom>
          <a:solidFill>
            <a:srgbClr val="E5E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5918200"/>
            <a:ext cx="812800" cy="223520"/>
          </a:xfrm>
          <a:prstGeom prst="rect">
            <a:avLst/>
          </a:prstGeom>
          <a:noFill/>
        </p:spPr>
        <p:txBody>
          <a:bodyPr wrap="square" lIns="0" rIns="0" tIns="0" bIns="0" anchor="t">
            <a:noAutofit/>
          </a:bodyPr>
          <a:lstStyle/>
          <a:p>
            <a:pPr algn="l">
              <a:lnSpc>
                <a:spcPts val="1560"/>
              </a:lnSpc>
            </a:pPr>
            <a:r>
              <a:rPr sz="1200" b="1">
                <a:solidFill>
                  <a:srgbClr val="2C2C2A"/>
                </a:solidFill>
                <a:latin typeface="Lexend"/>
              </a:rPr>
              <a:t>Key</a:t>
            </a:r>
          </a:p>
        </p:txBody>
      </p:sp>
      <p:pic>
        <p:nvPicPr>
          <p:cNvPr id="12" name="Picture 11" descr="wall-2C2C2A.png"/>
          <p:cNvPicPr>
            <a:picLocks noChangeAspect="1"/>
          </p:cNvPicPr>
          <p:nvPr/>
        </p:nvPicPr>
        <p:blipFill>
          <a:blip r:embed="rId2"/>
          <a:stretch>
            <a:fillRect/>
          </a:stretch>
        </p:blipFill>
        <p:spPr>
          <a:xfrm>
            <a:off x="1181100" y="5930900"/>
            <a:ext cx="177800" cy="177800"/>
          </a:xfrm>
          <a:prstGeom prst="rect">
            <a:avLst/>
          </a:prstGeom>
        </p:spPr>
      </p:pic>
      <p:sp>
        <p:nvSpPr>
          <p:cNvPr id="13" name="TextBox 12"/>
          <p:cNvSpPr txBox="1"/>
          <p:nvPr/>
        </p:nvSpPr>
        <p:spPr>
          <a:xfrm>
            <a:off x="14351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Wall (W1-W8)</a:t>
            </a:r>
          </a:p>
        </p:txBody>
      </p:sp>
      <p:sp>
        <p:nvSpPr>
          <p:cNvPr id="14" name="Rounded Rectangle 13"/>
          <p:cNvSpPr/>
          <p:nvPr/>
        </p:nvSpPr>
        <p:spPr>
          <a:xfrm>
            <a:off x="2717800" y="5956300"/>
            <a:ext cx="165100" cy="139700"/>
          </a:xfrm>
          <a:prstGeom prst="roundRect">
            <a:avLst>
              <a:gd name="adj" fmla="val 18181"/>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71800" y="5930900"/>
            <a:ext cx="38608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Boundaries Shelf</a:t>
            </a:r>
          </a:p>
        </p:txBody>
      </p:sp>
      <p:sp>
        <p:nvSpPr>
          <p:cNvPr id="16" name="Rounded Rectangle 15"/>
          <p:cNvSpPr/>
          <p:nvPr/>
        </p:nvSpPr>
        <p:spPr>
          <a:xfrm>
            <a:off x="609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 Same Side Corner Rectangle 16"/>
          <p:cNvSpPr/>
          <p:nvPr/>
        </p:nvSpPr>
        <p:spPr>
          <a:xfrm>
            <a:off x="746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wall-2C2C2A.png"/>
          <p:cNvPicPr>
            <a:picLocks noChangeAspect="1"/>
          </p:cNvPicPr>
          <p:nvPr/>
        </p:nvPicPr>
        <p:blipFill>
          <a:blip r:embed="rId2"/>
          <a:stretch>
            <a:fillRect/>
          </a:stretch>
        </p:blipFill>
        <p:spPr>
          <a:xfrm>
            <a:off x="812800" y="2024379"/>
            <a:ext cx="355600" cy="355600"/>
          </a:xfrm>
          <a:prstGeom prst="rect">
            <a:avLst/>
          </a:prstGeom>
        </p:spPr>
      </p:pic>
      <p:sp>
        <p:nvSpPr>
          <p:cNvPr id="19" name="TextBox 18"/>
          <p:cNvSpPr txBox="1"/>
          <p:nvPr/>
        </p:nvSpPr>
        <p:spPr>
          <a:xfrm>
            <a:off x="812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W1 Brand Wall</a:t>
            </a:r>
          </a:p>
        </p:txBody>
      </p:sp>
      <p:sp>
        <p:nvSpPr>
          <p:cNvPr id="20" name="TextBox 19"/>
          <p:cNvSpPr txBox="1"/>
          <p:nvPr/>
        </p:nvSpPr>
        <p:spPr>
          <a:xfrm>
            <a:off x="812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One Business Never Sees</a:t>
            </a:r>
          </a:p>
          <a:p>
            <a:pPr algn="l">
              <a:lnSpc>
                <a:spcPts val="1820"/>
              </a:lnSpc>
            </a:pPr>
            <a:r>
              <a:rPr sz="1400" b="0">
                <a:solidFill>
                  <a:srgbClr val="756E65"/>
                </a:solidFill>
                <a:latin typeface="Lexend"/>
              </a:rPr>
              <a:t>Another</a:t>
            </a:r>
          </a:p>
        </p:txBody>
      </p:sp>
      <p:sp>
        <p:nvSpPr>
          <p:cNvPr id="21" name="Rounded Rectangle 20"/>
          <p:cNvSpPr/>
          <p:nvPr/>
        </p:nvSpPr>
        <p:spPr>
          <a:xfrm>
            <a:off x="3403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 Same Side Corner Rectangle 21"/>
          <p:cNvSpPr/>
          <p:nvPr/>
        </p:nvSpPr>
        <p:spPr>
          <a:xfrm>
            <a:off x="3540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sers-2C2C2A.png"/>
          <p:cNvPicPr>
            <a:picLocks noChangeAspect="1"/>
          </p:cNvPicPr>
          <p:nvPr/>
        </p:nvPicPr>
        <p:blipFill>
          <a:blip r:embed="rId3"/>
          <a:stretch>
            <a:fillRect/>
          </a:stretch>
        </p:blipFill>
        <p:spPr>
          <a:xfrm>
            <a:off x="3606800" y="2024379"/>
            <a:ext cx="355600" cy="355600"/>
          </a:xfrm>
          <a:prstGeom prst="rect">
            <a:avLst/>
          </a:prstGeom>
        </p:spPr>
      </p:pic>
      <p:sp>
        <p:nvSpPr>
          <p:cNvPr id="24" name="TextBox 23"/>
          <p:cNvSpPr txBox="1"/>
          <p:nvPr/>
        </p:nvSpPr>
        <p:spPr>
          <a:xfrm>
            <a:off x="3606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W2 Member Wall</a:t>
            </a:r>
          </a:p>
        </p:txBody>
      </p:sp>
      <p:sp>
        <p:nvSpPr>
          <p:cNvPr id="25" name="TextBox 24"/>
          <p:cNvSpPr txBox="1"/>
          <p:nvPr/>
        </p:nvSpPr>
        <p:spPr>
          <a:xfrm>
            <a:off x="3606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One Customer Never</a:t>
            </a:r>
          </a:p>
          <a:p>
            <a:pPr algn="l">
              <a:lnSpc>
                <a:spcPts val="1820"/>
              </a:lnSpc>
            </a:pPr>
            <a:r>
              <a:rPr sz="1400" b="0">
                <a:solidFill>
                  <a:srgbClr val="756E65"/>
                </a:solidFill>
                <a:latin typeface="Lexend"/>
              </a:rPr>
              <a:t>Sees Another</a:t>
            </a:r>
          </a:p>
        </p:txBody>
      </p:sp>
      <p:sp>
        <p:nvSpPr>
          <p:cNvPr id="26" name="Rounded Rectangle 25"/>
          <p:cNvSpPr/>
          <p:nvPr/>
        </p:nvSpPr>
        <p:spPr>
          <a:xfrm>
            <a:off x="6197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 Same Side Corner Rectangle 26"/>
          <p:cNvSpPr/>
          <p:nvPr/>
        </p:nvSpPr>
        <p:spPr>
          <a:xfrm>
            <a:off x="6334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world-2C2C2A.png"/>
          <p:cNvPicPr>
            <a:picLocks noChangeAspect="1"/>
          </p:cNvPicPr>
          <p:nvPr/>
        </p:nvPicPr>
        <p:blipFill>
          <a:blip r:embed="rId4"/>
          <a:stretch>
            <a:fillRect/>
          </a:stretch>
        </p:blipFill>
        <p:spPr>
          <a:xfrm>
            <a:off x="6400800" y="2024379"/>
            <a:ext cx="355600" cy="355600"/>
          </a:xfrm>
          <a:prstGeom prst="rect">
            <a:avLst/>
          </a:prstGeom>
        </p:spPr>
      </p:pic>
      <p:sp>
        <p:nvSpPr>
          <p:cNvPr id="29" name="TextBox 28"/>
          <p:cNvSpPr txBox="1"/>
          <p:nvPr/>
        </p:nvSpPr>
        <p:spPr>
          <a:xfrm>
            <a:off x="6400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W6 Public Wall</a:t>
            </a:r>
          </a:p>
        </p:txBody>
      </p:sp>
      <p:sp>
        <p:nvSpPr>
          <p:cNvPr id="30" name="TextBox 29"/>
          <p:cNvSpPr txBox="1"/>
          <p:nvPr/>
        </p:nvSpPr>
        <p:spPr>
          <a:xfrm>
            <a:off x="6400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Strangers See Only What</a:t>
            </a:r>
          </a:p>
          <a:p>
            <a:pPr algn="l">
              <a:lnSpc>
                <a:spcPts val="1820"/>
              </a:lnSpc>
            </a:pPr>
            <a:r>
              <a:rPr sz="1400" b="0">
                <a:solidFill>
                  <a:srgbClr val="756E65"/>
                </a:solidFill>
                <a:latin typeface="Lexend"/>
              </a:rPr>
              <a:t>Is Meant</a:t>
            </a:r>
          </a:p>
        </p:txBody>
      </p:sp>
      <p:sp>
        <p:nvSpPr>
          <p:cNvPr id="31" name="Rounded Rectangle 30"/>
          <p:cNvSpPr/>
          <p:nvPr/>
        </p:nvSpPr>
        <p:spPr>
          <a:xfrm>
            <a:off x="8991600" y="1795779"/>
            <a:ext cx="2590800" cy="1758950"/>
          </a:xfrm>
          <a:prstGeom prst="roundRect">
            <a:avLst>
              <a:gd name="adj" fmla="val 17328"/>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 Same Side Corner Rectangle 31"/>
          <p:cNvSpPr/>
          <p:nvPr/>
        </p:nvSpPr>
        <p:spPr>
          <a:xfrm>
            <a:off x="9128760" y="1795779"/>
            <a:ext cx="2316480" cy="76200"/>
          </a:xfrm>
          <a:prstGeom prst="round2SameRect">
            <a:avLst/>
          </a:prstGeom>
          <a:solidFill>
            <a:srgbClr val="BE6A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ock-2C2C2A.png"/>
          <p:cNvPicPr>
            <a:picLocks noChangeAspect="1"/>
          </p:cNvPicPr>
          <p:nvPr/>
        </p:nvPicPr>
        <p:blipFill>
          <a:blip r:embed="rId5"/>
          <a:stretch>
            <a:fillRect/>
          </a:stretch>
        </p:blipFill>
        <p:spPr>
          <a:xfrm>
            <a:off x="9194800" y="2024379"/>
            <a:ext cx="355600" cy="355600"/>
          </a:xfrm>
          <a:prstGeom prst="rect">
            <a:avLst/>
          </a:prstGeom>
        </p:spPr>
      </p:pic>
      <p:sp>
        <p:nvSpPr>
          <p:cNvPr id="34" name="TextBox 33"/>
          <p:cNvSpPr txBox="1"/>
          <p:nvPr/>
        </p:nvSpPr>
        <p:spPr>
          <a:xfrm>
            <a:off x="9194800" y="2519679"/>
            <a:ext cx="22352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W8 Sensitivity Hold</a:t>
            </a:r>
          </a:p>
        </p:txBody>
      </p:sp>
      <p:sp>
        <p:nvSpPr>
          <p:cNvPr id="35" name="TextBox 34"/>
          <p:cNvSpPr txBox="1"/>
          <p:nvPr/>
        </p:nvSpPr>
        <p:spPr>
          <a:xfrm>
            <a:off x="9194800" y="2838449"/>
            <a:ext cx="2235200" cy="487680"/>
          </a:xfrm>
          <a:prstGeom prst="rect">
            <a:avLst/>
          </a:prstGeom>
          <a:noFill/>
        </p:spPr>
        <p:txBody>
          <a:bodyPr wrap="square" lIns="0" rIns="0" tIns="0" bIns="0" anchor="t">
            <a:noAutofit/>
          </a:bodyPr>
          <a:lstStyle/>
          <a:p>
            <a:pPr algn="l">
              <a:lnSpc>
                <a:spcPts val="1820"/>
              </a:lnSpc>
            </a:pPr>
            <a:r>
              <a:rPr sz="1400" b="0">
                <a:solidFill>
                  <a:srgbClr val="756E65"/>
                </a:solidFill>
                <a:latin typeface="Lexend"/>
              </a:rPr>
              <a:t>Health Or Children's</a:t>
            </a:r>
          </a:p>
          <a:p>
            <a:pPr algn="l">
              <a:lnSpc>
                <a:spcPts val="1820"/>
              </a:lnSpc>
            </a:pPr>
            <a:r>
              <a:rPr sz="1400" b="0">
                <a:solidFill>
                  <a:srgbClr val="756E65"/>
                </a:solidFill>
                <a:latin typeface="Lexend"/>
              </a:rPr>
              <a:t>Data Waits For A Check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This Leads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Pick The Step That Fits You</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D9 value ladder · reseller rule SLIP-2026-10-04-0630</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ounded Rectangle 9"/>
          <p:cNvSpPr/>
          <p:nvPr/>
        </p:nvSpPr>
        <p:spPr>
          <a:xfrm>
            <a:off x="60960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chool-2C2C2A.png"/>
          <p:cNvPicPr>
            <a:picLocks noChangeAspect="1"/>
          </p:cNvPicPr>
          <p:nvPr/>
        </p:nvPicPr>
        <p:blipFill>
          <a:blip r:embed="rId2"/>
          <a:stretch>
            <a:fillRect/>
          </a:stretch>
        </p:blipFill>
        <p:spPr>
          <a:xfrm>
            <a:off x="1391920" y="2936875"/>
            <a:ext cx="508000" cy="508000"/>
          </a:xfrm>
          <a:prstGeom prst="rect">
            <a:avLst/>
          </a:prstGeom>
        </p:spPr>
      </p:pic>
      <p:sp>
        <p:nvSpPr>
          <p:cNvPr id="12" name="TextBox 11"/>
          <p:cNvSpPr txBox="1"/>
          <p:nvPr/>
        </p:nvSpPr>
        <p:spPr>
          <a:xfrm>
            <a:off x="73660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1</a:t>
            </a:r>
          </a:p>
        </p:txBody>
      </p:sp>
      <p:sp>
        <p:nvSpPr>
          <p:cNvPr id="13" name="TextBox 12"/>
          <p:cNvSpPr txBox="1"/>
          <p:nvPr/>
        </p:nvSpPr>
        <p:spPr>
          <a:xfrm>
            <a:off x="71120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This Course</a:t>
            </a:r>
          </a:p>
        </p:txBody>
      </p:sp>
      <p:sp>
        <p:nvSpPr>
          <p:cNvPr id="14" name="Rounded Rectangle 13"/>
          <p:cNvSpPr/>
          <p:nvPr/>
        </p:nvSpPr>
        <p:spPr>
          <a:xfrm>
            <a:off x="283464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orms-2C2C2A.png"/>
          <p:cNvPicPr>
            <a:picLocks noChangeAspect="1"/>
          </p:cNvPicPr>
          <p:nvPr/>
        </p:nvPicPr>
        <p:blipFill>
          <a:blip r:embed="rId3"/>
          <a:stretch>
            <a:fillRect/>
          </a:stretch>
        </p:blipFill>
        <p:spPr>
          <a:xfrm>
            <a:off x="3616959" y="2936875"/>
            <a:ext cx="508000" cy="508000"/>
          </a:xfrm>
          <a:prstGeom prst="rect">
            <a:avLst/>
          </a:prstGeom>
        </p:spPr>
      </p:pic>
      <p:sp>
        <p:nvSpPr>
          <p:cNvPr id="16" name="TextBox 15"/>
          <p:cNvSpPr txBox="1"/>
          <p:nvPr/>
        </p:nvSpPr>
        <p:spPr>
          <a:xfrm>
            <a:off x="296164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2</a:t>
            </a:r>
          </a:p>
        </p:txBody>
      </p:sp>
      <p:sp>
        <p:nvSpPr>
          <p:cNvPr id="17" name="TextBox 16"/>
          <p:cNvSpPr txBox="1"/>
          <p:nvPr/>
        </p:nvSpPr>
        <p:spPr>
          <a:xfrm>
            <a:off x="293624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Idea Form</a:t>
            </a:r>
          </a:p>
        </p:txBody>
      </p:sp>
      <p:sp>
        <p:nvSpPr>
          <p:cNvPr id="18" name="Rounded Rectangle 17"/>
          <p:cNvSpPr/>
          <p:nvPr/>
        </p:nvSpPr>
        <p:spPr>
          <a:xfrm>
            <a:off x="505968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actory-2-2C2C2A.png"/>
          <p:cNvPicPr>
            <a:picLocks noChangeAspect="1"/>
          </p:cNvPicPr>
          <p:nvPr/>
        </p:nvPicPr>
        <p:blipFill>
          <a:blip r:embed="rId4"/>
          <a:stretch>
            <a:fillRect/>
          </a:stretch>
        </p:blipFill>
        <p:spPr>
          <a:xfrm>
            <a:off x="5842000" y="2936875"/>
            <a:ext cx="508000" cy="508000"/>
          </a:xfrm>
          <a:prstGeom prst="rect">
            <a:avLst/>
          </a:prstGeom>
        </p:spPr>
      </p:pic>
      <p:sp>
        <p:nvSpPr>
          <p:cNvPr id="20" name="TextBox 19"/>
          <p:cNvSpPr txBox="1"/>
          <p:nvPr/>
        </p:nvSpPr>
        <p:spPr>
          <a:xfrm>
            <a:off x="518668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3</a:t>
            </a:r>
          </a:p>
        </p:txBody>
      </p:sp>
      <p:sp>
        <p:nvSpPr>
          <p:cNvPr id="21" name="TextBox 20"/>
          <p:cNvSpPr txBox="1"/>
          <p:nvPr/>
        </p:nvSpPr>
        <p:spPr>
          <a:xfrm>
            <a:off x="516128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Your App Built</a:t>
            </a:r>
          </a:p>
        </p:txBody>
      </p:sp>
      <p:sp>
        <p:nvSpPr>
          <p:cNvPr id="22" name="Rounded Rectangle 21"/>
          <p:cNvSpPr/>
          <p:nvPr/>
        </p:nvSpPr>
        <p:spPr>
          <a:xfrm>
            <a:off x="7284719"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alette-2C2C2A.png"/>
          <p:cNvPicPr>
            <a:picLocks noChangeAspect="1"/>
          </p:cNvPicPr>
          <p:nvPr/>
        </p:nvPicPr>
        <p:blipFill>
          <a:blip r:embed="rId5"/>
          <a:stretch>
            <a:fillRect/>
          </a:stretch>
        </p:blipFill>
        <p:spPr>
          <a:xfrm>
            <a:off x="8067039" y="2936875"/>
            <a:ext cx="508000" cy="508000"/>
          </a:xfrm>
          <a:prstGeom prst="rect">
            <a:avLst/>
          </a:prstGeom>
        </p:spPr>
      </p:pic>
      <p:sp>
        <p:nvSpPr>
          <p:cNvPr id="24" name="TextBox 23"/>
          <p:cNvSpPr txBox="1"/>
          <p:nvPr/>
        </p:nvSpPr>
        <p:spPr>
          <a:xfrm>
            <a:off x="7411719"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4</a:t>
            </a:r>
          </a:p>
        </p:txBody>
      </p:sp>
      <p:sp>
        <p:nvSpPr>
          <p:cNvPr id="25" name="TextBox 24"/>
          <p:cNvSpPr txBox="1"/>
          <p:nvPr/>
        </p:nvSpPr>
        <p:spPr>
          <a:xfrm>
            <a:off x="7386319"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Reseller Plan</a:t>
            </a:r>
          </a:p>
        </p:txBody>
      </p:sp>
      <p:sp>
        <p:nvSpPr>
          <p:cNvPr id="26" name="Rounded Rectangle 25"/>
          <p:cNvSpPr/>
          <p:nvPr/>
        </p:nvSpPr>
        <p:spPr>
          <a:xfrm>
            <a:off x="9509760" y="2632075"/>
            <a:ext cx="2072639" cy="1508760"/>
          </a:xfrm>
          <a:prstGeom prst="roundRect">
            <a:avLst>
              <a:gd name="adj" fmla="val 20202"/>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ink-2C2C2A.png"/>
          <p:cNvPicPr>
            <a:picLocks noChangeAspect="1"/>
          </p:cNvPicPr>
          <p:nvPr/>
        </p:nvPicPr>
        <p:blipFill>
          <a:blip r:embed="rId6"/>
          <a:stretch>
            <a:fillRect/>
          </a:stretch>
        </p:blipFill>
        <p:spPr>
          <a:xfrm>
            <a:off x="10292080" y="2936875"/>
            <a:ext cx="508000" cy="508000"/>
          </a:xfrm>
          <a:prstGeom prst="rect">
            <a:avLst/>
          </a:prstGeom>
        </p:spPr>
      </p:pic>
      <p:sp>
        <p:nvSpPr>
          <p:cNvPr id="28" name="TextBox 27"/>
          <p:cNvSpPr txBox="1"/>
          <p:nvPr/>
        </p:nvSpPr>
        <p:spPr>
          <a:xfrm>
            <a:off x="9636760" y="2759075"/>
            <a:ext cx="431800" cy="256540"/>
          </a:xfrm>
          <a:prstGeom prst="rect">
            <a:avLst/>
          </a:prstGeom>
          <a:noFill/>
        </p:spPr>
        <p:txBody>
          <a:bodyPr wrap="square" lIns="0" rIns="0" tIns="0" bIns="0" anchor="t">
            <a:noAutofit/>
          </a:bodyPr>
          <a:lstStyle/>
          <a:p>
            <a:pPr algn="l">
              <a:lnSpc>
                <a:spcPts val="1820"/>
              </a:lnSpc>
            </a:pPr>
            <a:r>
              <a:rPr sz="1400" b="1">
                <a:solidFill>
                  <a:srgbClr val="756E65"/>
                </a:solidFill>
                <a:latin typeface="Lexend"/>
              </a:rPr>
              <a:t>5</a:t>
            </a:r>
          </a:p>
        </p:txBody>
      </p:sp>
      <p:sp>
        <p:nvSpPr>
          <p:cNvPr id="29" name="TextBox 28"/>
          <p:cNvSpPr txBox="1"/>
          <p:nvPr/>
        </p:nvSpPr>
        <p:spPr>
          <a:xfrm>
            <a:off x="9611360" y="3622675"/>
            <a:ext cx="1920239"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Partner Link</a:t>
            </a:r>
          </a:p>
        </p:txBody>
      </p:sp>
      <p:sp>
        <p:nvSpPr>
          <p:cNvPr id="30" name="TextBox 29"/>
          <p:cNvSpPr txBox="1"/>
          <p:nvPr/>
        </p:nvSpPr>
        <p:spPr>
          <a:xfrm>
            <a:off x="609600" y="4445635"/>
            <a:ext cx="11023600" cy="306070"/>
          </a:xfrm>
          <a:prstGeom prst="rect">
            <a:avLst/>
          </a:prstGeom>
          <a:noFill/>
        </p:spPr>
        <p:txBody>
          <a:bodyPr wrap="square" lIns="0" rIns="0" tIns="0" bIns="0" anchor="t">
            <a:noAutofit/>
          </a:bodyPr>
          <a:lstStyle/>
          <a:p>
            <a:pPr algn="l">
              <a:lnSpc>
                <a:spcPts val="2210"/>
              </a:lnSpc>
            </a:pPr>
            <a:r>
              <a:rPr sz="1700" b="0">
                <a:solidFill>
                  <a:srgbClr val="756E65"/>
                </a:solidFill>
                <a:latin typeface="Lexend"/>
              </a:rPr>
              <a:t>Start Small: The Idea Form Is Free To Fill 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Want To See If Your Idea Fits?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Shared By A Partner</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B · Partner Webinar Cut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AF-UNDERSTANDING-2026-10-22.md · AF-CARD-TEMPLATE.md · BRICK-KITS.csv · glossary.json</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Rounded Rectangle 9"/>
          <p:cNvSpPr/>
          <p:nvPr/>
        </p:nvSpPr>
        <p:spPr>
          <a:xfrm>
            <a:off x="609600" y="1808479"/>
            <a:ext cx="406400" cy="406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09600" y="1871979"/>
            <a:ext cx="4572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1</a:t>
            </a:r>
          </a:p>
        </p:txBody>
      </p:sp>
      <p:sp>
        <p:nvSpPr>
          <p:cNvPr id="12" name="TextBox 11"/>
          <p:cNvSpPr txBox="1"/>
          <p:nvPr/>
        </p:nvSpPr>
        <p:spPr>
          <a:xfrm>
            <a:off x="1219200" y="1859279"/>
            <a:ext cx="70358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Fill In The Idea Form</a:t>
            </a:r>
          </a:p>
        </p:txBody>
      </p:sp>
      <p:sp>
        <p:nvSpPr>
          <p:cNvPr id="13" name="Rounded Rectangle 12"/>
          <p:cNvSpPr/>
          <p:nvPr/>
        </p:nvSpPr>
        <p:spPr>
          <a:xfrm>
            <a:off x="609600" y="2316479"/>
            <a:ext cx="406400" cy="406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09600" y="2379979"/>
            <a:ext cx="4572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2</a:t>
            </a:r>
          </a:p>
        </p:txBody>
      </p:sp>
      <p:sp>
        <p:nvSpPr>
          <p:cNvPr id="15" name="TextBox 14"/>
          <p:cNvSpPr txBox="1"/>
          <p:nvPr/>
        </p:nvSpPr>
        <p:spPr>
          <a:xfrm>
            <a:off x="1219200" y="2367279"/>
            <a:ext cx="70358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Mention Who Shared This With You</a:t>
            </a:r>
          </a:p>
        </p:txBody>
      </p:sp>
      <p:sp>
        <p:nvSpPr>
          <p:cNvPr id="16" name="Rounded Rectangle 15"/>
          <p:cNvSpPr/>
          <p:nvPr/>
        </p:nvSpPr>
        <p:spPr>
          <a:xfrm>
            <a:off x="609600" y="2824479"/>
            <a:ext cx="406400" cy="406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09600" y="2887979"/>
            <a:ext cx="457200" cy="289560"/>
          </a:xfrm>
          <a:prstGeom prst="rect">
            <a:avLst/>
          </a:prstGeom>
          <a:noFill/>
        </p:spPr>
        <p:txBody>
          <a:bodyPr wrap="square" lIns="0" rIns="0" tIns="0" bIns="0" anchor="t">
            <a:noAutofit/>
          </a:bodyPr>
          <a:lstStyle/>
          <a:p>
            <a:pPr algn="ctr">
              <a:lnSpc>
                <a:spcPts val="2080"/>
              </a:lnSpc>
            </a:pPr>
            <a:r>
              <a:rPr sz="1600" b="1">
                <a:solidFill>
                  <a:srgbClr val="2C2C2A"/>
                </a:solidFill>
                <a:latin typeface="Lexend"/>
              </a:rPr>
              <a:t>3</a:t>
            </a:r>
          </a:p>
        </p:txBody>
      </p:sp>
      <p:sp>
        <p:nvSpPr>
          <p:cNvPr id="18" name="TextBox 17"/>
          <p:cNvSpPr txBox="1"/>
          <p:nvPr/>
        </p:nvSpPr>
        <p:spPr>
          <a:xfrm>
            <a:off x="1219200" y="2875279"/>
            <a:ext cx="70358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Ask Your Questions On A Short Call</a:t>
            </a:r>
          </a:p>
        </p:txBody>
      </p:sp>
      <p:sp>
        <p:nvSpPr>
          <p:cNvPr id="19" name="Rounded Rectangle 18"/>
          <p:cNvSpPr/>
          <p:nvPr/>
        </p:nvSpPr>
        <p:spPr>
          <a:xfrm>
            <a:off x="8509000" y="1871979"/>
            <a:ext cx="30734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orms-2C2C2A.png"/>
          <p:cNvPicPr>
            <a:picLocks noChangeAspect="1"/>
          </p:cNvPicPr>
          <p:nvPr/>
        </p:nvPicPr>
        <p:blipFill>
          <a:blip r:embed="rId2"/>
          <a:stretch>
            <a:fillRect/>
          </a:stretch>
        </p:blipFill>
        <p:spPr>
          <a:xfrm>
            <a:off x="8699500" y="2062479"/>
            <a:ext cx="279400" cy="279400"/>
          </a:xfrm>
          <a:prstGeom prst="rect">
            <a:avLst/>
          </a:prstGeom>
        </p:spPr>
      </p:pic>
      <p:sp>
        <p:nvSpPr>
          <p:cNvPr id="21" name="TextBox 20"/>
          <p:cNvSpPr txBox="1"/>
          <p:nvPr/>
        </p:nvSpPr>
        <p:spPr>
          <a:xfrm>
            <a:off x="9118600" y="2049779"/>
            <a:ext cx="2362200" cy="273050"/>
          </a:xfrm>
          <a:prstGeom prst="rect">
            <a:avLst/>
          </a:prstGeom>
          <a:noFill/>
        </p:spPr>
        <p:txBody>
          <a:bodyPr wrap="square" lIns="0" rIns="0" tIns="0" bIns="0" anchor="t">
            <a:noAutofit/>
          </a:bodyPr>
          <a:lstStyle/>
          <a:p>
            <a:pPr algn="l">
              <a:lnSpc>
                <a:spcPts val="1950"/>
              </a:lnSpc>
            </a:pPr>
            <a:r>
              <a:rPr sz="1500" b="1">
                <a:solidFill>
                  <a:srgbClr val="2C2C2A"/>
                </a:solidFill>
                <a:latin typeface="Lexend"/>
              </a:rPr>
              <a:t>Idea Form</a:t>
            </a:r>
          </a:p>
        </p:txBody>
      </p:sp>
      <p:sp>
        <p:nvSpPr>
          <p:cNvPr id="22" name="TextBox 21"/>
          <p:cNvSpPr txBox="1"/>
          <p:nvPr/>
        </p:nvSpPr>
        <p:spPr>
          <a:xfrm>
            <a:off x="9118600" y="2354579"/>
            <a:ext cx="2362200" cy="22352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Link: TO CONFIRM</a:t>
            </a:r>
          </a:p>
        </p:txBody>
      </p:sp>
      <p:sp>
        <p:nvSpPr>
          <p:cNvPr id="23" name="Rounded Rectangle 22"/>
          <p:cNvSpPr/>
          <p:nvPr/>
        </p:nvSpPr>
        <p:spPr>
          <a:xfrm>
            <a:off x="8509000" y="3014979"/>
            <a:ext cx="30734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ink-2C2C2A.png"/>
          <p:cNvPicPr>
            <a:picLocks noChangeAspect="1"/>
          </p:cNvPicPr>
          <p:nvPr/>
        </p:nvPicPr>
        <p:blipFill>
          <a:blip r:embed="rId3"/>
          <a:stretch>
            <a:fillRect/>
          </a:stretch>
        </p:blipFill>
        <p:spPr>
          <a:xfrm>
            <a:off x="8699500" y="3205479"/>
            <a:ext cx="279400" cy="279400"/>
          </a:xfrm>
          <a:prstGeom prst="rect">
            <a:avLst/>
          </a:prstGeom>
        </p:spPr>
      </p:pic>
      <p:sp>
        <p:nvSpPr>
          <p:cNvPr id="25" name="TextBox 24"/>
          <p:cNvSpPr txBox="1"/>
          <p:nvPr/>
        </p:nvSpPr>
        <p:spPr>
          <a:xfrm>
            <a:off x="9118600" y="3192779"/>
            <a:ext cx="2362200" cy="273050"/>
          </a:xfrm>
          <a:prstGeom prst="rect">
            <a:avLst/>
          </a:prstGeom>
          <a:noFill/>
        </p:spPr>
        <p:txBody>
          <a:bodyPr wrap="square" lIns="0" rIns="0" tIns="0" bIns="0" anchor="t">
            <a:noAutofit/>
          </a:bodyPr>
          <a:lstStyle/>
          <a:p>
            <a:pPr algn="l">
              <a:lnSpc>
                <a:spcPts val="1950"/>
              </a:lnSpc>
            </a:pPr>
            <a:r>
              <a:rPr sz="1500" b="1">
                <a:solidFill>
                  <a:srgbClr val="2C2C2A"/>
                </a:solidFill>
                <a:latin typeface="Lexend"/>
              </a:rPr>
              <a:t>Partner Link</a:t>
            </a:r>
          </a:p>
        </p:txBody>
      </p:sp>
      <p:sp>
        <p:nvSpPr>
          <p:cNvPr id="26" name="TextBox 25"/>
          <p:cNvSpPr txBox="1"/>
          <p:nvPr/>
        </p:nvSpPr>
        <p:spPr>
          <a:xfrm>
            <a:off x="9118600" y="3497579"/>
            <a:ext cx="2362200" cy="421640"/>
          </a:xfrm>
          <a:prstGeom prst="rect">
            <a:avLst/>
          </a:prstGeom>
          <a:noFill/>
        </p:spPr>
        <p:txBody>
          <a:bodyPr wrap="square" lIns="0" rIns="0" tIns="0" bIns="0" anchor="t">
            <a:noAutofit/>
          </a:bodyPr>
          <a:lstStyle/>
          <a:p>
            <a:pPr algn="l">
              <a:lnSpc>
                <a:spcPts val="1560"/>
              </a:lnSpc>
            </a:pPr>
            <a:r>
              <a:rPr sz="1200" b="0">
                <a:solidFill>
                  <a:srgbClr val="756E65"/>
                </a:solidFill>
                <a:latin typeface="Lexend"/>
              </a:rPr>
              <a:t>[PARTNER LINK: TO</a:t>
            </a:r>
          </a:p>
          <a:p>
            <a:pPr algn="l">
              <a:lnSpc>
                <a:spcPts val="1560"/>
              </a:lnSpc>
            </a:pPr>
            <a:r>
              <a:rPr sz="1200" b="0">
                <a:solidFill>
                  <a:srgbClr val="756E65"/>
                </a:solidFill>
                <a:latin typeface="Lexend"/>
              </a:rPr>
              <a:t>CONFIRM]</a:t>
            </a:r>
          </a:p>
        </p:txBody>
      </p:sp>
      <p:sp>
        <p:nvSpPr>
          <p:cNvPr id="27" name="TextBox 26"/>
          <p:cNvSpPr txBox="1"/>
          <p:nvPr/>
        </p:nvSpPr>
        <p:spPr>
          <a:xfrm>
            <a:off x="609600" y="5727700"/>
            <a:ext cx="11023600" cy="240030"/>
          </a:xfrm>
          <a:prstGeom prst="rect">
            <a:avLst/>
          </a:prstGeom>
          <a:noFill/>
        </p:spPr>
        <p:txBody>
          <a:bodyPr wrap="square" lIns="0" rIns="0" tIns="0" bIns="0" anchor="t">
            <a:noAutofit/>
          </a:bodyPr>
          <a:lstStyle/>
          <a:p>
            <a:pPr algn="l">
              <a:lnSpc>
                <a:spcPts val="1690"/>
              </a:lnSpc>
            </a:pPr>
            <a:r>
              <a:rPr sz="1300" b="0">
                <a:solidFill>
                  <a:srgbClr val="756E65"/>
                </a:solidFill>
                <a:latin typeface="Lexend"/>
              </a:rPr>
              <a:t>The Person Sharing This May Earn A Referral Fee. No Income Promises Are Made To Anyone.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