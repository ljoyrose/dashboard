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the first version of an app is scoped, mapped and mocked up, how its duties are listed, and how the Lock gate freezes the feature list.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outcome.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 was helping to plan Stayproof, our sample inspection pack for boarding kennels. He wanted the first version to do everything a kennel could ever need: daily logs, staff rotas, feeding charts, a shop, reviews, a chat room. Every day the list grew longer, and nothing on it could be built or tested, because nothing was finished. Then someone asked him a different question. What is the smallest app a first customer would pay for and actually use? Everything else could wait on a roadmap. That question is the heart of Stage 3, called Features.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 3 is where the bricks and kits from Stage 2 become a real feature list. It sits in the Research room and it is free. The work is written into a build pack, a set of short notes kept in the app's one document organised by stage, before anything is built. The pack answers five things. Who sees and does what. Which words, labels and colours are data. How payment works. Which tenancy level the app has, using the TEN (0-6) code. And the launch-minimum scope. We will take them one at a time.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note is a who-sees-and-does-what map. It has one line for each role and each action. A role is a type of person using the app, such as owner, staff member or customer. A line might say: kennel staff can add a daily log, and only for their own kennel. Each line also names where the check happens on the server side, which means on the computer that holds the data, not just on the screen. A rule that lives only on the screen can be dodged. A rule on the server cannot.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note is content as data. Every word, label, colour and category the app shows is listed and stored as rows in a table, never typed into the code. Why bother? Because a reseller app like Litterline wears different brand names. When Northvale Canine Society offers the app to its breeders, the name, colours and wording change, but the layout stays the same. If the words are rows, that swap is an edit to a few rows. If the words are baked into the code, every change becomes a paid building turn.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and fourth notes are about money and businesses. The payment route says who takes the money, who is the merchant of record, meaning the business named on the customer's receipt, and how VAT is handled. The PAY (0-2) code helps decide this. The tenancy level uses TEN (0-6), which counts how many businesses share the app and who sits above them. Stayproof is TEN 2: several kennels side by side, none above another. Litterline is TEN 3, because one reseller club sits above its breeders. A higher level needs more walls.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fifth note is the launch-minimum scope. It is the fewest tables and screens that let a first customer pay and use the app. Everything else goes on the roadmap, which is the list of things to add later. Alongside it sits an in and out list, so everyone can see what was left out on purpose. One checklist rule keeps the scope honest: the first build must fix the three complaints customers mentioned most in research, and include at least one thing no rival has. Small, but already better than what is out there.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anything is built, the app gets a clickable mockup. A mockup is a pretend version of the screens you can tap through, with no real data behind it. It is designed phone first, then checked at laptop width, and it follows the house style rules. The mockup also has to use everything in the research: the tables, the rivals, the price range. A mockup made only from colours and calm layouts tends to look nice and say nothing. The person who decides at Lock clicks through it at both widths and says yes.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more thing goes into Stage 3: a journey map. A journey is one path a person takes through the app, such as signing up, checking an email on another device, signing in, resetting a password or signing out. Each journey is listed and questioned at design time. What does a signed-out visitor see on each page? Does it still work in a new tab? Thinking this through now is free. Finding a broken journey after a paid build is not. Next lesson covers the duties list and the gate that freezes all this. First, a recap.</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B. Launch-minimum is the smallest version a first customer would pay for and use; the rest is roadmap.</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outcome.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Ava and her mum were planning Trimtable, our sample booking desk for dog groomers, with a salon called The Tidy Paw in mind. The feature list was short and everyone liked it. They wanted to start building the next morning. Then Ava asked three awkward questions. Who exactly is paying? What does the law ask of an app that stores customers' details? And what is the minimum age to sign up? Nobody knew. The answer was not more features. It was a written list of duties, and one firm decision to freeze the plan.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duty, or obligation, is something that must exist or be done before a stage or a paid build can go ahead. The factory keeps every known duty in one shared file called OBLIGATIONS.csv. The version in use, v0.6, has 107 rows. Each row says what causes the duty. It might be the build platform itself, which affects every app. It might be one of the codes on the idea card. It might be a brick, or it might be a payment provider, the company that takes card payments. A kit inherits the duties of its bricks.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Stage 3 the app gets its own obligations ledger, section 3.7 of its document. A ledger is simply a list you keep track of. It is built from the shared file: every platform row, plus the rows for each of the app's codes, plus the rows for each brick it uses, plus the rows for each payment provider it chose. Each row then gets an owner, the gate or prompt it is due by, and a status. When a new duty is learned, from an incident or a refund, a row is added to the shared file in the same turn, so the next app inherits 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Some rows can only be done by a person, not an agent. Here are examples from the file. Deciding the minimum age and how it is captured, which comes from the BR-LEGAL brick and is due at Lock. Deciding whether one person may hold more than one membership. Ruling on plans and prices before any plan is created. These rows are listed to the person who decides once, as one list with due points. Each then becomes a work item that blocks the gate or prompt it is due at. Agents can draft, but the decision stays with a person.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rule that gives the ledger its teeth. A gate cannot pass while a ledger row due at that gate is still open or only part done. The same goes for a paid prompt: it cannot even be presented while a row due at it is open. Two automatic checks, called CK50 and CK51, enforce this. So a duty cannot quietly slip past. If the age rule is not decided, Lock does not pass, however good the mockup looks. It sounds strict, and it is. Fixing a missed legal duty after launch costs far more.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Lock gate sits between Stage 3 and Stage 4, and it has two firm conditions. The first is a named payer: who will pay is written down by name, not assumed. The second is a legal check for this exact scope, because a different scope can bring different law. Trimtable stores customers' names and notes about their dogs, so its SEN (0-3) code is 1, personal data. That brings data protection duties with it. The legal check reads the in and out list and the ledger together, and says whether this version can be built as planned.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Lock is always decided by a person. It never passes automatically. The engine shows one decide row with a plain question: freeze the feature list? There is a reason it is always a person. Lock includes the mockup review, and judging whether a mockup is right is not something a checklist can do. A yes freezes the list. The out list is closed, and anything on it can only come back through a new gate, never by drift. Drift is when extra features creep in a little at a time without anyone deciding.</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Lock is also the moment the app is created on the build platform, with its own number and a short web name called a slug. Until now the app was a folder of notes. A live app that wants a new feature later comes back in at Lock too, as a small pack of its own, so every change gets the same check. With the feature list frozen and every duty owned, the next stage can design the tables safely. That is Stage 4, Schema. First, a quick recap of duties and the Lock gate.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C. It is the shared file of duties, each caused by the platform, a code, a brick or a provider.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Stage 3 · Features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Track F · Family Learners</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M04 · v1 · Slide 1</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scripts/modules/M04.json · AF-UNDERSTANDING-2026-10-22.md, APP-FACTORY-FRAMEWORK.md,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sp>
        <p:nvSpPr>
          <p:cNvPr id="10" name="TextBox 9"/>
          <p:cNvSpPr txBox="1"/>
          <p:nvPr/>
        </p:nvSpPr>
        <p:spPr>
          <a:xfrm>
            <a:off x="609600" y="2252979"/>
            <a:ext cx="7035800" cy="3459480"/>
          </a:xfrm>
          <a:prstGeom prst="rect">
            <a:avLst/>
          </a:prstGeom>
          <a:noFill/>
        </p:spPr>
        <p:txBody>
          <a:bodyPr wrap="square" lIns="0" rIns="0" tIns="0" bIns="0" anchor="t">
            <a:noAutofit/>
          </a:bodyPr>
          <a:lstStyle/>
          <a:p>
            <a:pPr algn="l">
              <a:lnSpc>
                <a:spcPts val="6760"/>
              </a:lnSpc>
            </a:pPr>
            <a:r>
              <a:rPr sz="5200" b="1">
                <a:solidFill>
                  <a:srgbClr val="2C2C2A"/>
                </a:solidFill>
                <a:latin typeface="Lexend"/>
              </a:rPr>
              <a:t>Kits And Bricks,</a:t>
            </a:r>
          </a:p>
          <a:p>
            <a:pPr algn="l">
              <a:lnSpc>
                <a:spcPts val="6760"/>
              </a:lnSpc>
            </a:pPr>
            <a:r>
              <a:rPr sz="5200" b="1">
                <a:solidFill>
                  <a:srgbClr val="2C2C2A"/>
                </a:solidFill>
                <a:latin typeface="Lexend"/>
              </a:rPr>
              <a:t>Who Sees What,</a:t>
            </a:r>
          </a:p>
          <a:p>
            <a:pPr algn="l">
              <a:lnSpc>
                <a:spcPts val="6760"/>
              </a:lnSpc>
            </a:pPr>
            <a:r>
              <a:rPr sz="5200" b="1">
                <a:solidFill>
                  <a:srgbClr val="2C2C2A"/>
                </a:solidFill>
                <a:latin typeface="Lexend"/>
              </a:rPr>
              <a:t>Duties, The Lock</a:t>
            </a:r>
          </a:p>
          <a:p>
            <a:pPr algn="l">
              <a:lnSpc>
                <a:spcPts val="6760"/>
              </a:lnSpc>
            </a:pPr>
            <a:r>
              <a:rPr sz="5200" b="1">
                <a:solidFill>
                  <a:srgbClr val="2C2C2A"/>
                </a:solidFill>
                <a:latin typeface="Lexend"/>
              </a:rPr>
              <a:t>Gate</a:t>
            </a:r>
          </a:p>
        </p:txBody>
      </p:sp>
      <p:sp>
        <p:nvSpPr>
          <p:cNvPr id="11" name="TextBox 10"/>
          <p:cNvSpPr txBox="1"/>
          <p:nvPr/>
        </p:nvSpPr>
        <p:spPr>
          <a:xfrm>
            <a:off x="609600" y="5814060"/>
            <a:ext cx="6400800" cy="10160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How the first version of an app is scoped, mapped</a:t>
            </a:r>
          </a:p>
          <a:p>
            <a:pPr algn="l">
              <a:lnSpc>
                <a:spcPts val="2600"/>
              </a:lnSpc>
            </a:pPr>
            <a:r>
              <a:rPr sz="2000" b="0">
                <a:solidFill>
                  <a:srgbClr val="756E65"/>
                </a:solidFill>
                <a:latin typeface="Lexend"/>
              </a:rPr>
              <a:t>and mocked up, how its duties are listed, and how</a:t>
            </a:r>
          </a:p>
          <a:p>
            <a:pPr algn="l">
              <a:lnSpc>
                <a:spcPts val="2600"/>
              </a:lnSpc>
            </a:pPr>
            <a:r>
              <a:rPr sz="2000" b="0">
                <a:solidFill>
                  <a:srgbClr val="756E65"/>
                </a:solidFill>
                <a:latin typeface="Lexend"/>
              </a:rPr>
              <a:t>the Lock gate freezes the feature list.</a:t>
            </a:r>
          </a:p>
        </p:txBody>
      </p:sp>
      <p:pic>
        <p:nvPicPr>
          <p:cNvPr id="12" name="Picture 11" descr="puzzle-2C2C2A.png"/>
          <p:cNvPicPr>
            <a:picLocks noChangeAspect="1"/>
          </p:cNvPicPr>
          <p:nvPr/>
        </p:nvPicPr>
        <p:blipFill>
          <a:blip r:embed="rId2"/>
          <a:stretch>
            <a:fillRect/>
          </a:stretch>
        </p:blipFill>
        <p:spPr>
          <a:xfrm>
            <a:off x="8572500" y="2506979"/>
            <a:ext cx="2286000" cy="2286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Choosing Kits And Bricks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M04-L1 · About 6 Minutes</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M04 · v1 · Slide 2</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scripts/modules/M04.json · AF-UNDERSTANDING-2026-10-22.md, APP-FACTORY-FRAMEWORK.md,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target-2C2C2A.png"/>
          <p:cNvPicPr>
            <a:picLocks noChangeAspect="1"/>
          </p:cNvPicPr>
          <p:nvPr/>
        </p:nvPicPr>
        <p:blipFill>
          <a:blip r:embed="rId2"/>
          <a:stretch>
            <a:fillRect/>
          </a:stretch>
        </p:blipFill>
        <p:spPr>
          <a:xfrm>
            <a:off x="609600" y="2851150"/>
            <a:ext cx="1016000" cy="1016000"/>
          </a:xfrm>
          <a:prstGeom prst="rect">
            <a:avLst/>
          </a:prstGeom>
        </p:spPr>
      </p:pic>
      <p:sp>
        <p:nvSpPr>
          <p:cNvPr id="11" name="TextBox 10"/>
          <p:cNvSpPr txBox="1"/>
          <p:nvPr/>
        </p:nvSpPr>
        <p:spPr>
          <a:xfrm>
            <a:off x="2070100" y="2813050"/>
            <a:ext cx="9563100" cy="180848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You can describe how the first version of</a:t>
            </a:r>
          </a:p>
          <a:p>
            <a:pPr algn="l">
              <a:lnSpc>
                <a:spcPts val="4680"/>
              </a:lnSpc>
            </a:pPr>
            <a:r>
              <a:rPr sz="3600" b="1">
                <a:solidFill>
                  <a:srgbClr val="2C2C2A"/>
                </a:solidFill>
                <a:latin typeface="Lexend"/>
              </a:rPr>
              <a:t>an app is scoped, mapped and mocked</a:t>
            </a:r>
          </a:p>
          <a:p>
            <a:pPr algn="l">
              <a:lnSpc>
                <a:spcPts val="4680"/>
              </a:lnSpc>
            </a:pPr>
            <a:r>
              <a:rPr sz="3600" b="1">
                <a:solidFill>
                  <a:srgbClr val="2C2C2A"/>
                </a:solidFill>
                <a:latin typeface="Lexend"/>
              </a:rPr>
              <a:t>up before Lock.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Choosing Kits And Bricks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M04-L1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M04 · v1 · Slide 3</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scripts/modules/M04.json · AF-UNDERSTANDING-2026-10-22.md, APP-FACTORY-FRAMEWORK.md,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user-2C2C2A.png"/>
          <p:cNvPicPr>
            <a:picLocks noChangeAspect="1"/>
          </p:cNvPicPr>
          <p:nvPr/>
        </p:nvPicPr>
        <p:blipFill>
          <a:blip r:embed="rId2"/>
          <a:stretch>
            <a:fillRect/>
          </a:stretch>
        </p:blipFill>
        <p:spPr>
          <a:xfrm>
            <a:off x="609600" y="3020060"/>
            <a:ext cx="1016000" cy="1016000"/>
          </a:xfrm>
          <a:prstGeom prst="rect">
            <a:avLst/>
          </a:prstGeom>
        </p:spPr>
      </p:pic>
      <p:sp>
        <p:nvSpPr>
          <p:cNvPr id="11" name="TextBox 10"/>
          <p:cNvSpPr txBox="1"/>
          <p:nvPr/>
        </p:nvSpPr>
        <p:spPr>
          <a:xfrm>
            <a:off x="2070100" y="29819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Sam Wanted Everything In Version One</a:t>
            </a:r>
          </a:p>
        </p:txBody>
      </p:sp>
      <p:sp>
        <p:nvSpPr>
          <p:cNvPr id="12" name="TextBox 11"/>
          <p:cNvSpPr txBox="1"/>
          <p:nvPr/>
        </p:nvSpPr>
        <p:spPr>
          <a:xfrm>
            <a:off x="2070100" y="3766820"/>
            <a:ext cx="9563100" cy="6858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Sam was helping to plan Stayproof, our sample inspection pack for boarding</a:t>
            </a:r>
          </a:p>
          <a:p>
            <a:pPr algn="l">
              <a:lnSpc>
                <a:spcPts val="2600"/>
              </a:lnSpc>
            </a:pPr>
            <a:r>
              <a:rPr sz="2000" b="0">
                <a:solidFill>
                  <a:srgbClr val="756E65"/>
                </a:solidFill>
                <a:latin typeface="Lexend"/>
              </a:rPr>
              <a:t>kennels.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Choosing Kits And Bricks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M04-L1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M04 · v1 · Slide 4</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scripts/modules/M04.json · AF-UNDERSTANDING-2026-10-22.md, APP-FACTORY-FRAMEWORK.md,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puzzle-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Stage 3 Picks What Goes In</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Stage 3 is where the bricks and kits from Stage 2 become a real feature list.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Choosing Kits And Bricks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M04-L1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M04 · v1 · Slide 5</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scripts/modules/M04.json · AF-UNDERSTANDING-2026-10-22.md, APP-FACTORY-FRAMEWORK.md,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eye-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Who Sees And Does What</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It has one line for each role and each action.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Choosing Kits And Bricks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M04-L1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M04 · v1 · Slide 6</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scripts/modules/M04.json · AF-UNDERSTANDING-2026-10-22.md, APP-FACTORY-FRAMEWORK.md,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table-2C2C2A.png"/>
          <p:cNvPicPr>
            <a:picLocks noChangeAspect="1"/>
          </p:cNvPicPr>
          <p:nvPr/>
        </p:nvPicPr>
        <p:blipFill>
          <a:blip r:embed="rId2"/>
          <a:stretch>
            <a:fillRect/>
          </a:stretch>
        </p:blipFill>
        <p:spPr>
          <a:xfrm>
            <a:off x="609600" y="3020060"/>
            <a:ext cx="1016000" cy="1016000"/>
          </a:xfrm>
          <a:prstGeom prst="rect">
            <a:avLst/>
          </a:prstGeom>
        </p:spPr>
      </p:pic>
      <p:sp>
        <p:nvSpPr>
          <p:cNvPr id="11" name="TextBox 10"/>
          <p:cNvSpPr txBox="1"/>
          <p:nvPr/>
        </p:nvSpPr>
        <p:spPr>
          <a:xfrm>
            <a:off x="2070100" y="29819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Every Word And Colour Is Data</a:t>
            </a:r>
          </a:p>
        </p:txBody>
      </p:sp>
      <p:sp>
        <p:nvSpPr>
          <p:cNvPr id="12" name="TextBox 11"/>
          <p:cNvSpPr txBox="1"/>
          <p:nvPr/>
        </p:nvSpPr>
        <p:spPr>
          <a:xfrm>
            <a:off x="2070100" y="3766820"/>
            <a:ext cx="9563100" cy="6858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Every word, label, colour and category the app shows is listed and stored as</a:t>
            </a:r>
          </a:p>
          <a:p>
            <a:pPr algn="l">
              <a:lnSpc>
                <a:spcPts val="2600"/>
              </a:lnSpc>
            </a:pPr>
            <a:r>
              <a:rPr sz="2000" b="0">
                <a:solidFill>
                  <a:srgbClr val="756E65"/>
                </a:solidFill>
                <a:latin typeface="Lexend"/>
              </a:rPr>
              <a:t>rows in a table, never typed into the code.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Choosing Kits And Bricks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M04-L1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M04 · v1 · Slide 7</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scripts/modules/M04.json · AF-UNDERSTANDING-2026-10-22.md, APP-FACTORY-FRAMEWORK.md,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cash-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Payment Route And Tenancy Level</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The third and fourth notes are about money and businesses.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Choosing Kits And Bricks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M04-L1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M04 · v1 · Slide 8</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scripts/modules/M04.json · AF-UNDERSTANDING-2026-10-22.md, APP-FACTORY-FRAMEWORK.md,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target-2C2C2A.png"/>
          <p:cNvPicPr>
            <a:picLocks noChangeAspect="1"/>
          </p:cNvPicPr>
          <p:nvPr/>
        </p:nvPicPr>
        <p:blipFill>
          <a:blip r:embed="rId2"/>
          <a:stretch>
            <a:fillRect/>
          </a:stretch>
        </p:blipFill>
        <p:spPr>
          <a:xfrm>
            <a:off x="609600" y="3020060"/>
            <a:ext cx="1016000" cy="1016000"/>
          </a:xfrm>
          <a:prstGeom prst="rect">
            <a:avLst/>
          </a:prstGeom>
        </p:spPr>
      </p:pic>
      <p:sp>
        <p:nvSpPr>
          <p:cNvPr id="11" name="TextBox 10"/>
          <p:cNvSpPr txBox="1"/>
          <p:nvPr/>
        </p:nvSpPr>
        <p:spPr>
          <a:xfrm>
            <a:off x="2070100" y="29819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The Launch-Minimum Scope</a:t>
            </a:r>
          </a:p>
        </p:txBody>
      </p:sp>
      <p:sp>
        <p:nvSpPr>
          <p:cNvPr id="12" name="TextBox 11"/>
          <p:cNvSpPr txBox="1"/>
          <p:nvPr/>
        </p:nvSpPr>
        <p:spPr>
          <a:xfrm>
            <a:off x="2070100" y="3766820"/>
            <a:ext cx="9563100" cy="6858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It is the fewest tables and screens that let a first customer pay and use the</a:t>
            </a:r>
          </a:p>
          <a:p>
            <a:pPr algn="l">
              <a:lnSpc>
                <a:spcPts val="2600"/>
              </a:lnSpc>
            </a:pPr>
            <a:r>
              <a:rPr sz="2000" b="0">
                <a:solidFill>
                  <a:srgbClr val="756E65"/>
                </a:solidFill>
                <a:latin typeface="Lexend"/>
              </a:rPr>
              <a:t>app.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Choosing Kits And Bricks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M04-L1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M04 · v1 · Slide 9</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scripts/modules/M04.json · AF-UNDERSTANDING-2026-10-22.md, APP-FACTORY-FRAMEWORK.md,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layout-dashboard-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A Clickable Mockup, Phone First</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Before anything is built, the app gets a clickable mockup.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Choosing Kits And Bricks</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M04-L1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M04 · v1 · Slide 10</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scripts/modules/M04.json · AF-UNDERSTANDING-2026-10-22.md, APP-FACTORY-FRAMEWORK.md,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map-2-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Journeys Are Part Of The Design</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One more thing goes into Stage 3: a journey map.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Recap</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Choosing Kits And Bricks</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M04 · v1 · Slide 11</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scripts/modules/M04.json · AF-UNDERSTANDING-2026-10-22.md, APP-FACTORY-FRAMEWORK.md,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circle-check-217A2D.png"/>
          <p:cNvPicPr>
            <a:picLocks noChangeAspect="1"/>
          </p:cNvPicPr>
          <p:nvPr/>
        </p:nvPicPr>
        <p:blipFill>
          <a:blip r:embed="rId2"/>
          <a:stretch>
            <a:fillRect/>
          </a:stretch>
        </p:blipFill>
        <p:spPr>
          <a:xfrm>
            <a:off x="609600" y="1808479"/>
            <a:ext cx="304800" cy="304800"/>
          </a:xfrm>
          <a:prstGeom prst="rect">
            <a:avLst/>
          </a:prstGeom>
        </p:spPr>
      </p:pic>
      <p:sp>
        <p:nvSpPr>
          <p:cNvPr id="11" name="TextBox 10"/>
          <p:cNvSpPr txBox="1"/>
          <p:nvPr/>
        </p:nvSpPr>
        <p:spPr>
          <a:xfrm>
            <a:off x="1092200" y="1833879"/>
            <a:ext cx="105410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Five Notes Go In The Build Pack Before Lock</a:t>
            </a:r>
          </a:p>
        </p:txBody>
      </p:sp>
      <p:pic>
        <p:nvPicPr>
          <p:cNvPr id="12" name="Picture 11" descr="circle-check-217A2D.png"/>
          <p:cNvPicPr>
            <a:picLocks noChangeAspect="1"/>
          </p:cNvPicPr>
          <p:nvPr/>
        </p:nvPicPr>
        <p:blipFill>
          <a:blip r:embed="rId2"/>
          <a:stretch>
            <a:fillRect/>
          </a:stretch>
        </p:blipFill>
        <p:spPr>
          <a:xfrm>
            <a:off x="609600" y="2316479"/>
            <a:ext cx="304800" cy="304800"/>
          </a:xfrm>
          <a:prstGeom prst="rect">
            <a:avLst/>
          </a:prstGeom>
        </p:spPr>
      </p:pic>
      <p:sp>
        <p:nvSpPr>
          <p:cNvPr id="13" name="TextBox 12"/>
          <p:cNvSpPr txBox="1"/>
          <p:nvPr/>
        </p:nvSpPr>
        <p:spPr>
          <a:xfrm>
            <a:off x="1092200" y="2341879"/>
            <a:ext cx="105410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Launch-Minimum Means Fewest Screens A Customer Pays For</a:t>
            </a:r>
          </a:p>
        </p:txBody>
      </p:sp>
      <p:pic>
        <p:nvPicPr>
          <p:cNvPr id="14" name="Picture 13" descr="circle-check-217A2D.png"/>
          <p:cNvPicPr>
            <a:picLocks noChangeAspect="1"/>
          </p:cNvPicPr>
          <p:nvPr/>
        </p:nvPicPr>
        <p:blipFill>
          <a:blip r:embed="rId2"/>
          <a:stretch>
            <a:fillRect/>
          </a:stretch>
        </p:blipFill>
        <p:spPr>
          <a:xfrm>
            <a:off x="609600" y="2824479"/>
            <a:ext cx="304800" cy="304800"/>
          </a:xfrm>
          <a:prstGeom prst="rect">
            <a:avLst/>
          </a:prstGeom>
        </p:spPr>
      </p:pic>
      <p:sp>
        <p:nvSpPr>
          <p:cNvPr id="15" name="TextBox 14"/>
          <p:cNvSpPr txBox="1"/>
          <p:nvPr/>
        </p:nvSpPr>
        <p:spPr>
          <a:xfrm>
            <a:off x="1092200" y="2849879"/>
            <a:ext cx="105410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Clickable Mockup Phone First, Built From The Research</a:t>
            </a:r>
          </a:p>
        </p:txBody>
      </p:sp>
      <p:sp>
        <p:nvSpPr>
          <p:cNvPr id="16" name="Rounded Rectangle 15"/>
          <p:cNvSpPr/>
          <p:nvPr/>
        </p:nvSpPr>
        <p:spPr>
          <a:xfrm>
            <a:off x="609600" y="3459479"/>
            <a:ext cx="10972800" cy="852169"/>
          </a:xfrm>
          <a:prstGeom prst="roundRect">
            <a:avLst>
              <a:gd name="adj" fmla="val 35767"/>
            </a:avLst>
          </a:prstGeom>
          <a:solidFill>
            <a:srgbClr val="F2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609600" y="3459479"/>
            <a:ext cx="38100" cy="852169"/>
          </a:xfrm>
          <a:prstGeom prst="roundRect">
            <a:avLst>
              <a:gd name="adj" fmla="val 50000"/>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63600" y="3611879"/>
            <a:ext cx="3860800" cy="207010"/>
          </a:xfrm>
          <a:prstGeom prst="rect">
            <a:avLst/>
          </a:prstGeom>
          <a:noFill/>
        </p:spPr>
        <p:txBody>
          <a:bodyPr wrap="square" lIns="0" rIns="0" tIns="0" bIns="0" anchor="t">
            <a:noAutofit/>
          </a:bodyPr>
          <a:lstStyle/>
          <a:p>
            <a:pPr algn="l">
              <a:lnSpc>
                <a:spcPts val="1430"/>
              </a:lnSpc>
            </a:pPr>
            <a:r>
              <a:rPr sz="1100" b="1">
                <a:solidFill>
                  <a:srgbClr val="756E65"/>
                </a:solidFill>
                <a:latin typeface="Lexend"/>
              </a:rPr>
              <a:t>WHY IT MATTERS</a:t>
            </a:r>
          </a:p>
        </p:txBody>
      </p:sp>
      <p:sp>
        <p:nvSpPr>
          <p:cNvPr id="19" name="TextBox 18"/>
          <p:cNvSpPr txBox="1"/>
          <p:nvPr/>
        </p:nvSpPr>
        <p:spPr>
          <a:xfrm>
            <a:off x="863600" y="3853179"/>
            <a:ext cx="105156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Small And Clear Beats Big And Untested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Quick Check</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Choosing Kits And Bricks</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M04 · v1 · Slide 12</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scripts/modules/M04.json · AF-UNDERSTANDING-2026-10-22.md, APP-FACTORY-FRAMEWORK.md,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sp>
        <p:nvSpPr>
          <p:cNvPr id="10" name="TextBox 9"/>
          <p:cNvSpPr txBox="1"/>
          <p:nvPr/>
        </p:nvSpPr>
        <p:spPr>
          <a:xfrm>
            <a:off x="609600" y="1744979"/>
            <a:ext cx="11023600" cy="421640"/>
          </a:xfrm>
          <a:prstGeom prst="rect">
            <a:avLst/>
          </a:prstGeom>
          <a:noFill/>
        </p:spPr>
        <p:txBody>
          <a:bodyPr wrap="square" lIns="0" rIns="0" tIns="0" bIns="0" anchor="t">
            <a:noAutofit/>
          </a:bodyPr>
          <a:lstStyle/>
          <a:p>
            <a:pPr algn="l">
              <a:lnSpc>
                <a:spcPts val="3120"/>
              </a:lnSpc>
            </a:pPr>
            <a:r>
              <a:rPr sz="2400" b="1">
                <a:solidFill>
                  <a:srgbClr val="2C2C2A"/>
                </a:solidFill>
                <a:latin typeface="Lexend"/>
              </a:rPr>
              <a:t>What is the launch-minimum scope?</a:t>
            </a:r>
          </a:p>
        </p:txBody>
      </p:sp>
      <p:sp>
        <p:nvSpPr>
          <p:cNvPr id="11" name="Rounded Rectangle 10"/>
          <p:cNvSpPr/>
          <p:nvPr/>
        </p:nvSpPr>
        <p:spPr>
          <a:xfrm>
            <a:off x="609600" y="23317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12800" y="26111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A</a:t>
            </a:r>
          </a:p>
        </p:txBody>
      </p:sp>
      <p:sp>
        <p:nvSpPr>
          <p:cNvPr id="13" name="TextBox 12"/>
          <p:cNvSpPr txBox="1"/>
          <p:nvPr/>
        </p:nvSpPr>
        <p:spPr>
          <a:xfrm>
            <a:off x="1244600" y="25222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Every feature a customer could ever want</a:t>
            </a:r>
          </a:p>
        </p:txBody>
      </p:sp>
      <p:sp>
        <p:nvSpPr>
          <p:cNvPr id="14" name="Rounded Rectangle 13"/>
          <p:cNvSpPr/>
          <p:nvPr/>
        </p:nvSpPr>
        <p:spPr>
          <a:xfrm>
            <a:off x="6197600" y="23317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400800" y="26111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B</a:t>
            </a:r>
          </a:p>
        </p:txBody>
      </p:sp>
      <p:sp>
        <p:nvSpPr>
          <p:cNvPr id="16" name="TextBox 15"/>
          <p:cNvSpPr txBox="1"/>
          <p:nvPr/>
        </p:nvSpPr>
        <p:spPr>
          <a:xfrm>
            <a:off x="6832600" y="2522219"/>
            <a:ext cx="4610100" cy="55372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The fewest tables and screens that let a first</a:t>
            </a:r>
          </a:p>
          <a:p>
            <a:pPr algn="l">
              <a:lnSpc>
                <a:spcPts val="2080"/>
              </a:lnSpc>
            </a:pPr>
            <a:r>
              <a:rPr sz="1600" b="0">
                <a:solidFill>
                  <a:srgbClr val="2C2C2A"/>
                </a:solidFill>
                <a:latin typeface="Lexend SemiBold"/>
              </a:rPr>
              <a:t>customer pay and use it</a:t>
            </a:r>
          </a:p>
        </p:txBody>
      </p:sp>
      <p:sp>
        <p:nvSpPr>
          <p:cNvPr id="17" name="Rounded Rectangle 16"/>
          <p:cNvSpPr/>
          <p:nvPr/>
        </p:nvSpPr>
        <p:spPr>
          <a:xfrm>
            <a:off x="609600" y="34620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12800" y="37414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C</a:t>
            </a:r>
          </a:p>
        </p:txBody>
      </p:sp>
      <p:sp>
        <p:nvSpPr>
          <p:cNvPr id="19" name="TextBox 18"/>
          <p:cNvSpPr txBox="1"/>
          <p:nvPr/>
        </p:nvSpPr>
        <p:spPr>
          <a:xfrm>
            <a:off x="1244600" y="36525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The sales page</a:t>
            </a:r>
          </a:p>
        </p:txBody>
      </p:sp>
      <p:sp>
        <p:nvSpPr>
          <p:cNvPr id="20" name="Rounded Rectangle 19"/>
          <p:cNvSpPr/>
          <p:nvPr/>
        </p:nvSpPr>
        <p:spPr>
          <a:xfrm>
            <a:off x="6197600" y="34620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400800" y="37414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D</a:t>
            </a:r>
          </a:p>
        </p:txBody>
      </p:sp>
      <p:sp>
        <p:nvSpPr>
          <p:cNvPr id="22" name="TextBox 21"/>
          <p:cNvSpPr txBox="1"/>
          <p:nvPr/>
        </p:nvSpPr>
        <p:spPr>
          <a:xfrm>
            <a:off x="6832600" y="36525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The list of rivals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Duties And The Lock Gate</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M04-L2 · About 6 Minutes</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M04 · v1 · Slide 13</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scripts/modules/M04.json · AF-UNDERSTANDING-2026-10-22.md, APP-FACTORY-FRAMEWORK.md,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target-2C2C2A.png"/>
          <p:cNvPicPr>
            <a:picLocks noChangeAspect="1"/>
          </p:cNvPicPr>
          <p:nvPr/>
        </p:nvPicPr>
        <p:blipFill>
          <a:blip r:embed="rId2"/>
          <a:stretch>
            <a:fillRect/>
          </a:stretch>
        </p:blipFill>
        <p:spPr>
          <a:xfrm>
            <a:off x="609600" y="2851150"/>
            <a:ext cx="1016000" cy="1016000"/>
          </a:xfrm>
          <a:prstGeom prst="rect">
            <a:avLst/>
          </a:prstGeom>
        </p:spPr>
      </p:pic>
      <p:sp>
        <p:nvSpPr>
          <p:cNvPr id="11" name="TextBox 10"/>
          <p:cNvSpPr txBox="1"/>
          <p:nvPr/>
        </p:nvSpPr>
        <p:spPr>
          <a:xfrm>
            <a:off x="2070100" y="2813050"/>
            <a:ext cx="9563100" cy="180848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You can explain the obligations ledger</a:t>
            </a:r>
          </a:p>
          <a:p>
            <a:pPr algn="l">
              <a:lnSpc>
                <a:spcPts val="4680"/>
              </a:lnSpc>
            </a:pPr>
            <a:r>
              <a:rPr sz="3600" b="1">
                <a:solidFill>
                  <a:srgbClr val="2C2C2A"/>
                </a:solidFill>
                <a:latin typeface="Lexend"/>
              </a:rPr>
              <a:t>and what must be true before the Lock</a:t>
            </a:r>
          </a:p>
          <a:p>
            <a:pPr algn="l">
              <a:lnSpc>
                <a:spcPts val="4680"/>
              </a:lnSpc>
            </a:pPr>
            <a:r>
              <a:rPr sz="3600" b="1">
                <a:solidFill>
                  <a:srgbClr val="2C2C2A"/>
                </a:solidFill>
                <a:latin typeface="Lexend"/>
              </a:rPr>
              <a:t>gate freezes the feature list.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Duties And The Lock Gate</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M04-L2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M04 · v1 · Slide 14</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scripts/modules/M04.json · AF-UNDERSTANDING-2026-10-22.md, APP-FACTORY-FRAMEWORK.md,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users-2C2C2A.png"/>
          <p:cNvPicPr>
            <a:picLocks noChangeAspect="1"/>
          </p:cNvPicPr>
          <p:nvPr/>
        </p:nvPicPr>
        <p:blipFill>
          <a:blip r:embed="rId2"/>
          <a:stretch>
            <a:fillRect/>
          </a:stretch>
        </p:blipFill>
        <p:spPr>
          <a:xfrm>
            <a:off x="609600" y="3020060"/>
            <a:ext cx="1016000" cy="1016000"/>
          </a:xfrm>
          <a:prstGeom prst="rect">
            <a:avLst/>
          </a:prstGeom>
        </p:spPr>
      </p:pic>
      <p:sp>
        <p:nvSpPr>
          <p:cNvPr id="11" name="TextBox 10"/>
          <p:cNvSpPr txBox="1"/>
          <p:nvPr/>
        </p:nvSpPr>
        <p:spPr>
          <a:xfrm>
            <a:off x="2070100" y="29819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A List Everyone Liked</a:t>
            </a:r>
          </a:p>
        </p:txBody>
      </p:sp>
      <p:sp>
        <p:nvSpPr>
          <p:cNvPr id="12" name="TextBox 11"/>
          <p:cNvSpPr txBox="1"/>
          <p:nvPr/>
        </p:nvSpPr>
        <p:spPr>
          <a:xfrm>
            <a:off x="2070100" y="3766820"/>
            <a:ext cx="9563100" cy="6858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Ava and her mum were planning Trimtable, our sample booking desk for dog</a:t>
            </a:r>
          </a:p>
          <a:p>
            <a:pPr algn="l">
              <a:lnSpc>
                <a:spcPts val="2600"/>
              </a:lnSpc>
            </a:pPr>
            <a:r>
              <a:rPr sz="2000" b="0">
                <a:solidFill>
                  <a:srgbClr val="756E65"/>
                </a:solidFill>
                <a:latin typeface="Lexend"/>
              </a:rPr>
              <a:t>groomers, with a salon called The Tidy Paw in mind.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Duties And The Lock Gate</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M04-L2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M04 · v1 · Slide 15</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scripts/modules/M04.json · AF-UNDERSTANDING-2026-10-22.md, APP-FACTORY-FRAMEWORK.md,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book-2C2C2A.png"/>
          <p:cNvPicPr>
            <a:picLocks noChangeAspect="1"/>
          </p:cNvPicPr>
          <p:nvPr/>
        </p:nvPicPr>
        <p:blipFill>
          <a:blip r:embed="rId2"/>
          <a:stretch>
            <a:fillRect/>
          </a:stretch>
        </p:blipFill>
        <p:spPr>
          <a:xfrm>
            <a:off x="609600" y="3020060"/>
            <a:ext cx="1016000" cy="1016000"/>
          </a:xfrm>
          <a:prstGeom prst="rect">
            <a:avLst/>
          </a:prstGeom>
        </p:spPr>
      </p:pic>
      <p:sp>
        <p:nvSpPr>
          <p:cNvPr id="11" name="TextBox 10"/>
          <p:cNvSpPr txBox="1"/>
          <p:nvPr/>
        </p:nvSpPr>
        <p:spPr>
          <a:xfrm>
            <a:off x="2070100" y="29819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Duties Come From A Shared Ledger</a:t>
            </a:r>
          </a:p>
        </p:txBody>
      </p:sp>
      <p:sp>
        <p:nvSpPr>
          <p:cNvPr id="12" name="TextBox 11"/>
          <p:cNvSpPr txBox="1"/>
          <p:nvPr/>
        </p:nvSpPr>
        <p:spPr>
          <a:xfrm>
            <a:off x="2070100" y="3766820"/>
            <a:ext cx="9563100" cy="6858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A duty, or obligation, is something that must exist or be done before a stage</a:t>
            </a:r>
          </a:p>
          <a:p>
            <a:pPr algn="l">
              <a:lnSpc>
                <a:spcPts val="2600"/>
              </a:lnSpc>
            </a:pPr>
            <a:r>
              <a:rPr sz="2000" b="0">
                <a:solidFill>
                  <a:srgbClr val="756E65"/>
                </a:solidFill>
                <a:latin typeface="Lexend"/>
              </a:rPr>
              <a:t>or a paid build can go ahead.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Duties And The Lock Gate</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M04-L2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M04 · v1 · Slide 16</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scripts/modules/M04.json · AF-UNDERSTANDING-2026-10-22.md, APP-FACTORY-FRAMEWORK.md,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clipboard-check-2C2C2A.png"/>
          <p:cNvPicPr>
            <a:picLocks noChangeAspect="1"/>
          </p:cNvPicPr>
          <p:nvPr/>
        </p:nvPicPr>
        <p:blipFill>
          <a:blip r:embed="rId2"/>
          <a:stretch>
            <a:fillRect/>
          </a:stretch>
        </p:blipFill>
        <p:spPr>
          <a:xfrm>
            <a:off x="609600" y="3020060"/>
            <a:ext cx="1016000" cy="1016000"/>
          </a:xfrm>
          <a:prstGeom prst="rect">
            <a:avLst/>
          </a:prstGeom>
        </p:spPr>
      </p:pic>
      <p:sp>
        <p:nvSpPr>
          <p:cNvPr id="11" name="TextBox 10"/>
          <p:cNvSpPr txBox="1"/>
          <p:nvPr/>
        </p:nvSpPr>
        <p:spPr>
          <a:xfrm>
            <a:off x="2070100" y="29819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The App Gets Its Own Ledger</a:t>
            </a:r>
          </a:p>
        </p:txBody>
      </p:sp>
      <p:sp>
        <p:nvSpPr>
          <p:cNvPr id="12" name="TextBox 11"/>
          <p:cNvSpPr txBox="1"/>
          <p:nvPr/>
        </p:nvSpPr>
        <p:spPr>
          <a:xfrm>
            <a:off x="2070100" y="3766820"/>
            <a:ext cx="9563100" cy="6858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At Stage 3 the app gets its own obligations ledger, section 3.7 of its</a:t>
            </a:r>
          </a:p>
          <a:p>
            <a:pPr algn="l">
              <a:lnSpc>
                <a:spcPts val="2600"/>
              </a:lnSpc>
            </a:pPr>
            <a:r>
              <a:rPr sz="2000" b="0">
                <a:solidFill>
                  <a:srgbClr val="756E65"/>
                </a:solidFill>
                <a:latin typeface="Lexend"/>
              </a:rPr>
              <a:t>document.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Duties And The Lock Gate</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M04-L2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M04 · v1 · Slide 17</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scripts/modules/M04.json · AF-UNDERSTANDING-2026-10-22.md, APP-FACTORY-FRAMEWORK.md,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user-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Some Duties Belong To One Person</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Some rows can only be done by a person, not an agent.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Duties And The Lock Gate</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M04-L2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M04 · v1 · Slide 18</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scripts/modules/M04.json · AF-UNDERSTANDING-2026-10-22.md, APP-FACTORY-FRAMEWORK.md,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alert-triangle-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Open Duties Block The Gate</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Here is the rule that gives the ledger its teeth.</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Duties And The Lock Gate</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M04-L2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M04 · v1 · Slide 19</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scripts/modules/M04.json · AF-UNDERSTANDING-2026-10-22.md, APP-FACTORY-FRAMEWORK.md,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gavel-2C2C2A.png"/>
          <p:cNvPicPr>
            <a:picLocks noChangeAspect="1"/>
          </p:cNvPicPr>
          <p:nvPr/>
        </p:nvPicPr>
        <p:blipFill>
          <a:blip r:embed="rId2"/>
          <a:stretch>
            <a:fillRect/>
          </a:stretch>
        </p:blipFill>
        <p:spPr>
          <a:xfrm>
            <a:off x="609600" y="3020060"/>
            <a:ext cx="1016000" cy="1016000"/>
          </a:xfrm>
          <a:prstGeom prst="rect">
            <a:avLst/>
          </a:prstGeom>
        </p:spPr>
      </p:pic>
      <p:sp>
        <p:nvSpPr>
          <p:cNvPr id="11" name="TextBox 10"/>
          <p:cNvSpPr txBox="1"/>
          <p:nvPr/>
        </p:nvSpPr>
        <p:spPr>
          <a:xfrm>
            <a:off x="2070100" y="29819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Named Payer And A Legal Check</a:t>
            </a:r>
          </a:p>
        </p:txBody>
      </p:sp>
      <p:sp>
        <p:nvSpPr>
          <p:cNvPr id="12" name="TextBox 11"/>
          <p:cNvSpPr txBox="1"/>
          <p:nvPr/>
        </p:nvSpPr>
        <p:spPr>
          <a:xfrm>
            <a:off x="2070100" y="3766820"/>
            <a:ext cx="9563100" cy="6858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The Lock gate sits between Stage 3 and Stage 4, and it has two firm</a:t>
            </a:r>
          </a:p>
          <a:p>
            <a:pPr algn="l">
              <a:lnSpc>
                <a:spcPts val="2600"/>
              </a:lnSpc>
            </a:pPr>
            <a:r>
              <a:rPr sz="2000" b="0">
                <a:solidFill>
                  <a:srgbClr val="756E65"/>
                </a:solidFill>
                <a:latin typeface="Lexend"/>
              </a:rPr>
              <a:t>conditions.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Duties And The Lock Gate</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M04-L2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M04 · v1 · Slide 20</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scripts/modules/M04.json · AF-UNDERSTANDING-2026-10-22.md, APP-FACTORY-FRAMEWORK.md,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lock-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A Person Always Decides At Lock</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There is a reason it is always a person.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Duties And The Lock Gate</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M04-L2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M04 · v1 · Slide 21</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scripts/modules/M04.json · AF-UNDERSTANDING-2026-10-22.md, APP-FACTORY-FRAMEWORK.md,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rocket-2C2C2A.png"/>
          <p:cNvPicPr>
            <a:picLocks noChangeAspect="1"/>
          </p:cNvPicPr>
          <p:nvPr/>
        </p:nvPicPr>
        <p:blipFill>
          <a:blip r:embed="rId2"/>
          <a:stretch>
            <a:fillRect/>
          </a:stretch>
        </p:blipFill>
        <p:spPr>
          <a:xfrm>
            <a:off x="609600" y="3020060"/>
            <a:ext cx="1016000" cy="1016000"/>
          </a:xfrm>
          <a:prstGeom prst="rect">
            <a:avLst/>
          </a:prstGeom>
        </p:spPr>
      </p:pic>
      <p:sp>
        <p:nvSpPr>
          <p:cNvPr id="11" name="TextBox 10"/>
          <p:cNvSpPr txBox="1"/>
          <p:nvPr/>
        </p:nvSpPr>
        <p:spPr>
          <a:xfrm>
            <a:off x="2070100" y="29819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After Lock, The App Becomes Real</a:t>
            </a:r>
          </a:p>
        </p:txBody>
      </p:sp>
      <p:sp>
        <p:nvSpPr>
          <p:cNvPr id="12" name="TextBox 11"/>
          <p:cNvSpPr txBox="1"/>
          <p:nvPr/>
        </p:nvSpPr>
        <p:spPr>
          <a:xfrm>
            <a:off x="2070100" y="3766820"/>
            <a:ext cx="9563100" cy="6858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Lock is also the moment the app is created on the build platform, with its</a:t>
            </a:r>
          </a:p>
          <a:p>
            <a:pPr algn="l">
              <a:lnSpc>
                <a:spcPts val="2600"/>
              </a:lnSpc>
            </a:pPr>
            <a:r>
              <a:rPr sz="2000" b="0">
                <a:solidFill>
                  <a:srgbClr val="756E65"/>
                </a:solidFill>
                <a:latin typeface="Lexend"/>
              </a:rPr>
              <a:t>own number and a short web name called a slug.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Recap</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Duties And The Lock Gate</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M04 · v1 · Slide 22</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scripts/modules/M04.json · AF-UNDERSTANDING-2026-10-22.md, APP-FACTORY-FRAMEWORK.md,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circle-check-217A2D.png"/>
          <p:cNvPicPr>
            <a:picLocks noChangeAspect="1"/>
          </p:cNvPicPr>
          <p:nvPr/>
        </p:nvPicPr>
        <p:blipFill>
          <a:blip r:embed="rId2"/>
          <a:stretch>
            <a:fillRect/>
          </a:stretch>
        </p:blipFill>
        <p:spPr>
          <a:xfrm>
            <a:off x="609600" y="1808479"/>
            <a:ext cx="304800" cy="304800"/>
          </a:xfrm>
          <a:prstGeom prst="rect">
            <a:avLst/>
          </a:prstGeom>
        </p:spPr>
      </p:pic>
      <p:sp>
        <p:nvSpPr>
          <p:cNvPr id="11" name="TextBox 10"/>
          <p:cNvSpPr txBox="1"/>
          <p:nvPr/>
        </p:nvSpPr>
        <p:spPr>
          <a:xfrm>
            <a:off x="1092200" y="1833879"/>
            <a:ext cx="105410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Every App Gets Its Own Obligations Ledger</a:t>
            </a:r>
          </a:p>
        </p:txBody>
      </p:sp>
      <p:pic>
        <p:nvPicPr>
          <p:cNvPr id="12" name="Picture 11" descr="circle-check-217A2D.png"/>
          <p:cNvPicPr>
            <a:picLocks noChangeAspect="1"/>
          </p:cNvPicPr>
          <p:nvPr/>
        </p:nvPicPr>
        <p:blipFill>
          <a:blip r:embed="rId2"/>
          <a:stretch>
            <a:fillRect/>
          </a:stretch>
        </p:blipFill>
        <p:spPr>
          <a:xfrm>
            <a:off x="609600" y="2316479"/>
            <a:ext cx="304800" cy="304800"/>
          </a:xfrm>
          <a:prstGeom prst="rect">
            <a:avLst/>
          </a:prstGeom>
        </p:spPr>
      </p:pic>
      <p:sp>
        <p:nvSpPr>
          <p:cNvPr id="13" name="TextBox 12"/>
          <p:cNvSpPr txBox="1"/>
          <p:nvPr/>
        </p:nvSpPr>
        <p:spPr>
          <a:xfrm>
            <a:off x="1092200" y="2341879"/>
            <a:ext cx="105410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Open Duties Due At A Gate Block It</a:t>
            </a:r>
          </a:p>
        </p:txBody>
      </p:sp>
      <p:pic>
        <p:nvPicPr>
          <p:cNvPr id="14" name="Picture 13" descr="circle-check-217A2D.png"/>
          <p:cNvPicPr>
            <a:picLocks noChangeAspect="1"/>
          </p:cNvPicPr>
          <p:nvPr/>
        </p:nvPicPr>
        <p:blipFill>
          <a:blip r:embed="rId2"/>
          <a:stretch>
            <a:fillRect/>
          </a:stretch>
        </p:blipFill>
        <p:spPr>
          <a:xfrm>
            <a:off x="609600" y="2824479"/>
            <a:ext cx="304800" cy="304800"/>
          </a:xfrm>
          <a:prstGeom prst="rect">
            <a:avLst/>
          </a:prstGeom>
        </p:spPr>
      </p:pic>
      <p:sp>
        <p:nvSpPr>
          <p:cNvPr id="15" name="TextBox 14"/>
          <p:cNvSpPr txBox="1"/>
          <p:nvPr/>
        </p:nvSpPr>
        <p:spPr>
          <a:xfrm>
            <a:off x="1092200" y="2849879"/>
            <a:ext cx="105410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Lock Needs A Named Payer, Legal Check And Yes</a:t>
            </a:r>
          </a:p>
        </p:txBody>
      </p:sp>
      <p:sp>
        <p:nvSpPr>
          <p:cNvPr id="16" name="Rounded Rectangle 15"/>
          <p:cNvSpPr/>
          <p:nvPr/>
        </p:nvSpPr>
        <p:spPr>
          <a:xfrm>
            <a:off x="609600" y="3459479"/>
            <a:ext cx="10972800" cy="852169"/>
          </a:xfrm>
          <a:prstGeom prst="roundRect">
            <a:avLst>
              <a:gd name="adj" fmla="val 35767"/>
            </a:avLst>
          </a:prstGeom>
          <a:solidFill>
            <a:srgbClr val="F2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609600" y="3459479"/>
            <a:ext cx="38100" cy="852169"/>
          </a:xfrm>
          <a:prstGeom prst="roundRect">
            <a:avLst>
              <a:gd name="adj" fmla="val 50000"/>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63600" y="3611879"/>
            <a:ext cx="3860800" cy="207010"/>
          </a:xfrm>
          <a:prstGeom prst="rect">
            <a:avLst/>
          </a:prstGeom>
          <a:noFill/>
        </p:spPr>
        <p:txBody>
          <a:bodyPr wrap="square" lIns="0" rIns="0" tIns="0" bIns="0" anchor="t">
            <a:noAutofit/>
          </a:bodyPr>
          <a:lstStyle/>
          <a:p>
            <a:pPr algn="l">
              <a:lnSpc>
                <a:spcPts val="1430"/>
              </a:lnSpc>
            </a:pPr>
            <a:r>
              <a:rPr sz="1100" b="1">
                <a:solidFill>
                  <a:srgbClr val="756E65"/>
                </a:solidFill>
                <a:latin typeface="Lexend"/>
              </a:rPr>
              <a:t>WHY IT MATTERS</a:t>
            </a:r>
          </a:p>
        </p:txBody>
      </p:sp>
      <p:sp>
        <p:nvSpPr>
          <p:cNvPr id="19" name="TextBox 18"/>
          <p:cNvSpPr txBox="1"/>
          <p:nvPr/>
        </p:nvSpPr>
        <p:spPr>
          <a:xfrm>
            <a:off x="863600" y="3853179"/>
            <a:ext cx="105156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Freezing The List Stops Drift And Surprise Costs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Quick Check</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Duties And The Lock Gate</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M04 · v1 · Slide 23</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scripts/modules/M04.json · AF-UNDERSTANDING-2026-10-22.md, APP-FACTORY-FRAMEWORK.md, OBLIGATIONS.csv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sp>
        <p:nvSpPr>
          <p:cNvPr id="10" name="TextBox 9"/>
          <p:cNvSpPr txBox="1"/>
          <p:nvPr/>
        </p:nvSpPr>
        <p:spPr>
          <a:xfrm>
            <a:off x="609600" y="1744979"/>
            <a:ext cx="11023600" cy="421640"/>
          </a:xfrm>
          <a:prstGeom prst="rect">
            <a:avLst/>
          </a:prstGeom>
          <a:noFill/>
        </p:spPr>
        <p:txBody>
          <a:bodyPr wrap="square" lIns="0" rIns="0" tIns="0" bIns="0" anchor="t">
            <a:noAutofit/>
          </a:bodyPr>
          <a:lstStyle/>
          <a:p>
            <a:pPr algn="l">
              <a:lnSpc>
                <a:spcPts val="3120"/>
              </a:lnSpc>
            </a:pPr>
            <a:r>
              <a:rPr sz="2400" b="1">
                <a:solidFill>
                  <a:srgbClr val="2C2C2A"/>
                </a:solidFill>
                <a:latin typeface="Lexend"/>
              </a:rPr>
              <a:t>What is OBLIGATIONS.csv?</a:t>
            </a:r>
          </a:p>
        </p:txBody>
      </p:sp>
      <p:sp>
        <p:nvSpPr>
          <p:cNvPr id="11" name="Rounded Rectangle 10"/>
          <p:cNvSpPr/>
          <p:nvPr/>
        </p:nvSpPr>
        <p:spPr>
          <a:xfrm>
            <a:off x="609600" y="23317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12800" y="26111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A</a:t>
            </a:r>
          </a:p>
        </p:txBody>
      </p:sp>
      <p:sp>
        <p:nvSpPr>
          <p:cNvPr id="13" name="TextBox 12"/>
          <p:cNvSpPr txBox="1"/>
          <p:nvPr/>
        </p:nvSpPr>
        <p:spPr>
          <a:xfrm>
            <a:off x="1244600" y="25222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A list of rival apps</a:t>
            </a:r>
          </a:p>
        </p:txBody>
      </p:sp>
      <p:sp>
        <p:nvSpPr>
          <p:cNvPr id="14" name="Rounded Rectangle 13"/>
          <p:cNvSpPr/>
          <p:nvPr/>
        </p:nvSpPr>
        <p:spPr>
          <a:xfrm>
            <a:off x="6197600" y="23317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400800" y="26111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B</a:t>
            </a:r>
          </a:p>
        </p:txBody>
      </p:sp>
      <p:sp>
        <p:nvSpPr>
          <p:cNvPr id="16" name="TextBox 15"/>
          <p:cNvSpPr txBox="1"/>
          <p:nvPr/>
        </p:nvSpPr>
        <p:spPr>
          <a:xfrm>
            <a:off x="6832600" y="25222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The app's price list</a:t>
            </a:r>
          </a:p>
        </p:txBody>
      </p:sp>
      <p:sp>
        <p:nvSpPr>
          <p:cNvPr id="17" name="Rounded Rectangle 16"/>
          <p:cNvSpPr/>
          <p:nvPr/>
        </p:nvSpPr>
        <p:spPr>
          <a:xfrm>
            <a:off x="609600" y="34620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12800" y="37414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C</a:t>
            </a:r>
          </a:p>
        </p:txBody>
      </p:sp>
      <p:sp>
        <p:nvSpPr>
          <p:cNvPr id="19" name="TextBox 18"/>
          <p:cNvSpPr txBox="1"/>
          <p:nvPr/>
        </p:nvSpPr>
        <p:spPr>
          <a:xfrm>
            <a:off x="1244600" y="3652519"/>
            <a:ext cx="4610100" cy="55372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A shared file of duties keyed to what causes</a:t>
            </a:r>
          </a:p>
          <a:p>
            <a:pPr algn="l">
              <a:lnSpc>
                <a:spcPts val="2080"/>
              </a:lnSpc>
            </a:pPr>
            <a:r>
              <a:rPr sz="1600" b="0">
                <a:solidFill>
                  <a:srgbClr val="2C2C2A"/>
                </a:solidFill>
                <a:latin typeface="Lexend SemiBold"/>
              </a:rPr>
              <a:t>them</a:t>
            </a:r>
          </a:p>
        </p:txBody>
      </p:sp>
      <p:sp>
        <p:nvSpPr>
          <p:cNvPr id="20" name="Rounded Rectangle 19"/>
          <p:cNvSpPr/>
          <p:nvPr/>
        </p:nvSpPr>
        <p:spPr>
          <a:xfrm>
            <a:off x="6197600" y="34620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400800" y="37414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D</a:t>
            </a:r>
          </a:p>
        </p:txBody>
      </p:sp>
      <p:sp>
        <p:nvSpPr>
          <p:cNvPr id="22" name="TextBox 21"/>
          <p:cNvSpPr txBox="1"/>
          <p:nvPr/>
        </p:nvSpPr>
        <p:spPr>
          <a:xfrm>
            <a:off x="6832600" y="36525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The sales page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