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free research sweep checks rivals, customer words, gaps, market size and the rules, and how a person decides at the Merit gate whether the idea is worth building.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Esme's neighbour runs Hollin Lane Kennels, a boarding kennel. Esme had heard her talk about inspection day, when an inspector checks the kennel's records, and she wanted to build Stayproof, an inspection pack for kennels. She was sure she knew what kennel owners needed: a smart dashboard with charts. But when she read what kennel owners actually wrote online, almost nobody mentioned charts. They wrote about logs scattered everywhere and panic the night before an inspection. Esme's lesson was clear. Research means listening to customers in their own words before you decide anything.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an idea passes Screen, it moves to Stage 1, Research, in the room of the same name. Like Stage 0, research is free: no build credits are spent. The goal is to find out whether real people need this app, what they already use, and what rules apply. The very first job is to check what the factory already owns. Earlier cards, research or mockups for the same idea are searched for by name, including old names, and linked to the card. There is no point researching from scratch what was already found last month.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comes the competitor sweep. A competitor, or rival, is any product people already use to solve the same problem. The sweep picks 3 to 5 rivals and records their prices and their reviews. The most useful reviews are the 1 and 2 star ones, because they show exactly what breaks and what annoys people. Every source is dated, so anyone can see how fresh it is. For Stayproof, the rivals might be general kennel software, paper record books and spreadsheets. Even a paper notebook counts as a rival, if that is what owners use today.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sweep then collects customer words. This means 10 exact phrases people use for the pain, and 10 for the result they want, copied from reviews and groups word for word. Their words, not ours. These phrases are used later for headlines, the sales page and the first screens a new user sees. Alongside them comes review mining: every complaint and feature request is quoted with its link and date, then counted by theme. The top ten themes come first. If forty reviews mention lost logs, that matters more than one clever idea of our own.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rivals and customer words in hand, we build a gap matrix. A gap matrix is a table. Its rows are features, taken from rivals and from what reviews ask for. Its columns are the rivals. Each box is marked to show one of three things: a feature missing everywhere, a feature customers ask for, or a feature done badly, judged by those 1 and 2 star reviews. The matrix ends with the 3 strongest gaps. Those gaps become our edge, meaning the reason a customer would choose this app instead of what they use now.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the market. Market size means roughly how many possible customers there are, and the trend means whether that number is growing or shrinking. Both must come with sources, never guesses. The audience data must also be lawful. That means using public counts, trade bodies, official company records and search trends, and never scraping people's personal details. Scraping means using a program to copy information off web pages in bulk. A factory that broke data rules while researching an app that must follow data rules would be building on sand.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comes the rules flag, short for the regulatory flag. A regulation is a law or official rule that a business must follow. The flag records which ones touch this idea, and whether any of them could stop it altogether. This line is done by a person, not a tool, because judging the law needs a human who understands it. For Stayproof, the flag would name the boarding licence rules, such as the England 2018 Regulations. For Litterline, it would name the dog breeding licence rules. The flag does not decide anything yet. It warns the next gate.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everything is pulled together into an idea code and a rank. The rank scores four things: market, profit, risk and confidence, which is how sure we are of the evidence. A one-page offer draft is also written, describing the dream customer, the pain in their words and what life looks like after. That page is used again at Stage 7 for the sales page. Esme's research turned a charts app into a logs and inspection app that kennel owners actually asked for. Now the research goes to a person at the Merit gate. First, a recap.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Low-star reviews show what breaks and what annoys people, which is where the gaps are.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Ruby is fourteen and had followed Litterline all the way through research. The rivals were checked, the customer words collected, and the gap matrix was clear. She wanted a quick yes so the building could start. Instead, the verdict came back RESHAPE, with one line: build it for clubs to resell from the very start, not as an extra later. Ruby was annoyed, until she read the reason and saw that it was right. A clear instruction to change one thing was worth far more than a vague yes that would have caused trouble later.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Merit is the gate between Stage 1, Research, and Stage 2, Base. Its question is: is it worth building? Everything from the research sweep is laid in front of the person who decides: the rivals, the customer words, the gap matrix, the market size, the rules flag and the rank. Before Merit can even be asked, every research line must be done, and the research section of the app's document must not say pending. Merit is the last gate before real work on the app begins, so it is the last cheap place to stop.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a person decide here, and not a tool? Because Merit is the regulatory and data protection kill. It asks whether the law, or the way the app handles people's data, makes the idea unsafe or unwise to build. In this factory the person at Merit is trained in law, and the rule books say plainly that no tool substitutes. For an app used by service businesses, the key question is whose data it holds. The engine has a setting that could let Merit pass on its own, but the rule books treat it as a person's decision.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Merit gives one of four verdicts: GO, HOLD, KILL or RESHAPE. They are not a list to pick from at random. They work as a decision tree, which means a short chain of questions asked in order. If the idea is good as it is, the verdict is GO. If not, ask: can you name what to change? If yes, the verdict is RESHAPE. If not, ask: can you name what to wait for? If yes, the verdict is HOLD. If you can name neither, the verdict is KILL. Every verdict is recorded with a date and a reason.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RESHAPE means the idea is worth something, but one part must change first. The idea keeps its id, which is its permanent number, and goes back to Reception to be reworked. Ruby's Litterline verdict was exactly this. HOLD means the idea is fine, but something outside it must happen first, and the verdict names that trigger, such as waiting for a new rule to be published. Simply waiting for a free building lane is not a HOLD. That is a queue, and a queue is not a verdict. Queues are handled later, at the Slot check.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KILL means the idea stops. It burns the id, which means that number is never handed to another idea. At Merit, no parts have been built yet, so a killed idea goes to the room called Recovery, with its reason kept as evidence. It can be looked at again later if something changes. There is another verdict, called RECYCLE, used when an app's parts go back on the shelves, but RECYCLE never applies at Merit. There are no parts to recycle yet. That is part of why stopping here costs so little.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one special hold to know about. If SEN, the sensitivity code, is 2 or 3, the app would hold health data or children's data. Such an idea is held until its DPIA, the written risk check, is done and signed, and the card stays on HOLD until then. The factory saves effort here: a base DPIA is written once for the shared core, and each new app built from it adds a one-page add-on. Some rules come with it, such as photos being private by default and children's details never being public.</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verdict is GO, it must be carried. A verdict given on a screen is not enough. The rule is simple: a move writes, or it did not happen. In the same session, the verdict is written onto the card and into the app register, the list of every app. The app's folder is copied from the factory template, and the idea leaves the board of decisions waiting. Now it is a real app at Stage 2, Base. Litterline went back, was reshaped for clubs, and later came through Merit with a GO. Let us recap.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Merit asks whether the idea is worth building, after the research is done.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Stage 1 · Research</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260096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The Research</a:t>
            </a:r>
          </a:p>
          <a:p>
            <a:pPr algn="l">
              <a:lnSpc>
                <a:spcPts val="6760"/>
              </a:lnSpc>
            </a:pPr>
            <a:r>
              <a:rPr sz="5200" b="1">
                <a:solidFill>
                  <a:srgbClr val="2C2C2A"/>
                </a:solidFill>
                <a:latin typeface="Lexend"/>
              </a:rPr>
              <a:t>Sweep, The Merit</a:t>
            </a:r>
          </a:p>
          <a:p>
            <a:pPr algn="l">
              <a:lnSpc>
                <a:spcPts val="6760"/>
              </a:lnSpc>
            </a:pPr>
            <a:r>
              <a:rPr sz="5200" b="1">
                <a:solidFill>
                  <a:srgbClr val="2C2C2A"/>
                </a:solidFill>
                <a:latin typeface="Lexend"/>
              </a:rPr>
              <a:t>Gate</a:t>
            </a:r>
          </a:p>
        </p:txBody>
      </p:sp>
      <p:sp>
        <p:nvSpPr>
          <p:cNvPr id="11" name="TextBox 10"/>
          <p:cNvSpPr txBox="1"/>
          <p:nvPr/>
        </p:nvSpPr>
        <p:spPr>
          <a:xfrm>
            <a:off x="609600" y="4955540"/>
            <a:ext cx="6400800" cy="13462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How the free research sweep checks rivals,</a:t>
            </a:r>
          </a:p>
          <a:p>
            <a:pPr algn="l">
              <a:lnSpc>
                <a:spcPts val="2600"/>
              </a:lnSpc>
            </a:pPr>
            <a:r>
              <a:rPr sz="2000" b="0">
                <a:solidFill>
                  <a:srgbClr val="756E65"/>
                </a:solidFill>
                <a:latin typeface="Lexend"/>
              </a:rPr>
              <a:t>customer words, gaps, market size and the rules,</a:t>
            </a:r>
          </a:p>
          <a:p>
            <a:pPr algn="l">
              <a:lnSpc>
                <a:spcPts val="2600"/>
              </a:lnSpc>
            </a:pPr>
            <a:r>
              <a:rPr sz="2000" b="0">
                <a:solidFill>
                  <a:srgbClr val="756E65"/>
                </a:solidFill>
                <a:latin typeface="Lexend"/>
              </a:rPr>
              <a:t>and how a person decides at the Merit gate</a:t>
            </a:r>
          </a:p>
          <a:p>
            <a:pPr algn="l">
              <a:lnSpc>
                <a:spcPts val="2600"/>
              </a:lnSpc>
            </a:pPr>
            <a:r>
              <a:rPr sz="2000" b="0">
                <a:solidFill>
                  <a:srgbClr val="756E65"/>
                </a:solidFill>
                <a:latin typeface="Lexend"/>
              </a:rPr>
              <a:t>whether the idea is worth building.</a:t>
            </a:r>
          </a:p>
        </p:txBody>
      </p:sp>
      <p:pic>
        <p:nvPicPr>
          <p:cNvPr id="12" name="Picture 11" descr="search-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Research Sweep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M02-L1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list the parts of the research</a:t>
            </a:r>
          </a:p>
          <a:p>
            <a:pPr algn="l">
              <a:lnSpc>
                <a:spcPts val="4680"/>
              </a:lnSpc>
            </a:pPr>
            <a:r>
              <a:rPr sz="3600" b="1">
                <a:solidFill>
                  <a:srgbClr val="2C2C2A"/>
                </a:solidFill>
                <a:latin typeface="Lexend"/>
              </a:rPr>
              <a:t>sweep and explain why customers' own</a:t>
            </a:r>
          </a:p>
          <a:p>
            <a:pPr algn="l">
              <a:lnSpc>
                <a:spcPts val="4680"/>
              </a:lnSpc>
            </a:pPr>
            <a:r>
              <a:rPr sz="3600" b="1">
                <a:solidFill>
                  <a:srgbClr val="2C2C2A"/>
                </a:solidFill>
                <a:latin typeface="Lexend"/>
              </a:rPr>
              <a:t>words come before our own ideas.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Research Sweep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dog-2C2C2A.png"/>
          <p:cNvPicPr>
            <a:picLocks noChangeAspect="1"/>
          </p:cNvPicPr>
          <p:nvPr/>
        </p:nvPicPr>
        <p:blipFill>
          <a:blip r:embed="rId2"/>
          <a:stretch>
            <a:fillRect/>
          </a:stretch>
        </p:blipFill>
        <p:spPr>
          <a:xfrm>
            <a:off x="609600" y="2887979"/>
            <a:ext cx="1016000" cy="1016000"/>
          </a:xfrm>
          <a:prstGeom prst="rect">
            <a:avLst/>
          </a:prstGeom>
        </p:spPr>
      </p:pic>
      <p:sp>
        <p:nvSpPr>
          <p:cNvPr id="11" name="TextBox 10"/>
          <p:cNvSpPr txBox="1"/>
          <p:nvPr/>
        </p:nvSpPr>
        <p:spPr>
          <a:xfrm>
            <a:off x="2070100" y="284987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Esme Expected Charts, Owners Wanted</a:t>
            </a:r>
          </a:p>
          <a:p>
            <a:pPr algn="l">
              <a:lnSpc>
                <a:spcPts val="4680"/>
              </a:lnSpc>
            </a:pPr>
            <a:r>
              <a:rPr sz="3600" b="1">
                <a:solidFill>
                  <a:srgbClr val="2C2C2A"/>
                </a:solidFill>
                <a:latin typeface="Lexend"/>
              </a:rPr>
              <a:t>Logs</a:t>
            </a:r>
          </a:p>
        </p:txBody>
      </p:sp>
      <p:sp>
        <p:nvSpPr>
          <p:cNvPr id="12" name="TextBox 11"/>
          <p:cNvSpPr txBox="1"/>
          <p:nvPr/>
        </p:nvSpPr>
        <p:spPr>
          <a:xfrm>
            <a:off x="2070100" y="422910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Esme's neighbour runs Hollin Lane Kennels, a boarding kennel.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Research Sweep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earch-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First, Check What We Already Own</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Once an idea passes Screen, it moves to Stage 1, Research, in the room of</a:t>
            </a:r>
          </a:p>
          <a:p>
            <a:pPr algn="l">
              <a:lnSpc>
                <a:spcPts val="2600"/>
              </a:lnSpc>
            </a:pPr>
            <a:r>
              <a:rPr sz="2000" b="0">
                <a:solidFill>
                  <a:srgbClr val="756E65"/>
                </a:solidFill>
                <a:latin typeface="Lexend"/>
              </a:rPr>
              <a:t>the same name.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Research Sweep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Competitor Sweep: 3-5 Rivals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Next comes the competitor sweep.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Research Sweep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message-cod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Customer Words, Exactly As Written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sweep then collects customer words.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Research Sweep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ble-option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Gap Matrix Finds Our Edge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With rivals and customer words in hand, we build a gap matrix.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Research Sweep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hart-lin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Market Size, Trend And Lawful Data</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Next, the market.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Research Sweep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gavel-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Rules Flag Warns The Gate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Then comes the rules flag, short for the regulatory flag.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Research Sweep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rending-up-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Rank: Market, Profit, Risk, Confidence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Finally, everything is pulled together into an idea code and a rank.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Research Sweep</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Check What We Already Own First</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Collect Rivals, Reviews And Customers' Exact Words</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Gap Matrix, Market, Rules Flag, Then Rank</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Customers' Own Words Beat Our Own Guesses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Research Sweep</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Which reviews does the competitor sweep look at most closely?</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5 star reviews</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4 star reviews</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3 star reviews</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1 and 2 star reviews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Merit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2851150"/>
            <a:ext cx="1016000" cy="1016000"/>
          </a:xfrm>
          <a:prstGeom prst="rect">
            <a:avLst/>
          </a:prstGeom>
        </p:spPr>
      </p:pic>
      <p:sp>
        <p:nvSpPr>
          <p:cNvPr id="11" name="TextBox 10"/>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explain the four Merit verdicts</a:t>
            </a:r>
          </a:p>
          <a:p>
            <a:pPr algn="l">
              <a:lnSpc>
                <a:spcPts val="4680"/>
              </a:lnSpc>
            </a:pPr>
            <a:r>
              <a:rPr sz="3600" b="1">
                <a:solidFill>
                  <a:srgbClr val="2C2C2A"/>
                </a:solidFill>
                <a:latin typeface="Lexend"/>
              </a:rPr>
              <a:t>as a decision tree, say why a person</a:t>
            </a:r>
          </a:p>
          <a:p>
            <a:pPr algn="l">
              <a:lnSpc>
                <a:spcPts val="4680"/>
              </a:lnSpc>
            </a:pPr>
            <a:r>
              <a:rPr sz="3600" b="1">
                <a:solidFill>
                  <a:srgbClr val="2C2C2A"/>
                </a:solidFill>
                <a:latin typeface="Lexend"/>
              </a:rPr>
              <a:t>decides and describe the DPIA hold.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Merit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rrow-back-up-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Ruby Wanted Yes, Got RESHAPE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Ruby is fourteen and had followed Litterline all the way through research.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Merit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cal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Merit Asks: Is It Worth Building</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Merit is the gate between Stage 1, Research, and Stage 2, Base.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Merit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Why A Person Decides At Merit</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Why does a person decide here, and not a tool?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Merit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ist-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Four Verdicts As A Decision Tree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Merit gives one of four verdicts: GO, HOLD, KILL or RESHAPE.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Merit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hourglass-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RESHAPE Changes, HOLD Waits</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RESHAPE means the idea is worth something, but one part must change</a:t>
            </a:r>
          </a:p>
          <a:p>
            <a:pPr algn="l">
              <a:lnSpc>
                <a:spcPts val="2600"/>
              </a:lnSpc>
            </a:pPr>
            <a:r>
              <a:rPr sz="2000" b="0">
                <a:solidFill>
                  <a:srgbClr val="756E65"/>
                </a:solidFill>
                <a:latin typeface="Lexend"/>
              </a:rPr>
              <a:t>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Merit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19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archiv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KILL At Merit Goes To Recovery</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KILL means the idea stops.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Merit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20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shield-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The DPIA Hold For High SEN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There is one special hold to know about.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The Merit Gate</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M02-L2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21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GO Must Be Carried And Written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When the verdict is GO, it must be carried.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Merit Gate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22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Merit Asks: Is It Worth Building</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GO, HOLD, KILL Or RESHAPE, As A Decision Tree</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SEN (0-3) At 2 Or More Needs A DPIA</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A Person Judges The Law Before Anything Is Built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The Merit Gate</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M02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scripts/modules/M02.json · AF-UNDERSTANDING-2026-10-22.md, APP-FACTORY-FRAMEWORK.md,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question does the Merit gate ask?</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Start work on this idea?</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Freeze the feature list?</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Is it worth building?</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Open it to real users?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