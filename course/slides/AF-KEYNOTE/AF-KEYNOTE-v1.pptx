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 you for being here. In the next twenty minutes or so, I'm going to show you how an app gets made in a factory rather than in a back bedroom. You'll see the road every idea travels, the gates where a real person checks the work, the walls that keep your customers' data apart, and how your business can start with one short form. One thing before we begin: every business, person and number you'll see today is invented. Some of the screens show where the factory is heading by 2029, and those are clearly labelled as a vision, not today's figures. Nothing here is anyone's private data. So sit back, and let's walk through the factory together, from the front door to the radar that watches every live app.</a:t>
            </a:r>
          </a:p>
          <a:p/>
          <a:p>
            <a:r>
              <a:t>Framework beat: Title Hook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my promise to you. By the end of this talk, you'll know the nine stages an app goes through, from a one-line idea to a live app with paying customers. You'll know the gates where a person says yes or no, and why those gates save you money. You'll know what the factory needs from you, and it isn't code. And you'll know exactly what you could do on Monday morning to start. You don't need to be technical. You don't need to know what a database is. What you need is to know your customers: who they are, what they pay for, and what keeps them up at night. That part only you can bring, and the factory is built to turn that knowledge into a working app.</a:t>
            </a:r>
          </a:p>
          <a:p/>
          <a:p>
            <a:r>
              <a:t>Framework beat: Promise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who is this for? It's for owners of service businesses with repeat customers: people who come back every month, every season or every litter. It's especially for businesses where a licence or a rulebook shapes the work, like breeders, boarding kennels, groomers and clinics, because rules are exactly where a well-built app earns its keep. It's for anyone who wants their own name and colours on the screen rather than someone else's logo. And it's honestly not for everyone. If you want a novelty app that people open once and forget, the factory will stop it at the very first gate. That isn't harsh. It's the factory protecting your money before a single credit is spent.</a:t>
            </a:r>
          </a:p>
          <a:p/>
          <a:p>
            <a:r>
              <a:t>Framework beat: Who It's For / Not For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where this started. And a note for whoever presents this: this story is to be checked with Lisa before use. I run animal businesses, and I trained as a solicitor, so rules and records are part of my everyday life. I wanted simple tools for my own clients. Every app I paid for was hand-made from nothing. Each one had different gaps. When I asked a simple question, 'can one customer ever see another customer's records?', nobody could give me a straight answer with proof. And none of those apps learned anything from the one before. That was my wall. I had good ideas, and I had customers who wanted them, but I had fragile apps and no way to trust them.</a:t>
            </a:r>
          </a:p>
          <a:p/>
          <a:p>
            <a:r>
              <a:t>Framework beat: Origin Story · Epiphany Bridge: Backstory, Desire, Wall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it clicked. Car makers don't hand-carve every car. They have a production line, standard parts and an inspection at every station, and every car that rolls off the line is better because of the ones before it. So I stopped trying to build apps, and I built the factory that builds them. One road with nine stages. A shelf of proven parts that we call bricks. And a gate between every stage, where the work is checked before it's allowed to move on. Each new app reuses what the last one proved. When something goes wrong, the fix becomes a new line on the checklist, so it can't happen again. That's the plan you're about to see.</a:t>
            </a:r>
          </a:p>
          <a:p/>
          <a:p>
            <a:r>
              <a:t>Framework beat: Origin Story · Epiphany Bridge: Epiphany, Plan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from today, make it this one. A factory with gates is what makes a custom app safe, fast and affordable. Here's why. A problem caught at the idea stage costs a short conversation. The same problem caught while building costs credits and time. Caught after launch, it costs customers, money and trust, and sometimes a call from a regulator. So the factory refuses to move an app forward until the evidence for that stage is there. Every stage has a finished-when line, and every gate checks it. That discipline is what lets one small team ship many apps without cutting corners, and it's what lets you trust the app with your customers.</a:t>
            </a:r>
          </a:p>
          <a:p/>
          <a:p>
            <a:r>
              <a:t>Framework beat: The One 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there are three beliefs that stop business owners from getting the app they need, and I want to break each one. The first is about the vehicle: the belief that every app has to be invented from nothing, so it must be slow and expensive. The second is about you: the belief that you need to be technical, or hire someone technical, to get an app made. The third is about the world outside: the belief that safety, privacy and the law are someone else's problem, to be sorted out later. Each of the next sections takes one of those beliefs and shows you what the factory does instead. Let's start with the vehicle.</a:t>
            </a:r>
          </a:p>
          <a:p/>
          <a:p>
            <a:r>
              <a:t>Framework beat: 3 Secrets Overview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one. Apps are assembled, not invented. Every app is built from bricks: small, proven parts, each one already tested in other apps. There are one hundred and one bricks in the register today, and they sit on eight shelves. BASICS is the floor that every app gets: sign-in and menus. Boundaries holds the walls between businesses, customers and the public. Bucks handles plans and payments. Body is everything your customers actually see, like bookings and records. Brand swaps the name, colours and logo. Boost gets you found, with public pages and reviews. Brains works things out, like scores and reports. And Bots run on their own, sending reminders and doing imports. Bricks then group into kits, numbered K00 to K08: a booking kit, a client portal kit, a breeding records kit.</a:t>
            </a:r>
          </a:p>
          <a:p/>
          <a:p>
            <a:r>
              <a:t>Framework beat: Secret 1 · Vehicle: Teach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every app travels the same road. Stage zero is your idea, sitting in reception. Stage one is research: competitors, customer words, market size and any rules that apply. Stage two picks a base to start from. Stage three chooses the features, and who sees what. Stage four builds the tables, the structure that holds the data. Stage five sets up test businesses and test people. Stage six writes the build prompts, and this is the only stage that spends paid build credits. Stage seven is launch, with a sales page and your domain. Stage eight is operate, where the app is watched every single day. Between stages sit the gates, and six of them need a person's yes. Notice that nothing is spent until the plan is locked.</a:t>
            </a:r>
          </a:p>
          <a:p/>
          <a:p>
            <a:r>
              <a:t>Framework beat: Secret 1 · Vehicle: Proof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two. You don't need to be technical; you need to be clear. Your part starts with one form. It asks for your vision in a sentence, who pays, and the pain you solve for them. Then it asks twenty short code questions, in plain words. For example: can a stranger read anything without signing in? Can one person belong to two businesses? Six of those questions must be answered. The rest are allowed to say 'not yet known', and the factory will find out. Then come three kill questions: could it give wrong answers that look right, would people use it once and stop, and is there no reason to come back. Finally the factory suggests a verdict, pass, hold or kill, and the data role: who is responsible for the personal data.</a:t>
            </a:r>
          </a:p>
          <a:p/>
          <a:p>
            <a:r>
              <a:t>Framework beat: Secret 2 · Internal: Teach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twenty answers become a code: a word plus a number for each part. They sit in four groups, from the inside out. Businesses: how many businesses use the app and who sits above them, from TEN zero, no data stored, up to TEN six, several governing bodies. Who signs in: whether staff have different roles, whether guests can be let in, how people join. Customers: how deep the app goes into your customers, from staff-only records up to customers selling to each other, and how sensitive the data is, from ordinary to children's data. And public: what a stranger can see or send without signing in. Together these numbers tell the factory exactly which walls your app needs, before anyone builds a thing.</a:t>
            </a:r>
          </a:p>
          <a:p/>
          <a:p>
            <a:r>
              <a:t>Framework beat: Secret 2 · Internal: Proof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three. Safety and the law are built in, not bolted on at the end. The factory has eight walls, and each app gets the ones its codes call for. The brand wall means one business can never see another business's data, even inside the same app. The member wall means one customer can never see another customer's records. The public wall controls exactly what a signed-out stranger can read or submit. And the sensitivity hold stops any app that handles health or children's data until a proper data protection impact check has been done and signed. These walls aren't promises in a brochure. As you're about to see, they're tested, again and again, from outside the app.</a:t>
            </a:r>
          </a:p>
          <a:p/>
          <a:p>
            <a:r>
              <a:t>Framework beat: Secret 3 · External: Teach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they're tested. Every time the builder does paid work, six things happen, in this order, every single time. First we record what was done. Second we check what it cost, and whether anything should be refunded. Third we publish. Fourth we re-probe every table, to make sure nothing has opened up. Fifth we test as real members: an existing member and a brand-new member of each brand do the app's main job from start to finish. Then a member of brand A deliberately tries to read brand B's records, and that test must fail. Sixth, and only then, the step is marked done. If anything leaks at any point, the build stops until it's fixed and proved.</a:t>
            </a:r>
          </a:p>
          <a:p/>
          <a:p>
            <a:r>
              <a:t>Framework beat: Secret 3 · External: Proof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where this is heading. These are vision figures for 2029, clearly illustrative, not today's numbers. The target set for the factory is one new app a day, for three years. That adds up to roughly a thousand live apps. Every one of them is probed for leaks every morning at twenty to seven, on every table. Every one is watched on the radar for problems and for money: is it earning more than it costs? And the person running the factory only sees real decisions. The decide queue is capped at ten, so nothing important gets buried under noise. That's what a factory buys you: scale without losing care.</a:t>
            </a:r>
          </a:p>
          <a:p/>
          <a:p>
            <a:r>
              <a:t>Framework beat: Future Pacing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2029 picture of automation. Every step you see runs by itself: the research sweep, the tables, the test data, the build prompts and the launch pages. The only human touch points are the gates. Screen, where the idea is first judged. Merit, where research says it's worth building. Lock, where the feature list is frozen. Invest, where credits are committed. Send, where the build is proved live. And Launch, where real customers are let in. Those are the moments where judgement, law and money decisions live. A machine can prepare everything for them, but a person should still say yes. That balance is deliberate, and it's what keeps the factory trustworthy.</a:t>
            </a:r>
          </a:p>
          <a:p/>
          <a:p>
            <a:r>
              <a:t>Framework beat: Future Pacing · Proof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an invented example of one app in many brands. Litterline is a licence and records hub for dog breeders: litters, health records, kennel logs and the evidence a council inspector asks for. Under the LJR7 brand, it's sold directly. Under the Puppy Classroom jacket, it's exactly the same app with a different name, colours and join link, sold to Puppy Classroom's own audience. And under your brand, it's yours: your name, your colours, your domain. Nothing is rebuilt for each brand. The Brand shelf swaps the jacket, and the walls keep every brand's members completely apart. That's what white-label means in the factory: one app, built once, worn by many brands.</a:t>
            </a:r>
          </a:p>
          <a:p/>
          <a:p>
            <a:r>
              <a:t>Framework beat: Case Study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matters a lot for resellers. A reseller brand never offers a free plan. Your landing page button carries both your brand and the plan, for example join, slash, ppp, with plan equals plus-yearly. The member signs in first and pays second, so nobody pays without an account. When they come back from sign-in, the server checks that the plan really belongs to your brand, and it refuses a free plan on a reseller brand. It records the chosen plan against the member, even if they abandon checkout, so you can follow up. And the price is never read from the web address, so nobody can edit a link to pay less. Each payment is stamped with the brand that made the sale.</a:t>
            </a:r>
          </a:p>
          <a:p/>
          <a:p>
            <a:r>
              <a:t>Framework beat: Case Study · Rule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you actually get? First, a real review of your idea at the Screen and Merit gates, instead of guesswork. Second, a research pack: competitors, the market and any rules that apply, instead of weeks of searching. Third, your app itself, assembled from proven bricks and kits instead of a hand-made build. Fourth, walls and leak tests before any customer arrives, instead of hoping it's safe. Fifth, a launch kit: a sales page, your domain and your funnels, instead of hiring a separate agency. And sixth, a daily watch: leak probes, monitoring and a rescue lane if anything breaks, instead of finding out from an angry customer. Prices are set separately, so they're not shown here.</a:t>
            </a:r>
          </a:p>
          <a:p/>
          <a:p>
            <a:r>
              <a:t>Framework beat: The Stack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ways in, and you can start wherever fits. You can learn how it all works with this course. You can send one idea through the idea form and get an honest verdict. You can have your app built through the factory. If you have an audience of your own, like members, clients or a club, you can put your brand on apps for them with a reseller plan. And if you simply know businesses that need this, you can share a partner link. Each step leads naturally to the next, but none of them forces it. The best place for most people to start is the idea form, because it costs nothing to fill in.</a:t>
            </a:r>
          </a:p>
          <a:p/>
          <a:p>
            <a:r>
              <a:t>Framework beat: Value Ladder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you have two choices. The first is to carry on as you are: paper forms, spreadsheets, and apps that don't talk to each other, with records scattered everywhere when the inspector calls. That choice costs nothing today, but it keeps costing you time every week. The second choice is to take ten minutes, send one idea through the form, and let the factory tell you honestly whether it's worth building. If it isn't, you'll know why, and you'll have saved money. If it is, you'll see exactly what it would take. Either way, you'll leave knowing more than you did this morning, and the decision stays yours.</a:t>
            </a:r>
          </a:p>
          <a:p/>
          <a:p>
            <a:r>
              <a:t>Framework beat: Two Choices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to take the next step. One: fill in the idea form. The link is on screen, and it takes about ten minutes. Two: if you'd like your own brand on these apps for your members or clients, ask about a reseller plan. Three: if you know another business that's struggling with paper and rules, share your partner link with them. I want to be clear about one thing. I make no income promises, to you or to anyone. What you get out of an app, a reseller plan or a partner link depends on your own business and your own effort. What I can promise is that the factory will treat your idea with care.</a:t>
            </a:r>
          </a:p>
          <a:p/>
          <a:p>
            <a:r>
              <a:t>Framework beat: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recap. Apps are assembled from one hundred and one proven bricks on eight shelves, not invented from nothing. Your part is a form: your vision, who pays, the pain, and twenty plain questions. Walls and leak tests are built in, and they run after every paid step, from outside the app. And a person decides at the gates that matter, where judgement, law and money meet. Why does it matter? Because gates catch problems while they're still cheap, so your customers never meet them. Thank you so much for your time today. I'd love to hear your questions, and if you have an idea already, the form is waiting for you.</a:t>
            </a:r>
          </a:p>
          <a:p/>
          <a:p>
            <a:r>
              <a:t>Framework beat: Recap ·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0.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27.png"/><Relationship Id="rId7" Type="http://schemas.openxmlformats.org/officeDocument/2006/relationships/image" Target="../media/image34.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21.png"/><Relationship Id="rId5" Type="http://schemas.openxmlformats.org/officeDocument/2006/relationships/image" Target="../media/image37.png"/><Relationship Id="rId6" Type="http://schemas.openxmlformats.org/officeDocument/2006/relationships/image" Target="../media/image12.png"/><Relationship Id="rId7" Type="http://schemas.openxmlformats.org/officeDocument/2006/relationships/image" Target="../media/image11.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37.png"/><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28.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4.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43.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6.png"/><Relationship Id="rId4" Type="http://schemas.openxmlformats.org/officeDocument/2006/relationships/image" Target="../media/image43.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LJR7 App Factory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Business Keynote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15600" y="457200"/>
            <a:ext cx="10604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10850" y="489584"/>
            <a:ext cx="11112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22 Minutes</a:t>
            </a:r>
          </a:p>
        </p:txBody>
      </p:sp>
      <p:sp>
        <p:nvSpPr>
          <p:cNvPr id="7" name="Rectangle 6"/>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9" name="TextBox 8"/>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a:t>
            </a:r>
          </a:p>
        </p:txBody>
      </p:sp>
      <p:sp>
        <p:nvSpPr>
          <p:cNvPr id="10" name="TextBox 9"/>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1" name="TextBox 10"/>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2" name="TextBox 11"/>
          <p:cNvSpPr txBox="1"/>
          <p:nvPr/>
        </p:nvSpPr>
        <p:spPr>
          <a:xfrm>
            <a:off x="609600" y="2252979"/>
            <a:ext cx="7035800" cy="174244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From Idea To Live</a:t>
            </a:r>
          </a:p>
          <a:p>
            <a:pPr algn="l">
              <a:lnSpc>
                <a:spcPts val="6760"/>
              </a:lnSpc>
            </a:pPr>
            <a:r>
              <a:rPr sz="5200" b="1">
                <a:solidFill>
                  <a:srgbClr val="2C2C2A"/>
                </a:solidFill>
                <a:latin typeface="Lexend"/>
              </a:rPr>
              <a:t>App, Every Day</a:t>
            </a:r>
          </a:p>
        </p:txBody>
      </p:sp>
      <p:sp>
        <p:nvSpPr>
          <p:cNvPr id="13" name="TextBox 12"/>
          <p:cNvSpPr txBox="1"/>
          <p:nvPr/>
        </p:nvSpPr>
        <p:spPr>
          <a:xfrm>
            <a:off x="609600" y="4097020"/>
            <a:ext cx="64008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A Factory Builds Safe, Branded Apps For Your</a:t>
            </a:r>
          </a:p>
          <a:p>
            <a:pPr algn="l">
              <a:lnSpc>
                <a:spcPts val="2600"/>
              </a:lnSpc>
            </a:pPr>
            <a:r>
              <a:rPr sz="2000" b="0">
                <a:solidFill>
                  <a:srgbClr val="756E65"/>
                </a:solidFill>
                <a:latin typeface="Lexend"/>
              </a:rPr>
              <a:t>Business</a:t>
            </a:r>
          </a:p>
        </p:txBody>
      </p:sp>
      <p:pic>
        <p:nvPicPr>
          <p:cNvPr id="14" name="Picture 13" descr="building-factory-2-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Promise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What You Leave With Today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One Clear Path From Your Idea To An</a:t>
            </a:r>
          </a:p>
          <a:p>
            <a:pPr algn="l">
              <a:lnSpc>
                <a:spcPts val="4680"/>
              </a:lnSpc>
            </a:pPr>
            <a:r>
              <a:rPr sz="3600" b="1">
                <a:solidFill>
                  <a:srgbClr val="2C2C2A"/>
                </a:solidFill>
                <a:latin typeface="Lexend"/>
              </a:rPr>
              <a:t>App Your Customers Use</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No Code. No Guesswork. Every Step Checked.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Who This Is For</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And Who It Isn't</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2" name="Picture 11" descr="circle-x-2C2C2A.png"/>
          <p:cNvPicPr>
            <a:picLocks noChangeAspect="1"/>
          </p:cNvPicPr>
          <p:nvPr/>
        </p:nvPicPr>
        <p:blipFill>
          <a:blip r:embed="rId2"/>
          <a:stretch>
            <a:fillRect/>
          </a:stretch>
        </p:blipFill>
        <p:spPr>
          <a:xfrm>
            <a:off x="1181100" y="5930900"/>
            <a:ext cx="177800" cy="177800"/>
          </a:xfrm>
          <a:prstGeom prst="rect">
            <a:avLst/>
          </a:prstGeom>
        </p:spPr>
      </p:pic>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A Kill Answer: The Factory Stops These Early</a:t>
            </a:r>
          </a:p>
        </p:txBody>
      </p:sp>
      <p:sp>
        <p:nvSpPr>
          <p:cNvPr id="14" name="Rounded Rectangle 13"/>
          <p:cNvSpPr/>
          <p:nvPr/>
        </p:nvSpPr>
        <p:spPr>
          <a:xfrm>
            <a:off x="609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uilding-store-2C2C2A.png"/>
          <p:cNvPicPr>
            <a:picLocks noChangeAspect="1"/>
          </p:cNvPicPr>
          <p:nvPr/>
        </p:nvPicPr>
        <p:blipFill>
          <a:blip r:embed="rId3"/>
          <a:stretch>
            <a:fillRect/>
          </a:stretch>
        </p:blipFill>
        <p:spPr>
          <a:xfrm>
            <a:off x="812800" y="2024379"/>
            <a:ext cx="355600" cy="355600"/>
          </a:xfrm>
          <a:prstGeom prst="rect">
            <a:avLst/>
          </a:prstGeom>
        </p:spPr>
      </p:pic>
      <p:sp>
        <p:nvSpPr>
          <p:cNvPr id="16" name="TextBox 15"/>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For You If</a:t>
            </a:r>
          </a:p>
        </p:txBody>
      </p:sp>
      <p:sp>
        <p:nvSpPr>
          <p:cNvPr id="17" name="TextBox 16"/>
          <p:cNvSpPr txBox="1"/>
          <p:nvPr/>
        </p:nvSpPr>
        <p:spPr>
          <a:xfrm>
            <a:off x="812800" y="2838449"/>
            <a:ext cx="2235200" cy="71882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Run A Service</a:t>
            </a:r>
          </a:p>
          <a:p>
            <a:pPr algn="l">
              <a:lnSpc>
                <a:spcPts val="1820"/>
              </a:lnSpc>
            </a:pPr>
            <a:r>
              <a:rPr sz="1400" b="0">
                <a:solidFill>
                  <a:srgbClr val="756E65"/>
                </a:solidFill>
                <a:latin typeface="Lexend"/>
              </a:rPr>
              <a:t>Business With Repeat</a:t>
            </a:r>
          </a:p>
          <a:p>
            <a:pPr algn="l">
              <a:lnSpc>
                <a:spcPts val="1820"/>
              </a:lnSpc>
            </a:pPr>
            <a:r>
              <a:rPr sz="1400" b="0">
                <a:solidFill>
                  <a:srgbClr val="756E65"/>
                </a:solidFill>
                <a:latin typeface="Lexend"/>
              </a:rPr>
              <a:t>Customers</a:t>
            </a:r>
          </a:p>
        </p:txBody>
      </p:sp>
      <p:sp>
        <p:nvSpPr>
          <p:cNvPr id="18" name="Rounded Rectangle 17"/>
          <p:cNvSpPr/>
          <p:nvPr/>
        </p:nvSpPr>
        <p:spPr>
          <a:xfrm>
            <a:off x="3403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icense-2C2C2A.png"/>
          <p:cNvPicPr>
            <a:picLocks noChangeAspect="1"/>
          </p:cNvPicPr>
          <p:nvPr/>
        </p:nvPicPr>
        <p:blipFill>
          <a:blip r:embed="rId4"/>
          <a:stretch>
            <a:fillRect/>
          </a:stretch>
        </p:blipFill>
        <p:spPr>
          <a:xfrm>
            <a:off x="3606800" y="2024379"/>
            <a:ext cx="355600" cy="355600"/>
          </a:xfrm>
          <a:prstGeom prst="rect">
            <a:avLst/>
          </a:prstGeom>
        </p:spPr>
      </p:pic>
      <p:sp>
        <p:nvSpPr>
          <p:cNvPr id="20" name="TextBox 19"/>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For You If</a:t>
            </a:r>
          </a:p>
        </p:txBody>
      </p:sp>
      <p:sp>
        <p:nvSpPr>
          <p:cNvPr id="21" name="TextBox 20"/>
          <p:cNvSpPr txBox="1"/>
          <p:nvPr/>
        </p:nvSpPr>
        <p:spPr>
          <a:xfrm>
            <a:off x="3606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Rules Or Licences Shape</a:t>
            </a:r>
          </a:p>
          <a:p>
            <a:pPr algn="l">
              <a:lnSpc>
                <a:spcPts val="1820"/>
              </a:lnSpc>
            </a:pPr>
            <a:r>
              <a:rPr sz="1400" b="0">
                <a:solidFill>
                  <a:srgbClr val="756E65"/>
                </a:solidFill>
                <a:latin typeface="Lexend"/>
              </a:rPr>
              <a:t>Your Work</a:t>
            </a:r>
          </a:p>
        </p:txBody>
      </p:sp>
      <p:sp>
        <p:nvSpPr>
          <p:cNvPr id="22" name="Rounded Rectangle 21"/>
          <p:cNvSpPr/>
          <p:nvPr/>
        </p:nvSpPr>
        <p:spPr>
          <a:xfrm>
            <a:off x="6197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alette-2C2C2A.png"/>
          <p:cNvPicPr>
            <a:picLocks noChangeAspect="1"/>
          </p:cNvPicPr>
          <p:nvPr/>
        </p:nvPicPr>
        <p:blipFill>
          <a:blip r:embed="rId5"/>
          <a:stretch>
            <a:fillRect/>
          </a:stretch>
        </p:blipFill>
        <p:spPr>
          <a:xfrm>
            <a:off x="6400800" y="2024379"/>
            <a:ext cx="355600" cy="355600"/>
          </a:xfrm>
          <a:prstGeom prst="rect">
            <a:avLst/>
          </a:prstGeom>
        </p:spPr>
      </p:pic>
      <p:sp>
        <p:nvSpPr>
          <p:cNvPr id="24" name="TextBox 23"/>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For You If</a:t>
            </a:r>
          </a:p>
        </p:txBody>
      </p:sp>
      <p:sp>
        <p:nvSpPr>
          <p:cNvPr id="25" name="TextBox 24"/>
          <p:cNvSpPr txBox="1"/>
          <p:nvPr/>
        </p:nvSpPr>
        <p:spPr>
          <a:xfrm>
            <a:off x="6400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Want Your Own</a:t>
            </a:r>
          </a:p>
          <a:p>
            <a:pPr algn="l">
              <a:lnSpc>
                <a:spcPts val="1820"/>
              </a:lnSpc>
            </a:pPr>
            <a:r>
              <a:rPr sz="1400" b="0">
                <a:solidFill>
                  <a:srgbClr val="756E65"/>
                </a:solidFill>
                <a:latin typeface="Lexend"/>
              </a:rPr>
              <a:t>Brand On The App</a:t>
            </a:r>
          </a:p>
        </p:txBody>
      </p:sp>
      <p:sp>
        <p:nvSpPr>
          <p:cNvPr id="26" name="Rounded Rectangle 25"/>
          <p:cNvSpPr/>
          <p:nvPr/>
        </p:nvSpPr>
        <p:spPr>
          <a:xfrm>
            <a:off x="8991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circle-x-2C2C2A.png"/>
          <p:cNvPicPr>
            <a:picLocks noChangeAspect="1"/>
          </p:cNvPicPr>
          <p:nvPr/>
        </p:nvPicPr>
        <p:blipFill>
          <a:blip r:embed="rId2"/>
          <a:stretch>
            <a:fillRect/>
          </a:stretch>
        </p:blipFill>
        <p:spPr>
          <a:xfrm>
            <a:off x="9194800" y="2024379"/>
            <a:ext cx="355600" cy="355600"/>
          </a:xfrm>
          <a:prstGeom prst="rect">
            <a:avLst/>
          </a:prstGeom>
        </p:spPr>
      </p:pic>
      <p:sp>
        <p:nvSpPr>
          <p:cNvPr id="28" name="TextBox 27"/>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Not For You If</a:t>
            </a:r>
          </a:p>
        </p:txBody>
      </p:sp>
      <p:sp>
        <p:nvSpPr>
          <p:cNvPr id="29" name="TextBox 28"/>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Want A One-Off Toy</a:t>
            </a:r>
          </a:p>
          <a:p>
            <a:pPr algn="l">
              <a:lnSpc>
                <a:spcPts val="1820"/>
              </a:lnSpc>
            </a:pPr>
            <a:r>
              <a:rPr sz="1400" b="0">
                <a:solidFill>
                  <a:srgbClr val="756E65"/>
                </a:solidFill>
                <a:latin typeface="Lexend"/>
              </a:rPr>
              <a:t>Nobody Returns 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This Started</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Backstory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33050" y="457200"/>
            <a:ext cx="114300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28300" y="489584"/>
            <a:ext cx="119380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Lisa's Story</a:t>
            </a:r>
          </a:p>
        </p:txBody>
      </p:sp>
      <p:sp>
        <p:nvSpPr>
          <p:cNvPr id="7" name="Rectangle 6"/>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9" name="TextBox 8"/>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4</a:t>
            </a:r>
          </a:p>
        </p:txBody>
      </p:sp>
      <p:sp>
        <p:nvSpPr>
          <p:cNvPr id="10" name="TextBox 9"/>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1" name="TextBox 10"/>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2" name="Picture 11" descr="book-2C2C2A.png"/>
          <p:cNvPicPr>
            <a:picLocks noChangeAspect="1"/>
          </p:cNvPicPr>
          <p:nvPr/>
        </p:nvPicPr>
        <p:blipFill>
          <a:blip r:embed="rId2"/>
          <a:stretch>
            <a:fillRect/>
          </a:stretch>
        </p:blipFill>
        <p:spPr>
          <a:xfrm>
            <a:off x="609600" y="2887979"/>
            <a:ext cx="1016000" cy="1016000"/>
          </a:xfrm>
          <a:prstGeom prst="rect">
            <a:avLst/>
          </a:prstGeom>
        </p:spPr>
      </p:pic>
      <p:sp>
        <p:nvSpPr>
          <p:cNvPr id="13" name="TextBox 12"/>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I Kept Paying For Apps That Were Built</a:t>
            </a:r>
          </a:p>
          <a:p>
            <a:pPr algn="l">
              <a:lnSpc>
                <a:spcPts val="4680"/>
              </a:lnSpc>
            </a:pPr>
            <a:r>
              <a:rPr sz="3600" b="1">
                <a:solidFill>
                  <a:srgbClr val="2C2C2A"/>
                </a:solidFill>
                <a:latin typeface="Lexend"/>
              </a:rPr>
              <a:t>Once And Then Left To Break</a:t>
            </a:r>
          </a:p>
        </p:txBody>
      </p:sp>
      <p:sp>
        <p:nvSpPr>
          <p:cNvPr id="14" name="TextBox 13"/>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Each One Started From Scratch. None Of Them Learned From The Last.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Moment It Changed</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Epiphany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lb-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Stop Building Apps. Build The Factory</a:t>
            </a:r>
          </a:p>
          <a:p>
            <a:pPr algn="l">
              <a:lnSpc>
                <a:spcPts val="4680"/>
              </a:lnSpc>
            </a:pPr>
            <a:r>
              <a:rPr sz="3600" b="1">
                <a:solidFill>
                  <a:srgbClr val="2C2C2A"/>
                </a:solidFill>
                <a:latin typeface="Lexend"/>
              </a:rPr>
              <a:t>That Builds Them.</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Same Road, Same Checks, Same Parts, Every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One Thing</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If You Remember One Slide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key-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Factory With Gates Is What Makes A</a:t>
            </a:r>
          </a:p>
          <a:p>
            <a:pPr algn="l">
              <a:lnSpc>
                <a:spcPts val="4680"/>
              </a:lnSpc>
            </a:pPr>
            <a:r>
              <a:rPr sz="3600" b="1">
                <a:solidFill>
                  <a:srgbClr val="2C2C2A"/>
                </a:solidFill>
                <a:latin typeface="Lexend"/>
              </a:rPr>
              <a:t>Custom App Safe, Fast And Affordable</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Gates Catch Problems While They Are Still Cheap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Three Things Most People Get Wrong</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Three Secrets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ox-2C2C2A.png"/>
          <p:cNvPicPr>
            <a:picLocks noChangeAspect="1"/>
          </p:cNvPicPr>
          <p:nvPr/>
        </p:nvPicPr>
        <p:blipFill>
          <a:blip r:embed="rId2"/>
          <a:stretch>
            <a:fillRect/>
          </a:stretch>
        </p:blipFill>
        <p:spPr>
          <a:xfrm>
            <a:off x="812800" y="2024379"/>
            <a:ext cx="355600" cy="355600"/>
          </a:xfrm>
          <a:prstGeom prst="rect">
            <a:avLst/>
          </a:prstGeom>
        </p:spPr>
      </p:pic>
      <p:sp>
        <p:nvSpPr>
          <p:cNvPr id="12" name="TextBox 11"/>
          <p:cNvSpPr txBox="1"/>
          <p:nvPr/>
        </p:nvSpPr>
        <p:spPr>
          <a:xfrm>
            <a:off x="812800"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1 · The Vehicle</a:t>
            </a:r>
          </a:p>
        </p:txBody>
      </p:sp>
      <p:sp>
        <p:nvSpPr>
          <p:cNvPr id="13" name="TextBox 12"/>
          <p:cNvSpPr txBox="1"/>
          <p:nvPr/>
        </p:nvSpPr>
        <p:spPr>
          <a:xfrm>
            <a:off x="812800"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Apps Are Assembled From Proven</a:t>
            </a:r>
          </a:p>
          <a:p>
            <a:pPr algn="l">
              <a:lnSpc>
                <a:spcPts val="1820"/>
              </a:lnSpc>
            </a:pPr>
            <a:r>
              <a:rPr sz="1400" b="0">
                <a:solidFill>
                  <a:srgbClr val="756E65"/>
                </a:solidFill>
                <a:latin typeface="Lexend"/>
              </a:rPr>
              <a:t>Parts, Not Invented</a:t>
            </a:r>
          </a:p>
        </p:txBody>
      </p:sp>
      <p:sp>
        <p:nvSpPr>
          <p:cNvPr id="14" name="Rounded Rectangle 13"/>
          <p:cNvSpPr/>
          <p:nvPr/>
        </p:nvSpPr>
        <p:spPr>
          <a:xfrm>
            <a:off x="4334933"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user-2C2C2A.png"/>
          <p:cNvPicPr>
            <a:picLocks noChangeAspect="1"/>
          </p:cNvPicPr>
          <p:nvPr/>
        </p:nvPicPr>
        <p:blipFill>
          <a:blip r:embed="rId3"/>
          <a:stretch>
            <a:fillRect/>
          </a:stretch>
        </p:blipFill>
        <p:spPr>
          <a:xfrm>
            <a:off x="4538133" y="2024379"/>
            <a:ext cx="355600" cy="355600"/>
          </a:xfrm>
          <a:prstGeom prst="rect">
            <a:avLst/>
          </a:prstGeom>
        </p:spPr>
      </p:pic>
      <p:sp>
        <p:nvSpPr>
          <p:cNvPr id="16" name="TextBox 15"/>
          <p:cNvSpPr txBox="1"/>
          <p:nvPr/>
        </p:nvSpPr>
        <p:spPr>
          <a:xfrm>
            <a:off x="4538133"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2 · You</a:t>
            </a:r>
          </a:p>
        </p:txBody>
      </p:sp>
      <p:sp>
        <p:nvSpPr>
          <p:cNvPr id="17" name="TextBox 16"/>
          <p:cNvSpPr txBox="1"/>
          <p:nvPr/>
        </p:nvSpPr>
        <p:spPr>
          <a:xfrm>
            <a:off x="4538133"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Don't Need To Be Technical,</a:t>
            </a:r>
          </a:p>
          <a:p>
            <a:pPr algn="l">
              <a:lnSpc>
                <a:spcPts val="1820"/>
              </a:lnSpc>
            </a:pPr>
            <a:r>
              <a:rPr sz="1400" b="0">
                <a:solidFill>
                  <a:srgbClr val="756E65"/>
                </a:solidFill>
                <a:latin typeface="Lexend"/>
              </a:rPr>
              <a:t>Just Clear</a:t>
            </a:r>
          </a:p>
        </p:txBody>
      </p:sp>
      <p:sp>
        <p:nvSpPr>
          <p:cNvPr id="18" name="Rounded Rectangle 17"/>
          <p:cNvSpPr/>
          <p:nvPr/>
        </p:nvSpPr>
        <p:spPr>
          <a:xfrm>
            <a:off x="8060266"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hield-check-2C2C2A.png"/>
          <p:cNvPicPr>
            <a:picLocks noChangeAspect="1"/>
          </p:cNvPicPr>
          <p:nvPr/>
        </p:nvPicPr>
        <p:blipFill>
          <a:blip r:embed="rId4"/>
          <a:stretch>
            <a:fillRect/>
          </a:stretch>
        </p:blipFill>
        <p:spPr>
          <a:xfrm>
            <a:off x="8263466" y="2024379"/>
            <a:ext cx="355600" cy="355600"/>
          </a:xfrm>
          <a:prstGeom prst="rect">
            <a:avLst/>
          </a:prstGeom>
        </p:spPr>
      </p:pic>
      <p:sp>
        <p:nvSpPr>
          <p:cNvPr id="20" name="TextBox 19"/>
          <p:cNvSpPr txBox="1"/>
          <p:nvPr/>
        </p:nvSpPr>
        <p:spPr>
          <a:xfrm>
            <a:off x="8263466"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3 · The World</a:t>
            </a:r>
          </a:p>
        </p:txBody>
      </p:sp>
      <p:sp>
        <p:nvSpPr>
          <p:cNvPr id="21" name="TextBox 20"/>
          <p:cNvSpPr txBox="1"/>
          <p:nvPr/>
        </p:nvSpPr>
        <p:spPr>
          <a:xfrm>
            <a:off x="8263466"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Safe And Legal Is Built In, Not</a:t>
            </a:r>
          </a:p>
          <a:p>
            <a:pPr algn="l">
              <a:lnSpc>
                <a:spcPts val="1820"/>
              </a:lnSpc>
            </a:pPr>
            <a:r>
              <a:rPr sz="1400" b="0">
                <a:solidFill>
                  <a:srgbClr val="756E65"/>
                </a:solidFill>
                <a:latin typeface="Lexend"/>
              </a:rPr>
              <a:t>Bolted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1 · Eight Shelves Of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App Is Assembled From The Same Shelves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BRICK-LAYERS-AND-COLOUR-SPINE-2026-09-19.md · BRICK-REGISTRY.csv v0.16 (101 bricks)</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sp>
        <p:nvSpPr>
          <p:cNvPr id="12" name="Rounded Rectangle 11"/>
          <p:cNvSpPr/>
          <p:nvPr/>
        </p:nvSpPr>
        <p:spPr>
          <a:xfrm>
            <a:off x="1181100" y="5956300"/>
            <a:ext cx="165100" cy="139700"/>
          </a:xfrm>
          <a:prstGeom prst="roundRect">
            <a:avLst>
              <a:gd name="adj" fmla="val 18181"/>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Top Band = Shelf Colour</a:t>
            </a:r>
          </a:p>
        </p:txBody>
      </p:sp>
      <p:pic>
        <p:nvPicPr>
          <p:cNvPr id="14" name="Picture 13" descr="box-2C2C2A.png"/>
          <p:cNvPicPr>
            <a:picLocks noChangeAspect="1"/>
          </p:cNvPicPr>
          <p:nvPr/>
        </p:nvPicPr>
        <p:blipFill>
          <a:blip r:embed="rId2"/>
          <a:stretch>
            <a:fillRect/>
          </a:stretch>
        </p:blipFill>
        <p:spPr>
          <a:xfrm>
            <a:off x="3475831" y="5930900"/>
            <a:ext cx="177800" cy="177800"/>
          </a:xfrm>
          <a:prstGeom prst="rect">
            <a:avLst/>
          </a:prstGeom>
        </p:spPr>
      </p:pic>
      <p:sp>
        <p:nvSpPr>
          <p:cNvPr id="15" name="TextBox 14"/>
          <p:cNvSpPr txBox="1"/>
          <p:nvPr/>
        </p:nvSpPr>
        <p:spPr>
          <a:xfrm>
            <a:off x="3729831"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Each Shelf Has Its Own Icon</a:t>
            </a:r>
          </a:p>
        </p:txBody>
      </p:sp>
      <p:sp>
        <p:nvSpPr>
          <p:cNvPr id="16" name="Rounded Rectangle 15"/>
          <p:cNvSpPr/>
          <p:nvPr/>
        </p:nvSpPr>
        <p:spPr>
          <a:xfrm>
            <a:off x="609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 Same Side Corner Rectangle 16"/>
          <p:cNvSpPr/>
          <p:nvPr/>
        </p:nvSpPr>
        <p:spPr>
          <a:xfrm>
            <a:off x="746760" y="1795779"/>
            <a:ext cx="2316480" cy="76200"/>
          </a:xfrm>
          <a:prstGeom prst="round2Same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x-2C2C2A.png"/>
          <p:cNvPicPr>
            <a:picLocks noChangeAspect="1"/>
          </p:cNvPicPr>
          <p:nvPr/>
        </p:nvPicPr>
        <p:blipFill>
          <a:blip r:embed="rId2"/>
          <a:stretch>
            <a:fillRect/>
          </a:stretch>
        </p:blipFill>
        <p:spPr>
          <a:xfrm>
            <a:off x="812800" y="2024379"/>
            <a:ext cx="355600" cy="355600"/>
          </a:xfrm>
          <a:prstGeom prst="rect">
            <a:avLst/>
          </a:prstGeom>
        </p:spPr>
      </p:pic>
      <p:sp>
        <p:nvSpPr>
          <p:cNvPr id="19" name="TextBox 18"/>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BASICS</a:t>
            </a:r>
          </a:p>
        </p:txBody>
      </p:sp>
      <p:sp>
        <p:nvSpPr>
          <p:cNvPr id="20" name="TextBox 19"/>
          <p:cNvSpPr txBox="1"/>
          <p:nvPr/>
        </p:nvSpPr>
        <p:spPr>
          <a:xfrm>
            <a:off x="812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Always: Sign-In, Menus</a:t>
            </a:r>
          </a:p>
        </p:txBody>
      </p:sp>
      <p:sp>
        <p:nvSpPr>
          <p:cNvPr id="21" name="Rounded Rectangle 20"/>
          <p:cNvSpPr/>
          <p:nvPr/>
        </p:nvSpPr>
        <p:spPr>
          <a:xfrm>
            <a:off x="3403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3540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ll-2C2C2A.png"/>
          <p:cNvPicPr>
            <a:picLocks noChangeAspect="1"/>
          </p:cNvPicPr>
          <p:nvPr/>
        </p:nvPicPr>
        <p:blipFill>
          <a:blip r:embed="rId3"/>
          <a:stretch>
            <a:fillRect/>
          </a:stretch>
        </p:blipFill>
        <p:spPr>
          <a:xfrm>
            <a:off x="3606800" y="2024379"/>
            <a:ext cx="355600" cy="355600"/>
          </a:xfrm>
          <a:prstGeom prst="rect">
            <a:avLst/>
          </a:prstGeom>
        </p:spPr>
      </p:pic>
      <p:sp>
        <p:nvSpPr>
          <p:cNvPr id="24" name="TextBox 23"/>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Boundaries</a:t>
            </a:r>
          </a:p>
        </p:txBody>
      </p:sp>
      <p:sp>
        <p:nvSpPr>
          <p:cNvPr id="25" name="TextBox 24"/>
          <p:cNvSpPr txBox="1"/>
          <p:nvPr/>
        </p:nvSpPr>
        <p:spPr>
          <a:xfrm>
            <a:off x="3606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Allowed: Walls, Roles</a:t>
            </a:r>
          </a:p>
        </p:txBody>
      </p:sp>
      <p:sp>
        <p:nvSpPr>
          <p:cNvPr id="26" name="Rounded Rectangle 25"/>
          <p:cNvSpPr/>
          <p:nvPr/>
        </p:nvSpPr>
        <p:spPr>
          <a:xfrm>
            <a:off x="6197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 Same Side Corner Rectangle 26"/>
          <p:cNvSpPr/>
          <p:nvPr/>
        </p:nvSpPr>
        <p:spPr>
          <a:xfrm>
            <a:off x="6334760" y="1795779"/>
            <a:ext cx="2316480" cy="76200"/>
          </a:xfrm>
          <a:prstGeom prst="round2SameRect">
            <a:avLst/>
          </a:prstGeom>
          <a:solidFill>
            <a:srgbClr val="C07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ash-2C2C2A.png"/>
          <p:cNvPicPr>
            <a:picLocks noChangeAspect="1"/>
          </p:cNvPicPr>
          <p:nvPr/>
        </p:nvPicPr>
        <p:blipFill>
          <a:blip r:embed="rId4"/>
          <a:stretch>
            <a:fillRect/>
          </a:stretch>
        </p:blipFill>
        <p:spPr>
          <a:xfrm>
            <a:off x="6400800" y="2024379"/>
            <a:ext cx="355600" cy="355600"/>
          </a:xfrm>
          <a:prstGeom prst="rect">
            <a:avLst/>
          </a:prstGeom>
        </p:spPr>
      </p:pic>
      <p:sp>
        <p:nvSpPr>
          <p:cNvPr id="29" name="TextBox 28"/>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Bucks</a:t>
            </a:r>
          </a:p>
        </p:txBody>
      </p:sp>
      <p:sp>
        <p:nvSpPr>
          <p:cNvPr id="30" name="TextBox 29"/>
          <p:cNvSpPr txBox="1"/>
          <p:nvPr/>
        </p:nvSpPr>
        <p:spPr>
          <a:xfrm>
            <a:off x="6400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Money: Plans, Payments</a:t>
            </a:r>
          </a:p>
        </p:txBody>
      </p:sp>
      <p:sp>
        <p:nvSpPr>
          <p:cNvPr id="31" name="Rounded Rectangle 30"/>
          <p:cNvSpPr/>
          <p:nvPr/>
        </p:nvSpPr>
        <p:spPr>
          <a:xfrm>
            <a:off x="8991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 Same Side Corner Rectangle 31"/>
          <p:cNvSpPr/>
          <p:nvPr/>
        </p:nvSpPr>
        <p:spPr>
          <a:xfrm>
            <a:off x="9128760" y="1795779"/>
            <a:ext cx="2316480" cy="76200"/>
          </a:xfrm>
          <a:prstGeom prst="round2SameRect">
            <a:avLst/>
          </a:prstGeom>
          <a:solidFill>
            <a:srgbClr val="B3A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ayout-dashboard-2C2C2A.png"/>
          <p:cNvPicPr>
            <a:picLocks noChangeAspect="1"/>
          </p:cNvPicPr>
          <p:nvPr/>
        </p:nvPicPr>
        <p:blipFill>
          <a:blip r:embed="rId5"/>
          <a:stretch>
            <a:fillRect/>
          </a:stretch>
        </p:blipFill>
        <p:spPr>
          <a:xfrm>
            <a:off x="9194800" y="2024379"/>
            <a:ext cx="355600" cy="355600"/>
          </a:xfrm>
          <a:prstGeom prst="rect">
            <a:avLst/>
          </a:prstGeom>
        </p:spPr>
      </p:pic>
      <p:sp>
        <p:nvSpPr>
          <p:cNvPr id="34" name="TextBox 33"/>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Body</a:t>
            </a:r>
          </a:p>
        </p:txBody>
      </p:sp>
      <p:sp>
        <p:nvSpPr>
          <p:cNvPr id="35" name="TextBox 34"/>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The Rest: Screens,</a:t>
            </a:r>
          </a:p>
          <a:p>
            <a:pPr algn="l">
              <a:lnSpc>
                <a:spcPts val="1820"/>
              </a:lnSpc>
            </a:pPr>
            <a:r>
              <a:rPr sz="1400" b="0">
                <a:solidFill>
                  <a:srgbClr val="756E65"/>
                </a:solidFill>
                <a:latin typeface="Lexend"/>
              </a:rPr>
              <a:t>Records</a:t>
            </a:r>
          </a:p>
        </p:txBody>
      </p:sp>
      <p:sp>
        <p:nvSpPr>
          <p:cNvPr id="36" name="Rounded Rectangle 35"/>
          <p:cNvSpPr/>
          <p:nvPr/>
        </p:nvSpPr>
        <p:spPr>
          <a:xfrm>
            <a:off x="609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 Same Side Corner Rectangle 36"/>
          <p:cNvSpPr/>
          <p:nvPr/>
        </p:nvSpPr>
        <p:spPr>
          <a:xfrm>
            <a:off x="746760" y="3757929"/>
            <a:ext cx="2316480"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alette-2C2C2A.png"/>
          <p:cNvPicPr>
            <a:picLocks noChangeAspect="1"/>
          </p:cNvPicPr>
          <p:nvPr/>
        </p:nvPicPr>
        <p:blipFill>
          <a:blip r:embed="rId6"/>
          <a:stretch>
            <a:fillRect/>
          </a:stretch>
        </p:blipFill>
        <p:spPr>
          <a:xfrm>
            <a:off x="812800" y="3986529"/>
            <a:ext cx="355600" cy="355600"/>
          </a:xfrm>
          <a:prstGeom prst="rect">
            <a:avLst/>
          </a:prstGeom>
        </p:spPr>
      </p:pic>
      <p:sp>
        <p:nvSpPr>
          <p:cNvPr id="39" name="TextBox 38"/>
          <p:cNvSpPr txBox="1"/>
          <p:nvPr/>
        </p:nvSpPr>
        <p:spPr>
          <a:xfrm>
            <a:off x="812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Brand</a:t>
            </a:r>
          </a:p>
        </p:txBody>
      </p:sp>
      <p:sp>
        <p:nvSpPr>
          <p:cNvPr id="40" name="TextBox 39"/>
          <p:cNvSpPr txBox="1"/>
          <p:nvPr/>
        </p:nvSpPr>
        <p:spPr>
          <a:xfrm>
            <a:off x="812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Swaps: Name, Colours</a:t>
            </a:r>
          </a:p>
        </p:txBody>
      </p:sp>
      <p:sp>
        <p:nvSpPr>
          <p:cNvPr id="41" name="Rounded Rectangle 40"/>
          <p:cNvSpPr/>
          <p:nvPr/>
        </p:nvSpPr>
        <p:spPr>
          <a:xfrm>
            <a:off x="3403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 Same Side Corner Rectangle 41"/>
          <p:cNvSpPr/>
          <p:nvPr/>
        </p:nvSpPr>
        <p:spPr>
          <a:xfrm>
            <a:off x="3540760" y="3757929"/>
            <a:ext cx="2316480" cy="76200"/>
          </a:xfrm>
          <a:prstGeom prst="round2SameRect">
            <a:avLst/>
          </a:prstGeom>
          <a:solidFill>
            <a:srgbClr val="40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trending-up-2C2C2A.png"/>
          <p:cNvPicPr>
            <a:picLocks noChangeAspect="1"/>
          </p:cNvPicPr>
          <p:nvPr/>
        </p:nvPicPr>
        <p:blipFill>
          <a:blip r:embed="rId7"/>
          <a:stretch>
            <a:fillRect/>
          </a:stretch>
        </p:blipFill>
        <p:spPr>
          <a:xfrm>
            <a:off x="3606800" y="3986529"/>
            <a:ext cx="355600" cy="355600"/>
          </a:xfrm>
          <a:prstGeom prst="rect">
            <a:avLst/>
          </a:prstGeom>
        </p:spPr>
      </p:pic>
      <p:sp>
        <p:nvSpPr>
          <p:cNvPr id="44" name="TextBox 43"/>
          <p:cNvSpPr txBox="1"/>
          <p:nvPr/>
        </p:nvSpPr>
        <p:spPr>
          <a:xfrm>
            <a:off x="3606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Boost</a:t>
            </a:r>
          </a:p>
        </p:txBody>
      </p:sp>
      <p:sp>
        <p:nvSpPr>
          <p:cNvPr id="45" name="TextBox 44"/>
          <p:cNvSpPr txBox="1"/>
          <p:nvPr/>
        </p:nvSpPr>
        <p:spPr>
          <a:xfrm>
            <a:off x="3606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Found: Pages, Reviews</a:t>
            </a:r>
          </a:p>
        </p:txBody>
      </p:sp>
      <p:sp>
        <p:nvSpPr>
          <p:cNvPr id="46" name="Rounded Rectangle 45"/>
          <p:cNvSpPr/>
          <p:nvPr/>
        </p:nvSpPr>
        <p:spPr>
          <a:xfrm>
            <a:off x="6197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 Same Side Corner Rectangle 46"/>
          <p:cNvSpPr/>
          <p:nvPr/>
        </p:nvSpPr>
        <p:spPr>
          <a:xfrm>
            <a:off x="6334760" y="3757929"/>
            <a:ext cx="2316480" cy="76200"/>
          </a:xfrm>
          <a:prstGeom prst="round2SameRect">
            <a:avLst/>
          </a:prstGeom>
          <a:solidFill>
            <a:srgbClr val="7A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brain-2C2C2A.png"/>
          <p:cNvPicPr>
            <a:picLocks noChangeAspect="1"/>
          </p:cNvPicPr>
          <p:nvPr/>
        </p:nvPicPr>
        <p:blipFill>
          <a:blip r:embed="rId8"/>
          <a:stretch>
            <a:fillRect/>
          </a:stretch>
        </p:blipFill>
        <p:spPr>
          <a:xfrm>
            <a:off x="6400800" y="3986529"/>
            <a:ext cx="355600" cy="355600"/>
          </a:xfrm>
          <a:prstGeom prst="rect">
            <a:avLst/>
          </a:prstGeom>
        </p:spPr>
      </p:pic>
      <p:sp>
        <p:nvSpPr>
          <p:cNvPr id="49" name="TextBox 48"/>
          <p:cNvSpPr txBox="1"/>
          <p:nvPr/>
        </p:nvSpPr>
        <p:spPr>
          <a:xfrm>
            <a:off x="6400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Brains</a:t>
            </a:r>
          </a:p>
        </p:txBody>
      </p:sp>
      <p:sp>
        <p:nvSpPr>
          <p:cNvPr id="50" name="TextBox 49"/>
          <p:cNvSpPr txBox="1"/>
          <p:nvPr/>
        </p:nvSpPr>
        <p:spPr>
          <a:xfrm>
            <a:off x="6400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Works It Out: Scoring</a:t>
            </a:r>
          </a:p>
        </p:txBody>
      </p:sp>
      <p:sp>
        <p:nvSpPr>
          <p:cNvPr id="51" name="Rounded Rectangle 50"/>
          <p:cNvSpPr/>
          <p:nvPr/>
        </p:nvSpPr>
        <p:spPr>
          <a:xfrm>
            <a:off x="8991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 Same Side Corner Rectangle 51"/>
          <p:cNvSpPr/>
          <p:nvPr/>
        </p:nvSpPr>
        <p:spPr>
          <a:xfrm>
            <a:off x="9128760" y="3757929"/>
            <a:ext cx="2316480" cy="76200"/>
          </a:xfrm>
          <a:prstGeom prst="round2SameRect">
            <a:avLst/>
          </a:prstGeom>
          <a:solidFill>
            <a:srgbClr val="8D6B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robot-2C2C2A.png"/>
          <p:cNvPicPr>
            <a:picLocks noChangeAspect="1"/>
          </p:cNvPicPr>
          <p:nvPr/>
        </p:nvPicPr>
        <p:blipFill>
          <a:blip r:embed="rId9"/>
          <a:stretch>
            <a:fillRect/>
          </a:stretch>
        </p:blipFill>
        <p:spPr>
          <a:xfrm>
            <a:off x="9194800" y="3986529"/>
            <a:ext cx="355600" cy="355600"/>
          </a:xfrm>
          <a:prstGeom prst="rect">
            <a:avLst/>
          </a:prstGeom>
        </p:spPr>
      </p:pic>
      <p:sp>
        <p:nvSpPr>
          <p:cNvPr id="54" name="TextBox 53"/>
          <p:cNvSpPr txBox="1"/>
          <p:nvPr/>
        </p:nvSpPr>
        <p:spPr>
          <a:xfrm>
            <a:off x="9194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Bots</a:t>
            </a:r>
          </a:p>
        </p:txBody>
      </p:sp>
      <p:sp>
        <p:nvSpPr>
          <p:cNvPr id="55" name="TextBox 54"/>
          <p:cNvSpPr txBox="1"/>
          <p:nvPr/>
        </p:nvSpPr>
        <p:spPr>
          <a:xfrm>
            <a:off x="9194800" y="4800600"/>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Alone: Reminders,</a:t>
            </a:r>
          </a:p>
          <a:p>
            <a:pPr algn="l">
              <a:lnSpc>
                <a:spcPts val="1820"/>
              </a:lnSpc>
            </a:pPr>
            <a:r>
              <a:rPr sz="1400" b="0">
                <a:solidFill>
                  <a:srgbClr val="756E65"/>
                </a:solidFill>
                <a:latin typeface="Lexend"/>
              </a:rPr>
              <a:t>Imports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1 · One Road, Nine Stages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Idea Travels The Same Road</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2" name="Picture 11" descr="user-2C2C2A.png"/>
          <p:cNvPicPr>
            <a:picLocks noChangeAspect="1"/>
          </p:cNvPicPr>
          <p:nvPr/>
        </p:nvPicPr>
        <p:blipFill>
          <a:blip r:embed="rId2"/>
          <a:stretch>
            <a:fillRect/>
          </a:stretch>
        </p:blipFill>
        <p:spPr>
          <a:xfrm>
            <a:off x="1181100" y="5930900"/>
            <a:ext cx="177800" cy="177800"/>
          </a:xfrm>
          <a:prstGeom prst="rect">
            <a:avLst/>
          </a:prstGeom>
        </p:spPr>
      </p:pic>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Person Decides</a:t>
            </a:r>
          </a:p>
        </p:txBody>
      </p:sp>
      <p:pic>
        <p:nvPicPr>
          <p:cNvPr id="14" name="Picture 13" descr="robot-2C2C2A.png"/>
          <p:cNvPicPr>
            <a:picLocks noChangeAspect="1"/>
          </p:cNvPicPr>
          <p:nvPr/>
        </p:nvPicPr>
        <p:blipFill>
          <a:blip r:embed="rId3"/>
          <a:stretch>
            <a:fillRect/>
          </a:stretch>
        </p:blipFill>
        <p:spPr>
          <a:xfrm>
            <a:off x="2846685" y="5930900"/>
            <a:ext cx="177800" cy="177800"/>
          </a:xfrm>
          <a:prstGeom prst="rect">
            <a:avLst/>
          </a:prstGeom>
        </p:spPr>
      </p:pic>
      <p:sp>
        <p:nvSpPr>
          <p:cNvPr id="15" name="TextBox 14"/>
          <p:cNvSpPr txBox="1"/>
          <p:nvPr/>
        </p:nvSpPr>
        <p:spPr>
          <a:xfrm>
            <a:off x="3100685"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Runs By Itself</a:t>
            </a:r>
          </a:p>
        </p:txBody>
      </p:sp>
      <p:sp>
        <p:nvSpPr>
          <p:cNvPr id="16" name="Rounded Rectangle 15"/>
          <p:cNvSpPr/>
          <p:nvPr/>
        </p:nvSpPr>
        <p:spPr>
          <a:xfrm>
            <a:off x="603250" y="1675129"/>
            <a:ext cx="1913423" cy="3995420"/>
          </a:xfrm>
          <a:prstGeom prst="roundRect">
            <a:avLst>
              <a:gd name="adj" fmla="val 2654"/>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AF-ROAD-9-STAGES-v1.png"/>
          <p:cNvPicPr>
            <a:picLocks noChangeAspect="1"/>
          </p:cNvPicPr>
          <p:nvPr/>
        </p:nvPicPr>
        <p:blipFill>
          <a:blip r:embed="rId4"/>
          <a:stretch>
            <a:fillRect/>
          </a:stretch>
        </p:blipFill>
        <p:spPr>
          <a:xfrm>
            <a:off x="609600" y="1681479"/>
            <a:ext cx="1900723" cy="3982720"/>
          </a:xfrm>
          <a:prstGeom prst="rect">
            <a:avLst/>
          </a:prstGeom>
        </p:spPr>
      </p:pic>
      <p:pic>
        <p:nvPicPr>
          <p:cNvPr id="18" name="Picture 17" descr="bulb-2C2C2A.png"/>
          <p:cNvPicPr>
            <a:picLocks noChangeAspect="1"/>
          </p:cNvPicPr>
          <p:nvPr/>
        </p:nvPicPr>
        <p:blipFill>
          <a:blip r:embed="rId5"/>
          <a:stretch>
            <a:fillRect/>
          </a:stretch>
        </p:blipFill>
        <p:spPr>
          <a:xfrm>
            <a:off x="2891323" y="1897379"/>
            <a:ext cx="228600" cy="228600"/>
          </a:xfrm>
          <a:prstGeom prst="rect">
            <a:avLst/>
          </a:prstGeom>
        </p:spPr>
      </p:pic>
      <p:sp>
        <p:nvSpPr>
          <p:cNvPr id="19" name="TextBox 18"/>
          <p:cNvSpPr txBox="1"/>
          <p:nvPr/>
        </p:nvSpPr>
        <p:spPr>
          <a:xfrm>
            <a:off x="3246923" y="1871979"/>
            <a:ext cx="8386276"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Starts As A Short Form</a:t>
            </a:r>
          </a:p>
        </p:txBody>
      </p:sp>
      <p:pic>
        <p:nvPicPr>
          <p:cNvPr id="20" name="Picture 19" descr="user-2C2C2A.png"/>
          <p:cNvPicPr>
            <a:picLocks noChangeAspect="1"/>
          </p:cNvPicPr>
          <p:nvPr/>
        </p:nvPicPr>
        <p:blipFill>
          <a:blip r:embed="rId2"/>
          <a:stretch>
            <a:fillRect/>
          </a:stretch>
        </p:blipFill>
        <p:spPr>
          <a:xfrm>
            <a:off x="2891323" y="2326640"/>
            <a:ext cx="228600" cy="228600"/>
          </a:xfrm>
          <a:prstGeom prst="rect">
            <a:avLst/>
          </a:prstGeom>
        </p:spPr>
      </p:pic>
      <p:sp>
        <p:nvSpPr>
          <p:cNvPr id="21" name="TextBox 20"/>
          <p:cNvSpPr txBox="1"/>
          <p:nvPr/>
        </p:nvSpPr>
        <p:spPr>
          <a:xfrm>
            <a:off x="3246923" y="2301240"/>
            <a:ext cx="8386276"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Person Decides At Six Gates</a:t>
            </a:r>
          </a:p>
        </p:txBody>
      </p:sp>
      <p:pic>
        <p:nvPicPr>
          <p:cNvPr id="22" name="Picture 21" descr="coin-2C2C2A.png"/>
          <p:cNvPicPr>
            <a:picLocks noChangeAspect="1"/>
          </p:cNvPicPr>
          <p:nvPr/>
        </p:nvPicPr>
        <p:blipFill>
          <a:blip r:embed="rId6"/>
          <a:stretch>
            <a:fillRect/>
          </a:stretch>
        </p:blipFill>
        <p:spPr>
          <a:xfrm>
            <a:off x="2891323" y="2755900"/>
            <a:ext cx="228600" cy="228600"/>
          </a:xfrm>
          <a:prstGeom prst="rect">
            <a:avLst/>
          </a:prstGeom>
        </p:spPr>
      </p:pic>
      <p:sp>
        <p:nvSpPr>
          <p:cNvPr id="23" name="TextBox 22"/>
          <p:cNvSpPr txBox="1"/>
          <p:nvPr/>
        </p:nvSpPr>
        <p:spPr>
          <a:xfrm>
            <a:off x="3246923" y="2730500"/>
            <a:ext cx="8386276"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Only Stage 6 Spends Build Credits</a:t>
            </a:r>
          </a:p>
        </p:txBody>
      </p:sp>
      <p:pic>
        <p:nvPicPr>
          <p:cNvPr id="24" name="Picture 23" descr="radar-2C2C2A.png"/>
          <p:cNvPicPr>
            <a:picLocks noChangeAspect="1"/>
          </p:cNvPicPr>
          <p:nvPr/>
        </p:nvPicPr>
        <p:blipFill>
          <a:blip r:embed="rId7"/>
          <a:stretch>
            <a:fillRect/>
          </a:stretch>
        </p:blipFill>
        <p:spPr>
          <a:xfrm>
            <a:off x="2891323" y="3185160"/>
            <a:ext cx="228600" cy="228600"/>
          </a:xfrm>
          <a:prstGeom prst="rect">
            <a:avLst/>
          </a:prstGeom>
        </p:spPr>
      </p:pic>
      <p:sp>
        <p:nvSpPr>
          <p:cNvPr id="25" name="TextBox 24"/>
          <p:cNvSpPr txBox="1"/>
          <p:nvPr/>
        </p:nvSpPr>
        <p:spPr>
          <a:xfrm>
            <a:off x="3246923" y="3159760"/>
            <a:ext cx="8386276"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Watched Every Day After Launch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2 · You Just Fill In 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Idea Form Asks What Only You Know</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AF-CARD-TEMPLATE.md (frozen 19 Oct 2026) · AF-UNDERSTANDING-2026-10-22.md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ulb-2C2C2A.png"/>
          <p:cNvPicPr>
            <a:picLocks noChangeAspect="1"/>
          </p:cNvPicPr>
          <p:nvPr/>
        </p:nvPicPr>
        <p:blipFill>
          <a:blip r:embed="rId2"/>
          <a:stretch>
            <a:fillRect/>
          </a:stretch>
        </p:blipFill>
        <p:spPr>
          <a:xfrm>
            <a:off x="1206500" y="2804795"/>
            <a:ext cx="508000" cy="508000"/>
          </a:xfrm>
          <a:prstGeom prst="rect">
            <a:avLst/>
          </a:prstGeom>
        </p:spPr>
      </p:pic>
      <p:sp>
        <p:nvSpPr>
          <p:cNvPr id="12" name="TextBox 11"/>
          <p:cNvSpPr txBox="1"/>
          <p:nvPr/>
        </p:nvSpPr>
        <p:spPr>
          <a:xfrm>
            <a:off x="7112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Your Vision</a:t>
            </a:r>
          </a:p>
        </p:txBody>
      </p:sp>
      <p:sp>
        <p:nvSpPr>
          <p:cNvPr id="13" name="Rounded Rectangle 12"/>
          <p:cNvSpPr/>
          <p:nvPr/>
        </p:nvSpPr>
        <p:spPr>
          <a:xfrm>
            <a:off x="24638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urrency-pound-2C2C2A.png"/>
          <p:cNvPicPr>
            <a:picLocks noChangeAspect="1"/>
          </p:cNvPicPr>
          <p:nvPr/>
        </p:nvPicPr>
        <p:blipFill>
          <a:blip r:embed="rId3"/>
          <a:stretch>
            <a:fillRect/>
          </a:stretch>
        </p:blipFill>
        <p:spPr>
          <a:xfrm>
            <a:off x="3060700" y="2804795"/>
            <a:ext cx="508000" cy="508000"/>
          </a:xfrm>
          <a:prstGeom prst="rect">
            <a:avLst/>
          </a:prstGeom>
        </p:spPr>
      </p:pic>
      <p:sp>
        <p:nvSpPr>
          <p:cNvPr id="15" name="TextBox 14"/>
          <p:cNvSpPr txBox="1"/>
          <p:nvPr/>
        </p:nvSpPr>
        <p:spPr>
          <a:xfrm>
            <a:off x="25654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Who Pays</a:t>
            </a:r>
          </a:p>
        </p:txBody>
      </p:sp>
      <p:sp>
        <p:nvSpPr>
          <p:cNvPr id="16" name="Rounded Rectangle 15"/>
          <p:cNvSpPr/>
          <p:nvPr/>
        </p:nvSpPr>
        <p:spPr>
          <a:xfrm>
            <a:off x="43180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alert-triangle-2C2C2A.png"/>
          <p:cNvPicPr>
            <a:picLocks noChangeAspect="1"/>
          </p:cNvPicPr>
          <p:nvPr/>
        </p:nvPicPr>
        <p:blipFill>
          <a:blip r:embed="rId4"/>
          <a:stretch>
            <a:fillRect/>
          </a:stretch>
        </p:blipFill>
        <p:spPr>
          <a:xfrm>
            <a:off x="4914900" y="2804795"/>
            <a:ext cx="508000" cy="508000"/>
          </a:xfrm>
          <a:prstGeom prst="rect">
            <a:avLst/>
          </a:prstGeom>
        </p:spPr>
      </p:pic>
      <p:sp>
        <p:nvSpPr>
          <p:cNvPr id="18" name="TextBox 17"/>
          <p:cNvSpPr txBox="1"/>
          <p:nvPr/>
        </p:nvSpPr>
        <p:spPr>
          <a:xfrm>
            <a:off x="44196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The Pain</a:t>
            </a:r>
          </a:p>
        </p:txBody>
      </p:sp>
      <p:sp>
        <p:nvSpPr>
          <p:cNvPr id="19" name="Rounded Rectangle 18"/>
          <p:cNvSpPr/>
          <p:nvPr/>
        </p:nvSpPr>
        <p:spPr>
          <a:xfrm>
            <a:off x="61722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5"/>
          <a:stretch>
            <a:fillRect/>
          </a:stretch>
        </p:blipFill>
        <p:spPr>
          <a:xfrm>
            <a:off x="6769100" y="2804795"/>
            <a:ext cx="508000" cy="508000"/>
          </a:xfrm>
          <a:prstGeom prst="rect">
            <a:avLst/>
          </a:prstGeom>
        </p:spPr>
      </p:pic>
      <p:sp>
        <p:nvSpPr>
          <p:cNvPr id="21" name="TextBox 20"/>
          <p:cNvSpPr txBox="1"/>
          <p:nvPr/>
        </p:nvSpPr>
        <p:spPr>
          <a:xfrm>
            <a:off x="62738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20 Code</a:t>
            </a:r>
          </a:p>
          <a:p>
            <a:pPr algn="ctr">
              <a:lnSpc>
                <a:spcPts val="2080"/>
              </a:lnSpc>
            </a:pPr>
            <a:r>
              <a:rPr sz="1600" b="1">
                <a:solidFill>
                  <a:srgbClr val="2C2C2A"/>
                </a:solidFill>
                <a:latin typeface="Lexend"/>
              </a:rPr>
              <a:t>Questions</a:t>
            </a:r>
          </a:p>
        </p:txBody>
      </p:sp>
      <p:sp>
        <p:nvSpPr>
          <p:cNvPr id="22" name="Rounded Rectangle 21"/>
          <p:cNvSpPr/>
          <p:nvPr/>
        </p:nvSpPr>
        <p:spPr>
          <a:xfrm>
            <a:off x="80264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ilter-2C2C2A.png"/>
          <p:cNvPicPr>
            <a:picLocks noChangeAspect="1"/>
          </p:cNvPicPr>
          <p:nvPr/>
        </p:nvPicPr>
        <p:blipFill>
          <a:blip r:embed="rId6"/>
          <a:stretch>
            <a:fillRect/>
          </a:stretch>
        </p:blipFill>
        <p:spPr>
          <a:xfrm>
            <a:off x="8623300" y="2804795"/>
            <a:ext cx="508000" cy="508000"/>
          </a:xfrm>
          <a:prstGeom prst="rect">
            <a:avLst/>
          </a:prstGeom>
        </p:spPr>
      </p:pic>
      <p:sp>
        <p:nvSpPr>
          <p:cNvPr id="24" name="TextBox 23"/>
          <p:cNvSpPr txBox="1"/>
          <p:nvPr/>
        </p:nvSpPr>
        <p:spPr>
          <a:xfrm>
            <a:off x="81280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3 Kill</a:t>
            </a:r>
          </a:p>
          <a:p>
            <a:pPr algn="ctr">
              <a:lnSpc>
                <a:spcPts val="2080"/>
              </a:lnSpc>
            </a:pPr>
            <a:r>
              <a:rPr sz="1600" b="1">
                <a:solidFill>
                  <a:srgbClr val="2C2C2A"/>
                </a:solidFill>
                <a:latin typeface="Lexend"/>
              </a:rPr>
              <a:t>Questions</a:t>
            </a:r>
          </a:p>
        </p:txBody>
      </p:sp>
      <p:sp>
        <p:nvSpPr>
          <p:cNvPr id="25" name="Rounded Rectangle 24"/>
          <p:cNvSpPr/>
          <p:nvPr/>
        </p:nvSpPr>
        <p:spPr>
          <a:xfrm>
            <a:off x="9880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lipboard-check-2C2C2A.png"/>
          <p:cNvPicPr>
            <a:picLocks noChangeAspect="1"/>
          </p:cNvPicPr>
          <p:nvPr/>
        </p:nvPicPr>
        <p:blipFill>
          <a:blip r:embed="rId7"/>
          <a:stretch>
            <a:fillRect/>
          </a:stretch>
        </p:blipFill>
        <p:spPr>
          <a:xfrm>
            <a:off x="10477500" y="2804795"/>
            <a:ext cx="508000" cy="508000"/>
          </a:xfrm>
          <a:prstGeom prst="rect">
            <a:avLst/>
          </a:prstGeom>
        </p:spPr>
      </p:pic>
      <p:sp>
        <p:nvSpPr>
          <p:cNvPr id="27" name="TextBox 26"/>
          <p:cNvSpPr txBox="1"/>
          <p:nvPr/>
        </p:nvSpPr>
        <p:spPr>
          <a:xfrm>
            <a:off x="99822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Verdict And</a:t>
            </a:r>
          </a:p>
          <a:p>
            <a:pPr algn="ctr">
              <a:lnSpc>
                <a:spcPts val="2080"/>
              </a:lnSpc>
            </a:pPr>
            <a:r>
              <a:rPr sz="1600" b="1">
                <a:solidFill>
                  <a:srgbClr val="2C2C2A"/>
                </a:solidFill>
                <a:latin typeface="Lexend"/>
              </a:rPr>
              <a:t>Data Role</a:t>
            </a:r>
          </a:p>
        </p:txBody>
      </p:sp>
      <p:sp>
        <p:nvSpPr>
          <p:cNvPr id="28" name="TextBox 27"/>
          <p:cNvSpPr txBox="1"/>
          <p:nvPr/>
        </p:nvSpPr>
        <p:spPr>
          <a:xfrm>
            <a:off x="609600" y="457771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Plain Questions. Six Must Be Answered; The Rest Can Say Not Yet Known.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2 · 20 Codes In 4 Groups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Each Answer Is A Word Plus A Number</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AF-CARD-TEMPLATE.md · codes-catalogue.json · LC-VISUAL-STANDARD.md (rings)</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sp>
        <p:nvSpPr>
          <p:cNvPr id="12" name="Rounded Rectangle 11"/>
          <p:cNvSpPr/>
          <p:nvPr/>
        </p:nvSpPr>
        <p:spPr>
          <a:xfrm>
            <a:off x="1181100" y="5956300"/>
            <a:ext cx="165100" cy="139700"/>
          </a:xfrm>
          <a:prstGeom prst="roundRect">
            <a:avLst>
              <a:gd name="adj" fmla="val 18181"/>
            </a:avLst>
          </a:prstGeom>
          <a:solidFill>
            <a:srgbClr val="7E3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Ring 1 Inside</a:t>
            </a:r>
          </a:p>
        </p:txBody>
      </p:sp>
      <p:sp>
        <p:nvSpPr>
          <p:cNvPr id="14" name="Rounded Rectangle 13"/>
          <p:cNvSpPr/>
          <p:nvPr/>
        </p:nvSpPr>
        <p:spPr>
          <a:xfrm>
            <a:off x="2678807" y="5956300"/>
            <a:ext cx="165100" cy="139700"/>
          </a:xfrm>
          <a:prstGeom prst="roundRect">
            <a:avLst>
              <a:gd name="adj" fmla="val 18181"/>
            </a:avLst>
          </a:prstGeom>
          <a:solidFill>
            <a:srgbClr val="D99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32807"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Ring 4 Public</a:t>
            </a:r>
          </a:p>
        </p:txBody>
      </p:sp>
      <p:pic>
        <p:nvPicPr>
          <p:cNvPr id="16" name="Picture 15" descr="users-2C2C2A.png"/>
          <p:cNvPicPr>
            <a:picLocks noChangeAspect="1"/>
          </p:cNvPicPr>
          <p:nvPr/>
        </p:nvPicPr>
        <p:blipFill>
          <a:blip r:embed="rId2"/>
          <a:stretch>
            <a:fillRect/>
          </a:stretch>
        </p:blipFill>
        <p:spPr>
          <a:xfrm>
            <a:off x="4176216" y="5930900"/>
            <a:ext cx="177800" cy="177800"/>
          </a:xfrm>
          <a:prstGeom prst="rect">
            <a:avLst/>
          </a:prstGeom>
        </p:spPr>
      </p:pic>
      <p:sp>
        <p:nvSpPr>
          <p:cNvPr id="17" name="TextBox 16"/>
          <p:cNvSpPr txBox="1"/>
          <p:nvPr/>
        </p:nvSpPr>
        <p:spPr>
          <a:xfrm>
            <a:off x="4430216"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Group Icon</a:t>
            </a:r>
          </a:p>
        </p:txBody>
      </p:sp>
      <p:sp>
        <p:nvSpPr>
          <p:cNvPr id="18" name="Rounded Rectangle 17"/>
          <p:cNvSpPr/>
          <p:nvPr/>
        </p:nvSpPr>
        <p:spPr>
          <a:xfrm>
            <a:off x="609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 Same Side Corner Rectangle 18"/>
          <p:cNvSpPr/>
          <p:nvPr/>
        </p:nvSpPr>
        <p:spPr>
          <a:xfrm>
            <a:off x="746760" y="1795779"/>
            <a:ext cx="2316480" cy="76200"/>
          </a:xfrm>
          <a:prstGeom prst="round2SameRect">
            <a:avLst/>
          </a:prstGeom>
          <a:solidFill>
            <a:srgbClr val="7E3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uilding-store-2C2C2A.png"/>
          <p:cNvPicPr>
            <a:picLocks noChangeAspect="1"/>
          </p:cNvPicPr>
          <p:nvPr/>
        </p:nvPicPr>
        <p:blipFill>
          <a:blip r:embed="rId3"/>
          <a:stretch>
            <a:fillRect/>
          </a:stretch>
        </p:blipFill>
        <p:spPr>
          <a:xfrm>
            <a:off x="812800" y="2024379"/>
            <a:ext cx="355600" cy="355600"/>
          </a:xfrm>
          <a:prstGeom prst="rect">
            <a:avLst/>
          </a:prstGeom>
        </p:spPr>
      </p:pic>
      <p:sp>
        <p:nvSpPr>
          <p:cNvPr id="21" name="TextBox 20"/>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1 · Businesses</a:t>
            </a:r>
          </a:p>
        </p:txBody>
      </p:sp>
      <p:sp>
        <p:nvSpPr>
          <p:cNvPr id="22" name="TextBox 21"/>
          <p:cNvSpPr txBox="1"/>
          <p:nvPr/>
        </p:nvSpPr>
        <p:spPr>
          <a:xfrm>
            <a:off x="812800" y="2838449"/>
            <a:ext cx="2235200" cy="71882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TEN (0-6) · PARENTS ·</a:t>
            </a:r>
          </a:p>
          <a:p>
            <a:pPr algn="l">
              <a:lnSpc>
                <a:spcPts val="1820"/>
              </a:lnSpc>
            </a:pPr>
            <a:r>
              <a:rPr sz="1400" b="0">
                <a:solidFill>
                  <a:srgbClr val="756E65"/>
                </a:solidFill>
                <a:latin typeface="Lexend"/>
              </a:rPr>
              <a:t>DOWN · MEET · POOL ·</a:t>
            </a:r>
          </a:p>
          <a:p>
            <a:pPr algn="l">
              <a:lnSpc>
                <a:spcPts val="1820"/>
              </a:lnSpc>
            </a:pPr>
            <a:r>
              <a:rPr sz="1400" b="0">
                <a:solidFill>
                  <a:srgbClr val="756E65"/>
                </a:solidFill>
                <a:latin typeface="Lexend"/>
              </a:rPr>
              <a:t>EXIT</a:t>
            </a:r>
          </a:p>
        </p:txBody>
      </p:sp>
      <p:sp>
        <p:nvSpPr>
          <p:cNvPr id="23" name="Rounded Rectangle 22"/>
          <p:cNvSpPr/>
          <p:nvPr/>
        </p:nvSpPr>
        <p:spPr>
          <a:xfrm>
            <a:off x="3403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 Same Side Corner Rectangle 23"/>
          <p:cNvSpPr/>
          <p:nvPr/>
        </p:nvSpPr>
        <p:spPr>
          <a:xfrm>
            <a:off x="3540760" y="1795779"/>
            <a:ext cx="2316480" cy="76200"/>
          </a:xfrm>
          <a:prstGeom prst="round2SameRect">
            <a:avLst/>
          </a:prstGeom>
          <a:solidFill>
            <a:srgbClr val="A04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ogin-2C2C2A.png"/>
          <p:cNvPicPr>
            <a:picLocks noChangeAspect="1"/>
          </p:cNvPicPr>
          <p:nvPr/>
        </p:nvPicPr>
        <p:blipFill>
          <a:blip r:embed="rId4"/>
          <a:stretch>
            <a:fillRect/>
          </a:stretch>
        </p:blipFill>
        <p:spPr>
          <a:xfrm>
            <a:off x="3606800" y="2024379"/>
            <a:ext cx="355600" cy="355600"/>
          </a:xfrm>
          <a:prstGeom prst="rect">
            <a:avLst/>
          </a:prstGeom>
        </p:spPr>
      </p:pic>
      <p:sp>
        <p:nvSpPr>
          <p:cNvPr id="26" name="TextBox 25"/>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2 · Who Signs In</a:t>
            </a:r>
          </a:p>
        </p:txBody>
      </p:sp>
      <p:sp>
        <p:nvSpPr>
          <p:cNvPr id="27" name="TextBox 26"/>
          <p:cNvSpPr txBox="1"/>
          <p:nvPr/>
        </p:nvSpPr>
        <p:spPr>
          <a:xfrm>
            <a:off x="3606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ROLE · BELONG · GUEST</a:t>
            </a:r>
          </a:p>
          <a:p>
            <a:pPr algn="l">
              <a:lnSpc>
                <a:spcPts val="1820"/>
              </a:lnSpc>
            </a:pPr>
            <a:r>
              <a:rPr sz="1400" b="0">
                <a:solidFill>
                  <a:srgbClr val="756E65"/>
                </a:solidFill>
                <a:latin typeface="Lexend"/>
              </a:rPr>
              <a:t>· HELP · JOIN</a:t>
            </a:r>
          </a:p>
        </p:txBody>
      </p:sp>
      <p:sp>
        <p:nvSpPr>
          <p:cNvPr id="28" name="Rounded Rectangle 27"/>
          <p:cNvSpPr/>
          <p:nvPr/>
        </p:nvSpPr>
        <p:spPr>
          <a:xfrm>
            <a:off x="6197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 Same Side Corner Rectangle 28"/>
          <p:cNvSpPr/>
          <p:nvPr/>
        </p:nvSpPr>
        <p:spPr>
          <a:xfrm>
            <a:off x="6334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users-2C2C2A.png"/>
          <p:cNvPicPr>
            <a:picLocks noChangeAspect="1"/>
          </p:cNvPicPr>
          <p:nvPr/>
        </p:nvPicPr>
        <p:blipFill>
          <a:blip r:embed="rId2"/>
          <a:stretch>
            <a:fillRect/>
          </a:stretch>
        </p:blipFill>
        <p:spPr>
          <a:xfrm>
            <a:off x="6400800" y="2024379"/>
            <a:ext cx="355600" cy="355600"/>
          </a:xfrm>
          <a:prstGeom prst="rect">
            <a:avLst/>
          </a:prstGeom>
        </p:spPr>
      </p:pic>
      <p:sp>
        <p:nvSpPr>
          <p:cNvPr id="31" name="TextBox 30"/>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3 · Customers</a:t>
            </a:r>
          </a:p>
        </p:txBody>
      </p:sp>
      <p:sp>
        <p:nvSpPr>
          <p:cNvPr id="32" name="TextBox 31"/>
          <p:cNvSpPr txBox="1"/>
          <p:nvPr/>
        </p:nvSpPr>
        <p:spPr>
          <a:xfrm>
            <a:off x="6400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CUST (0-5) · PRICE ·</a:t>
            </a:r>
          </a:p>
          <a:p>
            <a:pPr algn="l">
              <a:lnSpc>
                <a:spcPts val="1820"/>
              </a:lnSpc>
            </a:pPr>
            <a:r>
              <a:rPr sz="1400" b="0">
                <a:solidFill>
                  <a:srgbClr val="756E65"/>
                </a:solidFill>
                <a:latin typeface="Lexend"/>
              </a:rPr>
              <a:t>SHARE · SEN (0-3)</a:t>
            </a:r>
          </a:p>
        </p:txBody>
      </p:sp>
      <p:sp>
        <p:nvSpPr>
          <p:cNvPr id="33" name="Rounded Rectangle 32"/>
          <p:cNvSpPr/>
          <p:nvPr/>
        </p:nvSpPr>
        <p:spPr>
          <a:xfrm>
            <a:off x="8991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 Same Side Corner Rectangle 33"/>
          <p:cNvSpPr/>
          <p:nvPr/>
        </p:nvSpPr>
        <p:spPr>
          <a:xfrm>
            <a:off x="9128760" y="1795779"/>
            <a:ext cx="2316480" cy="76200"/>
          </a:xfrm>
          <a:prstGeom prst="round2SameRect">
            <a:avLst/>
          </a:prstGeom>
          <a:solidFill>
            <a:srgbClr val="D99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world-2C2C2A.png"/>
          <p:cNvPicPr>
            <a:picLocks noChangeAspect="1"/>
          </p:cNvPicPr>
          <p:nvPr/>
        </p:nvPicPr>
        <p:blipFill>
          <a:blip r:embed="rId5"/>
          <a:stretch>
            <a:fillRect/>
          </a:stretch>
        </p:blipFill>
        <p:spPr>
          <a:xfrm>
            <a:off x="9194800" y="2024379"/>
            <a:ext cx="355600" cy="355600"/>
          </a:xfrm>
          <a:prstGeom prst="rect">
            <a:avLst/>
          </a:prstGeom>
        </p:spPr>
      </p:pic>
      <p:sp>
        <p:nvSpPr>
          <p:cNvPr id="36" name="TextBox 35"/>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4 · Public</a:t>
            </a:r>
          </a:p>
        </p:txBody>
      </p:sp>
      <p:sp>
        <p:nvSpPr>
          <p:cNvPr id="37" name="TextBox 36"/>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VIEW · POST · BRAND ·</a:t>
            </a:r>
          </a:p>
          <a:p>
            <a:pPr algn="l">
              <a:lnSpc>
                <a:spcPts val="1820"/>
              </a:lnSpc>
            </a:pPr>
            <a:r>
              <a:rPr sz="1400" b="0">
                <a:solidFill>
                  <a:srgbClr val="756E65"/>
                </a:solidFill>
                <a:latin typeface="Lexend"/>
              </a:rPr>
              <a:t>SEND · PAY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3 · Walls Keep Data Apart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App Gets The Walls Its Codes Call For</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codes-catalogue.json (walls W1-W8) · TENANCY-CLASSIFICATION-AND-ISOLATION-RULES.md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2" name="Picture 11" descr="wall-2C2C2A.png"/>
          <p:cNvPicPr>
            <a:picLocks noChangeAspect="1"/>
          </p:cNvPicPr>
          <p:nvPr/>
        </p:nvPicPr>
        <p:blipFill>
          <a:blip r:embed="rId2"/>
          <a:stretch>
            <a:fillRect/>
          </a:stretch>
        </p:blipFill>
        <p:spPr>
          <a:xfrm>
            <a:off x="1181100" y="5930900"/>
            <a:ext cx="177800" cy="177800"/>
          </a:xfrm>
          <a:prstGeom prst="rect">
            <a:avLst/>
          </a:prstGeom>
        </p:spPr>
      </p:pic>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Wall (W1-W8)</a:t>
            </a:r>
          </a:p>
        </p:txBody>
      </p:sp>
      <p:sp>
        <p:nvSpPr>
          <p:cNvPr id="14" name="Rounded Rectangle 13"/>
          <p:cNvSpPr/>
          <p:nvPr/>
        </p:nvSpPr>
        <p:spPr>
          <a:xfrm>
            <a:off x="2717800" y="5956300"/>
            <a:ext cx="165100" cy="139700"/>
          </a:xfrm>
          <a:prstGeom prst="roundRect">
            <a:avLst>
              <a:gd name="adj" fmla="val 18181"/>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718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Boundaries Shelf</a:t>
            </a:r>
          </a:p>
        </p:txBody>
      </p:sp>
      <p:sp>
        <p:nvSpPr>
          <p:cNvPr id="16" name="Rounded Rectangle 15"/>
          <p:cNvSpPr/>
          <p:nvPr/>
        </p:nvSpPr>
        <p:spPr>
          <a:xfrm>
            <a:off x="609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 Same Side Corner Rectangle 16"/>
          <p:cNvSpPr/>
          <p:nvPr/>
        </p:nvSpPr>
        <p:spPr>
          <a:xfrm>
            <a:off x="746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wall-2C2C2A.png"/>
          <p:cNvPicPr>
            <a:picLocks noChangeAspect="1"/>
          </p:cNvPicPr>
          <p:nvPr/>
        </p:nvPicPr>
        <p:blipFill>
          <a:blip r:embed="rId2"/>
          <a:stretch>
            <a:fillRect/>
          </a:stretch>
        </p:blipFill>
        <p:spPr>
          <a:xfrm>
            <a:off x="812800" y="2024379"/>
            <a:ext cx="355600" cy="355600"/>
          </a:xfrm>
          <a:prstGeom prst="rect">
            <a:avLst/>
          </a:prstGeom>
        </p:spPr>
      </p:pic>
      <p:sp>
        <p:nvSpPr>
          <p:cNvPr id="19" name="TextBox 18"/>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W1 Brand Wall</a:t>
            </a:r>
          </a:p>
        </p:txBody>
      </p:sp>
      <p:sp>
        <p:nvSpPr>
          <p:cNvPr id="20" name="TextBox 19"/>
          <p:cNvSpPr txBox="1"/>
          <p:nvPr/>
        </p:nvSpPr>
        <p:spPr>
          <a:xfrm>
            <a:off x="812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One Business Never Sees</a:t>
            </a:r>
          </a:p>
          <a:p>
            <a:pPr algn="l">
              <a:lnSpc>
                <a:spcPts val="1820"/>
              </a:lnSpc>
            </a:pPr>
            <a:r>
              <a:rPr sz="1400" b="0">
                <a:solidFill>
                  <a:srgbClr val="756E65"/>
                </a:solidFill>
                <a:latin typeface="Lexend"/>
              </a:rPr>
              <a:t>Another</a:t>
            </a:r>
          </a:p>
        </p:txBody>
      </p:sp>
      <p:sp>
        <p:nvSpPr>
          <p:cNvPr id="21" name="Rounded Rectangle 20"/>
          <p:cNvSpPr/>
          <p:nvPr/>
        </p:nvSpPr>
        <p:spPr>
          <a:xfrm>
            <a:off x="3403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3540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2C2C2A.png"/>
          <p:cNvPicPr>
            <a:picLocks noChangeAspect="1"/>
          </p:cNvPicPr>
          <p:nvPr/>
        </p:nvPicPr>
        <p:blipFill>
          <a:blip r:embed="rId3"/>
          <a:stretch>
            <a:fillRect/>
          </a:stretch>
        </p:blipFill>
        <p:spPr>
          <a:xfrm>
            <a:off x="3606800" y="2024379"/>
            <a:ext cx="355600" cy="355600"/>
          </a:xfrm>
          <a:prstGeom prst="rect">
            <a:avLst/>
          </a:prstGeom>
        </p:spPr>
      </p:pic>
      <p:sp>
        <p:nvSpPr>
          <p:cNvPr id="24" name="TextBox 23"/>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W2 Member Wall</a:t>
            </a:r>
          </a:p>
        </p:txBody>
      </p:sp>
      <p:sp>
        <p:nvSpPr>
          <p:cNvPr id="25" name="TextBox 24"/>
          <p:cNvSpPr txBox="1"/>
          <p:nvPr/>
        </p:nvSpPr>
        <p:spPr>
          <a:xfrm>
            <a:off x="3606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One Customer Never</a:t>
            </a:r>
          </a:p>
          <a:p>
            <a:pPr algn="l">
              <a:lnSpc>
                <a:spcPts val="1820"/>
              </a:lnSpc>
            </a:pPr>
            <a:r>
              <a:rPr sz="1400" b="0">
                <a:solidFill>
                  <a:srgbClr val="756E65"/>
                </a:solidFill>
                <a:latin typeface="Lexend"/>
              </a:rPr>
              <a:t>Sees Another</a:t>
            </a:r>
          </a:p>
        </p:txBody>
      </p:sp>
      <p:sp>
        <p:nvSpPr>
          <p:cNvPr id="26" name="Rounded Rectangle 25"/>
          <p:cNvSpPr/>
          <p:nvPr/>
        </p:nvSpPr>
        <p:spPr>
          <a:xfrm>
            <a:off x="6197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 Same Side Corner Rectangle 26"/>
          <p:cNvSpPr/>
          <p:nvPr/>
        </p:nvSpPr>
        <p:spPr>
          <a:xfrm>
            <a:off x="6334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world-2C2C2A.png"/>
          <p:cNvPicPr>
            <a:picLocks noChangeAspect="1"/>
          </p:cNvPicPr>
          <p:nvPr/>
        </p:nvPicPr>
        <p:blipFill>
          <a:blip r:embed="rId4"/>
          <a:stretch>
            <a:fillRect/>
          </a:stretch>
        </p:blipFill>
        <p:spPr>
          <a:xfrm>
            <a:off x="6400800" y="2024379"/>
            <a:ext cx="355600" cy="355600"/>
          </a:xfrm>
          <a:prstGeom prst="rect">
            <a:avLst/>
          </a:prstGeom>
        </p:spPr>
      </p:pic>
      <p:sp>
        <p:nvSpPr>
          <p:cNvPr id="29" name="TextBox 28"/>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W6 Public Wall</a:t>
            </a:r>
          </a:p>
        </p:txBody>
      </p:sp>
      <p:sp>
        <p:nvSpPr>
          <p:cNvPr id="30" name="TextBox 29"/>
          <p:cNvSpPr txBox="1"/>
          <p:nvPr/>
        </p:nvSpPr>
        <p:spPr>
          <a:xfrm>
            <a:off x="6400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Strangers See Only What</a:t>
            </a:r>
          </a:p>
          <a:p>
            <a:pPr algn="l">
              <a:lnSpc>
                <a:spcPts val="1820"/>
              </a:lnSpc>
            </a:pPr>
            <a:r>
              <a:rPr sz="1400" b="0">
                <a:solidFill>
                  <a:srgbClr val="756E65"/>
                </a:solidFill>
                <a:latin typeface="Lexend"/>
              </a:rPr>
              <a:t>Is Meant</a:t>
            </a:r>
          </a:p>
        </p:txBody>
      </p:sp>
      <p:sp>
        <p:nvSpPr>
          <p:cNvPr id="31" name="Rounded Rectangle 30"/>
          <p:cNvSpPr/>
          <p:nvPr/>
        </p:nvSpPr>
        <p:spPr>
          <a:xfrm>
            <a:off x="8991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 Same Side Corner Rectangle 31"/>
          <p:cNvSpPr/>
          <p:nvPr/>
        </p:nvSpPr>
        <p:spPr>
          <a:xfrm>
            <a:off x="9128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ock-2C2C2A.png"/>
          <p:cNvPicPr>
            <a:picLocks noChangeAspect="1"/>
          </p:cNvPicPr>
          <p:nvPr/>
        </p:nvPicPr>
        <p:blipFill>
          <a:blip r:embed="rId5"/>
          <a:stretch>
            <a:fillRect/>
          </a:stretch>
        </p:blipFill>
        <p:spPr>
          <a:xfrm>
            <a:off x="9194800" y="2024379"/>
            <a:ext cx="355600" cy="355600"/>
          </a:xfrm>
          <a:prstGeom prst="rect">
            <a:avLst/>
          </a:prstGeom>
        </p:spPr>
      </p:pic>
      <p:sp>
        <p:nvSpPr>
          <p:cNvPr id="34" name="TextBox 33"/>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W8 Sensitivity Hold</a:t>
            </a:r>
          </a:p>
        </p:txBody>
      </p:sp>
      <p:sp>
        <p:nvSpPr>
          <p:cNvPr id="35" name="TextBox 34"/>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Health Or Children's</a:t>
            </a:r>
          </a:p>
          <a:p>
            <a:pPr algn="l">
              <a:lnSpc>
                <a:spcPts val="1820"/>
              </a:lnSpc>
            </a:pPr>
            <a:r>
              <a:rPr sz="1400" b="0">
                <a:solidFill>
                  <a:srgbClr val="756E65"/>
                </a:solidFill>
                <a:latin typeface="Lexend"/>
              </a:rPr>
              <a:t>Data Waits For A Check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3 · Tested After Every Paid Step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Six Checks, In This Order, Every Time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TEMPLATE-MIRROR.md (6j, 6l) · THE-STAGE-TRANSITIONS.md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text-2C2C2A.png"/>
          <p:cNvPicPr>
            <a:picLocks noChangeAspect="1"/>
          </p:cNvPicPr>
          <p:nvPr/>
        </p:nvPicPr>
        <p:blipFill>
          <a:blip r:embed="rId2"/>
          <a:stretch>
            <a:fillRect/>
          </a:stretch>
        </p:blipFill>
        <p:spPr>
          <a:xfrm>
            <a:off x="1206500" y="2804795"/>
            <a:ext cx="508000" cy="508000"/>
          </a:xfrm>
          <a:prstGeom prst="rect">
            <a:avLst/>
          </a:prstGeom>
        </p:spPr>
      </p:pic>
      <p:sp>
        <p:nvSpPr>
          <p:cNvPr id="12" name="TextBox 11"/>
          <p:cNvSpPr txBox="1"/>
          <p:nvPr/>
        </p:nvSpPr>
        <p:spPr>
          <a:xfrm>
            <a:off x="7366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1</a:t>
            </a:r>
          </a:p>
        </p:txBody>
      </p:sp>
      <p:sp>
        <p:nvSpPr>
          <p:cNvPr id="13" name="TextBox 12"/>
          <p:cNvSpPr txBox="1"/>
          <p:nvPr/>
        </p:nvSpPr>
        <p:spPr>
          <a:xfrm>
            <a:off x="7112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Record It</a:t>
            </a:r>
          </a:p>
        </p:txBody>
      </p:sp>
      <p:sp>
        <p:nvSpPr>
          <p:cNvPr id="14" name="Rounded Rectangle 13"/>
          <p:cNvSpPr/>
          <p:nvPr/>
        </p:nvSpPr>
        <p:spPr>
          <a:xfrm>
            <a:off x="24638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in-2C2C2A.png"/>
          <p:cNvPicPr>
            <a:picLocks noChangeAspect="1"/>
          </p:cNvPicPr>
          <p:nvPr/>
        </p:nvPicPr>
        <p:blipFill>
          <a:blip r:embed="rId3"/>
          <a:stretch>
            <a:fillRect/>
          </a:stretch>
        </p:blipFill>
        <p:spPr>
          <a:xfrm>
            <a:off x="3060700" y="2804795"/>
            <a:ext cx="508000" cy="508000"/>
          </a:xfrm>
          <a:prstGeom prst="rect">
            <a:avLst/>
          </a:prstGeom>
        </p:spPr>
      </p:pic>
      <p:sp>
        <p:nvSpPr>
          <p:cNvPr id="16" name="TextBox 15"/>
          <p:cNvSpPr txBox="1"/>
          <p:nvPr/>
        </p:nvSpPr>
        <p:spPr>
          <a:xfrm>
            <a:off x="25908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2</a:t>
            </a:r>
          </a:p>
        </p:txBody>
      </p:sp>
      <p:sp>
        <p:nvSpPr>
          <p:cNvPr id="17" name="TextBox 16"/>
          <p:cNvSpPr txBox="1"/>
          <p:nvPr/>
        </p:nvSpPr>
        <p:spPr>
          <a:xfrm>
            <a:off x="25654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Check The</a:t>
            </a:r>
          </a:p>
          <a:p>
            <a:pPr algn="ctr">
              <a:lnSpc>
                <a:spcPts val="2080"/>
              </a:lnSpc>
            </a:pPr>
            <a:r>
              <a:rPr sz="1600" b="1">
                <a:solidFill>
                  <a:srgbClr val="2C2C2A"/>
                </a:solidFill>
                <a:latin typeface="Lexend"/>
              </a:rPr>
              <a:t>Spend</a:t>
            </a:r>
          </a:p>
        </p:txBody>
      </p:sp>
      <p:sp>
        <p:nvSpPr>
          <p:cNvPr id="18" name="Rounded Rectangle 17"/>
          <p:cNvSpPr/>
          <p:nvPr/>
        </p:nvSpPr>
        <p:spPr>
          <a:xfrm>
            <a:off x="43180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oadcast-2C2C2A.png"/>
          <p:cNvPicPr>
            <a:picLocks noChangeAspect="1"/>
          </p:cNvPicPr>
          <p:nvPr/>
        </p:nvPicPr>
        <p:blipFill>
          <a:blip r:embed="rId4"/>
          <a:stretch>
            <a:fillRect/>
          </a:stretch>
        </p:blipFill>
        <p:spPr>
          <a:xfrm>
            <a:off x="4914900" y="2804795"/>
            <a:ext cx="508000" cy="508000"/>
          </a:xfrm>
          <a:prstGeom prst="rect">
            <a:avLst/>
          </a:prstGeom>
        </p:spPr>
      </p:pic>
      <p:sp>
        <p:nvSpPr>
          <p:cNvPr id="20" name="TextBox 19"/>
          <p:cNvSpPr txBox="1"/>
          <p:nvPr/>
        </p:nvSpPr>
        <p:spPr>
          <a:xfrm>
            <a:off x="44450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3</a:t>
            </a:r>
          </a:p>
        </p:txBody>
      </p:sp>
      <p:sp>
        <p:nvSpPr>
          <p:cNvPr id="21" name="TextBox 20"/>
          <p:cNvSpPr txBox="1"/>
          <p:nvPr/>
        </p:nvSpPr>
        <p:spPr>
          <a:xfrm>
            <a:off x="44196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Publish</a:t>
            </a:r>
          </a:p>
        </p:txBody>
      </p:sp>
      <p:sp>
        <p:nvSpPr>
          <p:cNvPr id="22" name="Rounded Rectangle 21"/>
          <p:cNvSpPr/>
          <p:nvPr/>
        </p:nvSpPr>
        <p:spPr>
          <a:xfrm>
            <a:off x="61722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droplet-2C2C2A.png"/>
          <p:cNvPicPr>
            <a:picLocks noChangeAspect="1"/>
          </p:cNvPicPr>
          <p:nvPr/>
        </p:nvPicPr>
        <p:blipFill>
          <a:blip r:embed="rId5"/>
          <a:stretch>
            <a:fillRect/>
          </a:stretch>
        </p:blipFill>
        <p:spPr>
          <a:xfrm>
            <a:off x="6769100" y="2804795"/>
            <a:ext cx="508000" cy="508000"/>
          </a:xfrm>
          <a:prstGeom prst="rect">
            <a:avLst/>
          </a:prstGeom>
        </p:spPr>
      </p:pic>
      <p:sp>
        <p:nvSpPr>
          <p:cNvPr id="24" name="TextBox 23"/>
          <p:cNvSpPr txBox="1"/>
          <p:nvPr/>
        </p:nvSpPr>
        <p:spPr>
          <a:xfrm>
            <a:off x="62992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4</a:t>
            </a:r>
          </a:p>
        </p:txBody>
      </p:sp>
      <p:sp>
        <p:nvSpPr>
          <p:cNvPr id="25" name="TextBox 24"/>
          <p:cNvSpPr txBox="1"/>
          <p:nvPr/>
        </p:nvSpPr>
        <p:spPr>
          <a:xfrm>
            <a:off x="62738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Re-Probe</a:t>
            </a:r>
          </a:p>
          <a:p>
            <a:pPr algn="ctr">
              <a:lnSpc>
                <a:spcPts val="2080"/>
              </a:lnSpc>
            </a:pPr>
            <a:r>
              <a:rPr sz="1600" b="1">
                <a:solidFill>
                  <a:srgbClr val="2C2C2A"/>
                </a:solidFill>
                <a:latin typeface="Lexend"/>
              </a:rPr>
              <a:t>Every Table</a:t>
            </a:r>
          </a:p>
        </p:txBody>
      </p:sp>
      <p:sp>
        <p:nvSpPr>
          <p:cNvPr id="26" name="Rounded Rectangle 25"/>
          <p:cNvSpPr/>
          <p:nvPr/>
        </p:nvSpPr>
        <p:spPr>
          <a:xfrm>
            <a:off x="80264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users-2C2C2A.png"/>
          <p:cNvPicPr>
            <a:picLocks noChangeAspect="1"/>
          </p:cNvPicPr>
          <p:nvPr/>
        </p:nvPicPr>
        <p:blipFill>
          <a:blip r:embed="rId6"/>
          <a:stretch>
            <a:fillRect/>
          </a:stretch>
        </p:blipFill>
        <p:spPr>
          <a:xfrm>
            <a:off x="8623300" y="2804795"/>
            <a:ext cx="508000" cy="508000"/>
          </a:xfrm>
          <a:prstGeom prst="rect">
            <a:avLst/>
          </a:prstGeom>
        </p:spPr>
      </p:pic>
      <p:sp>
        <p:nvSpPr>
          <p:cNvPr id="28" name="TextBox 27"/>
          <p:cNvSpPr txBox="1"/>
          <p:nvPr/>
        </p:nvSpPr>
        <p:spPr>
          <a:xfrm>
            <a:off x="81534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5</a:t>
            </a:r>
          </a:p>
        </p:txBody>
      </p:sp>
      <p:sp>
        <p:nvSpPr>
          <p:cNvPr id="29" name="TextBox 28"/>
          <p:cNvSpPr txBox="1"/>
          <p:nvPr/>
        </p:nvSpPr>
        <p:spPr>
          <a:xfrm>
            <a:off x="81280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Test As Real</a:t>
            </a:r>
          </a:p>
          <a:p>
            <a:pPr algn="ctr">
              <a:lnSpc>
                <a:spcPts val="2080"/>
              </a:lnSpc>
            </a:pPr>
            <a:r>
              <a:rPr sz="1600" b="1">
                <a:solidFill>
                  <a:srgbClr val="2C2C2A"/>
                </a:solidFill>
                <a:latin typeface="Lexend"/>
              </a:rPr>
              <a:t>Members</a:t>
            </a:r>
          </a:p>
        </p:txBody>
      </p:sp>
      <p:sp>
        <p:nvSpPr>
          <p:cNvPr id="30" name="Rounded Rectangle 29"/>
          <p:cNvSpPr/>
          <p:nvPr/>
        </p:nvSpPr>
        <p:spPr>
          <a:xfrm>
            <a:off x="9880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ircle-check-2C2C2A.png"/>
          <p:cNvPicPr>
            <a:picLocks noChangeAspect="1"/>
          </p:cNvPicPr>
          <p:nvPr/>
        </p:nvPicPr>
        <p:blipFill>
          <a:blip r:embed="rId7"/>
          <a:stretch>
            <a:fillRect/>
          </a:stretch>
        </p:blipFill>
        <p:spPr>
          <a:xfrm>
            <a:off x="10477500" y="2804795"/>
            <a:ext cx="508000" cy="508000"/>
          </a:xfrm>
          <a:prstGeom prst="rect">
            <a:avLst/>
          </a:prstGeom>
        </p:spPr>
      </p:pic>
      <p:sp>
        <p:nvSpPr>
          <p:cNvPr id="32" name="TextBox 31"/>
          <p:cNvSpPr txBox="1"/>
          <p:nvPr/>
        </p:nvSpPr>
        <p:spPr>
          <a:xfrm>
            <a:off x="100076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6</a:t>
            </a:r>
          </a:p>
        </p:txBody>
      </p:sp>
      <p:sp>
        <p:nvSpPr>
          <p:cNvPr id="33" name="TextBox 32"/>
          <p:cNvSpPr txBox="1"/>
          <p:nvPr/>
        </p:nvSpPr>
        <p:spPr>
          <a:xfrm>
            <a:off x="99822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Mark It Done</a:t>
            </a:r>
          </a:p>
        </p:txBody>
      </p:sp>
      <p:sp>
        <p:nvSpPr>
          <p:cNvPr id="34" name="TextBox 33"/>
          <p:cNvSpPr txBox="1"/>
          <p:nvPr/>
        </p:nvSpPr>
        <p:spPr>
          <a:xfrm>
            <a:off x="609600" y="457771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Test Members From Two Different Brands Try To See Each Other's Data. It Must Fail.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Factory In 2029</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About One New App A Day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14</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glossary.json vision2029 (illustrative) · AF-UNDERSTANDING-2026-10-22.md (APPFACT target: 1 app a day for 3 years)</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3" name="Rectangle 12"/>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5" name="Picture 14" descr="sparkles-2C2C2A.png"/>
          <p:cNvPicPr>
            <a:picLocks noChangeAspect="1"/>
          </p:cNvPicPr>
          <p:nvPr/>
        </p:nvPicPr>
        <p:blipFill>
          <a:blip r:embed="rId2"/>
          <a:stretch>
            <a:fillRect/>
          </a:stretch>
        </p:blipFill>
        <p:spPr>
          <a:xfrm>
            <a:off x="1181100" y="5930900"/>
            <a:ext cx="177800" cy="177800"/>
          </a:xfrm>
          <a:prstGeom prst="rect">
            <a:avLst/>
          </a:prstGeom>
        </p:spPr>
      </p:pic>
      <p:sp>
        <p:nvSpPr>
          <p:cNvPr id="16" name="TextBox 15"/>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Vision 2029 · Illustrative: Not Today's Figures</a:t>
            </a:r>
          </a:p>
        </p:txBody>
      </p:sp>
      <p:sp>
        <p:nvSpPr>
          <p:cNvPr id="17" name="Rounded Rectangle 16"/>
          <p:cNvSpPr/>
          <p:nvPr/>
        </p:nvSpPr>
        <p:spPr>
          <a:xfrm>
            <a:off x="603250" y="1675129"/>
            <a:ext cx="4995425" cy="3995420"/>
          </a:xfrm>
          <a:prstGeom prst="roundRect">
            <a:avLst>
              <a:gd name="adj" fmla="val 127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ulse-desktop.png"/>
          <p:cNvPicPr>
            <a:picLocks noChangeAspect="1"/>
          </p:cNvPicPr>
          <p:nvPr/>
        </p:nvPicPr>
        <p:blipFill>
          <a:blip r:embed="rId3"/>
          <a:stretch>
            <a:fillRect/>
          </a:stretch>
        </p:blipFill>
        <p:spPr>
          <a:xfrm>
            <a:off x="609600" y="1681479"/>
            <a:ext cx="4982725" cy="3982720"/>
          </a:xfrm>
          <a:prstGeom prst="rect">
            <a:avLst/>
          </a:prstGeom>
        </p:spPr>
      </p:pic>
      <p:pic>
        <p:nvPicPr>
          <p:cNvPr id="19" name="Picture 18" descr="radar-2C2C2A.png"/>
          <p:cNvPicPr>
            <a:picLocks noChangeAspect="1"/>
          </p:cNvPicPr>
          <p:nvPr/>
        </p:nvPicPr>
        <p:blipFill>
          <a:blip r:embed="rId4"/>
          <a:stretch>
            <a:fillRect/>
          </a:stretch>
        </p:blipFill>
        <p:spPr>
          <a:xfrm>
            <a:off x="5973325" y="1897379"/>
            <a:ext cx="228600" cy="228600"/>
          </a:xfrm>
          <a:prstGeom prst="rect">
            <a:avLst/>
          </a:prstGeom>
        </p:spPr>
      </p:pic>
      <p:sp>
        <p:nvSpPr>
          <p:cNvPr id="20" name="TextBox 19"/>
          <p:cNvSpPr txBox="1"/>
          <p:nvPr/>
        </p:nvSpPr>
        <p:spPr>
          <a:xfrm>
            <a:off x="6328925" y="1871979"/>
            <a:ext cx="5304274"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1,004 Live Apps</a:t>
            </a:r>
          </a:p>
        </p:txBody>
      </p:sp>
      <p:pic>
        <p:nvPicPr>
          <p:cNvPr id="21" name="Picture 20" descr="rocket-2C2C2A.png"/>
          <p:cNvPicPr>
            <a:picLocks noChangeAspect="1"/>
          </p:cNvPicPr>
          <p:nvPr/>
        </p:nvPicPr>
        <p:blipFill>
          <a:blip r:embed="rId5"/>
          <a:stretch>
            <a:fillRect/>
          </a:stretch>
        </p:blipFill>
        <p:spPr>
          <a:xfrm>
            <a:off x="5973325" y="2326640"/>
            <a:ext cx="228600" cy="228600"/>
          </a:xfrm>
          <a:prstGeom prst="rect">
            <a:avLst/>
          </a:prstGeom>
        </p:spPr>
      </p:pic>
      <p:sp>
        <p:nvSpPr>
          <p:cNvPr id="22" name="TextBox 21"/>
          <p:cNvSpPr txBox="1"/>
          <p:nvPr/>
        </p:nvSpPr>
        <p:spPr>
          <a:xfrm>
            <a:off x="6328925" y="2301240"/>
            <a:ext cx="5304274"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1 New App A Day</a:t>
            </a:r>
          </a:p>
        </p:txBody>
      </p:sp>
      <p:pic>
        <p:nvPicPr>
          <p:cNvPr id="23" name="Picture 22" descr="shield-check-2C2C2A.png"/>
          <p:cNvPicPr>
            <a:picLocks noChangeAspect="1"/>
          </p:cNvPicPr>
          <p:nvPr/>
        </p:nvPicPr>
        <p:blipFill>
          <a:blip r:embed="rId6"/>
          <a:stretch>
            <a:fillRect/>
          </a:stretch>
        </p:blipFill>
        <p:spPr>
          <a:xfrm>
            <a:off x="5973325" y="2755900"/>
            <a:ext cx="228600" cy="228600"/>
          </a:xfrm>
          <a:prstGeom prst="rect">
            <a:avLst/>
          </a:prstGeom>
        </p:spPr>
      </p:pic>
      <p:sp>
        <p:nvSpPr>
          <p:cNvPr id="24" name="TextBox 23"/>
          <p:cNvSpPr txBox="1"/>
          <p:nvPr/>
        </p:nvSpPr>
        <p:spPr>
          <a:xfrm>
            <a:off x="6328925" y="2730500"/>
            <a:ext cx="5304274"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Leak Probe All Clear At 06:40</a:t>
            </a:r>
          </a:p>
        </p:txBody>
      </p:sp>
      <p:pic>
        <p:nvPicPr>
          <p:cNvPr id="25" name="Picture 24" descr="user-2C2C2A.png"/>
          <p:cNvPicPr>
            <a:picLocks noChangeAspect="1"/>
          </p:cNvPicPr>
          <p:nvPr/>
        </p:nvPicPr>
        <p:blipFill>
          <a:blip r:embed="rId7"/>
          <a:stretch>
            <a:fillRect/>
          </a:stretch>
        </p:blipFill>
        <p:spPr>
          <a:xfrm>
            <a:off x="5973325" y="3185160"/>
            <a:ext cx="228600" cy="228600"/>
          </a:xfrm>
          <a:prstGeom prst="rect">
            <a:avLst/>
          </a:prstGeom>
        </p:spPr>
      </p:pic>
      <p:sp>
        <p:nvSpPr>
          <p:cNvPr id="26" name="TextBox 25"/>
          <p:cNvSpPr txBox="1"/>
          <p:nvPr/>
        </p:nvSpPr>
        <p:spPr>
          <a:xfrm>
            <a:off x="6328925" y="3159760"/>
            <a:ext cx="5304274"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Decide Queue 7 Of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561975"/>
          </a:xfrm>
          <a:prstGeom prst="rect">
            <a:avLst/>
          </a:prstGeom>
          <a:noFill/>
        </p:spPr>
        <p:txBody>
          <a:bodyPr wrap="square" lIns="0" rIns="0" tIns="0" bIns="0" anchor="t">
            <a:noAutofit/>
          </a:bodyPr>
          <a:lstStyle/>
          <a:p>
            <a:pPr algn="l">
              <a:lnSpc>
                <a:spcPts val="4225"/>
              </a:lnSpc>
            </a:pPr>
            <a:r>
              <a:rPr sz="3250" b="1">
                <a:solidFill>
                  <a:srgbClr val="2C2C2A"/>
                </a:solidFill>
                <a:latin typeface="Lexend"/>
              </a:rPr>
              <a:t>Fully Automated, Except The Gates</a:t>
            </a:r>
          </a:p>
        </p:txBody>
      </p:sp>
      <p:sp>
        <p:nvSpPr>
          <p:cNvPr id="3" name="TextBox 2"/>
          <p:cNvSpPr txBox="1"/>
          <p:nvPr/>
        </p:nvSpPr>
        <p:spPr>
          <a:xfrm>
            <a:off x="609600" y="955675"/>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A Person Is Only Needed Where Judgement Matters</a:t>
            </a:r>
          </a:p>
        </p:txBody>
      </p:sp>
      <p:sp>
        <p:nvSpPr>
          <p:cNvPr id="4" name="Rectangle 3"/>
          <p:cNvSpPr/>
          <p:nvPr/>
        </p:nvSpPr>
        <p:spPr>
          <a:xfrm>
            <a:off x="609600" y="1321435"/>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15</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3" name="Rectangle 12"/>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5" name="Picture 14" descr="user-2C2C2A.png"/>
          <p:cNvPicPr>
            <a:picLocks noChangeAspect="1"/>
          </p:cNvPicPr>
          <p:nvPr/>
        </p:nvPicPr>
        <p:blipFill>
          <a:blip r:embed="rId3"/>
          <a:stretch>
            <a:fillRect/>
          </a:stretch>
        </p:blipFill>
        <p:spPr>
          <a:xfrm>
            <a:off x="1181100" y="5930900"/>
            <a:ext cx="177800" cy="177800"/>
          </a:xfrm>
          <a:prstGeom prst="rect">
            <a:avLst/>
          </a:prstGeom>
        </p:spPr>
      </p:pic>
      <p:sp>
        <p:nvSpPr>
          <p:cNvPr id="16" name="TextBox 15"/>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Person Decides At This Gate</a:t>
            </a:r>
          </a:p>
        </p:txBody>
      </p:sp>
      <p:pic>
        <p:nvPicPr>
          <p:cNvPr id="17" name="Picture 16" descr="sparkles-2C2C2A.png"/>
          <p:cNvPicPr>
            <a:picLocks noChangeAspect="1"/>
          </p:cNvPicPr>
          <p:nvPr/>
        </p:nvPicPr>
        <p:blipFill>
          <a:blip r:embed="rId2"/>
          <a:stretch>
            <a:fillRect/>
          </a:stretch>
        </p:blipFill>
        <p:spPr>
          <a:xfrm>
            <a:off x="3793232" y="5930900"/>
            <a:ext cx="177800" cy="177800"/>
          </a:xfrm>
          <a:prstGeom prst="rect">
            <a:avLst/>
          </a:prstGeom>
        </p:spPr>
      </p:pic>
      <p:sp>
        <p:nvSpPr>
          <p:cNvPr id="18" name="TextBox 17"/>
          <p:cNvSpPr txBox="1"/>
          <p:nvPr/>
        </p:nvSpPr>
        <p:spPr>
          <a:xfrm>
            <a:off x="4047232"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Vision 2029 · Illustrative</a:t>
            </a:r>
          </a:p>
        </p:txBody>
      </p:sp>
      <p:sp>
        <p:nvSpPr>
          <p:cNvPr id="19" name="Rounded Rectangle 18"/>
          <p:cNvSpPr/>
          <p:nvPr/>
        </p:nvSpPr>
        <p:spPr>
          <a:xfrm>
            <a:off x="6096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4"/>
          <a:stretch>
            <a:fillRect/>
          </a:stretch>
        </p:blipFill>
        <p:spPr>
          <a:xfrm>
            <a:off x="1206500" y="2600007"/>
            <a:ext cx="508000" cy="508000"/>
          </a:xfrm>
          <a:prstGeom prst="rect">
            <a:avLst/>
          </a:prstGeom>
        </p:spPr>
      </p:pic>
      <p:sp>
        <p:nvSpPr>
          <p:cNvPr id="21" name="TextBox 20"/>
          <p:cNvSpPr txBox="1"/>
          <p:nvPr/>
        </p:nvSpPr>
        <p:spPr>
          <a:xfrm>
            <a:off x="7112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Form</a:t>
            </a:r>
          </a:p>
        </p:txBody>
      </p:sp>
      <p:pic>
        <p:nvPicPr>
          <p:cNvPr id="22" name="Picture 21" descr="user-2C2C2A.png"/>
          <p:cNvPicPr>
            <a:picLocks noChangeAspect="1"/>
          </p:cNvPicPr>
          <p:nvPr/>
        </p:nvPicPr>
        <p:blipFill>
          <a:blip r:embed="rId3"/>
          <a:stretch>
            <a:fillRect/>
          </a:stretch>
        </p:blipFill>
        <p:spPr>
          <a:xfrm>
            <a:off x="1007318" y="4245927"/>
            <a:ext cx="203200" cy="203200"/>
          </a:xfrm>
          <a:prstGeom prst="rect">
            <a:avLst/>
          </a:prstGeom>
        </p:spPr>
      </p:pic>
      <p:sp>
        <p:nvSpPr>
          <p:cNvPr id="23" name="TextBox 22"/>
          <p:cNvSpPr txBox="1"/>
          <p:nvPr/>
        </p:nvSpPr>
        <p:spPr>
          <a:xfrm>
            <a:off x="1286718"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Screen</a:t>
            </a:r>
          </a:p>
        </p:txBody>
      </p:sp>
      <p:sp>
        <p:nvSpPr>
          <p:cNvPr id="24" name="Rounded Rectangle 23"/>
          <p:cNvSpPr/>
          <p:nvPr/>
        </p:nvSpPr>
        <p:spPr>
          <a:xfrm>
            <a:off x="24638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2C2C2A.png"/>
          <p:cNvPicPr>
            <a:picLocks noChangeAspect="1"/>
          </p:cNvPicPr>
          <p:nvPr/>
        </p:nvPicPr>
        <p:blipFill>
          <a:blip r:embed="rId5"/>
          <a:stretch>
            <a:fillRect/>
          </a:stretch>
        </p:blipFill>
        <p:spPr>
          <a:xfrm>
            <a:off x="3060700" y="2600007"/>
            <a:ext cx="508000" cy="508000"/>
          </a:xfrm>
          <a:prstGeom prst="rect">
            <a:avLst/>
          </a:prstGeom>
        </p:spPr>
      </p:pic>
      <p:sp>
        <p:nvSpPr>
          <p:cNvPr id="26" name="TextBox 25"/>
          <p:cNvSpPr txBox="1"/>
          <p:nvPr/>
        </p:nvSpPr>
        <p:spPr>
          <a:xfrm>
            <a:off x="25654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Research</a:t>
            </a:r>
          </a:p>
        </p:txBody>
      </p:sp>
      <p:pic>
        <p:nvPicPr>
          <p:cNvPr id="27" name="Picture 26" descr="user-2C2C2A.png"/>
          <p:cNvPicPr>
            <a:picLocks noChangeAspect="1"/>
          </p:cNvPicPr>
          <p:nvPr/>
        </p:nvPicPr>
        <p:blipFill>
          <a:blip r:embed="rId3"/>
          <a:stretch>
            <a:fillRect/>
          </a:stretch>
        </p:blipFill>
        <p:spPr>
          <a:xfrm>
            <a:off x="2931467" y="4245927"/>
            <a:ext cx="203200" cy="203200"/>
          </a:xfrm>
          <a:prstGeom prst="rect">
            <a:avLst/>
          </a:prstGeom>
        </p:spPr>
      </p:pic>
      <p:sp>
        <p:nvSpPr>
          <p:cNvPr id="28" name="TextBox 27"/>
          <p:cNvSpPr txBox="1"/>
          <p:nvPr/>
        </p:nvSpPr>
        <p:spPr>
          <a:xfrm>
            <a:off x="3210867"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Merit</a:t>
            </a:r>
          </a:p>
        </p:txBody>
      </p:sp>
      <p:sp>
        <p:nvSpPr>
          <p:cNvPr id="29" name="Rounded Rectangle 28"/>
          <p:cNvSpPr/>
          <p:nvPr/>
        </p:nvSpPr>
        <p:spPr>
          <a:xfrm>
            <a:off x="43180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puzzle-2C2C2A.png"/>
          <p:cNvPicPr>
            <a:picLocks noChangeAspect="1"/>
          </p:cNvPicPr>
          <p:nvPr/>
        </p:nvPicPr>
        <p:blipFill>
          <a:blip r:embed="rId6"/>
          <a:stretch>
            <a:fillRect/>
          </a:stretch>
        </p:blipFill>
        <p:spPr>
          <a:xfrm>
            <a:off x="4914900" y="2600007"/>
            <a:ext cx="508000" cy="508000"/>
          </a:xfrm>
          <a:prstGeom prst="rect">
            <a:avLst/>
          </a:prstGeom>
        </p:spPr>
      </p:pic>
      <p:sp>
        <p:nvSpPr>
          <p:cNvPr id="31" name="TextBox 30"/>
          <p:cNvSpPr txBox="1"/>
          <p:nvPr/>
        </p:nvSpPr>
        <p:spPr>
          <a:xfrm>
            <a:off x="44196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Features</a:t>
            </a:r>
          </a:p>
        </p:txBody>
      </p:sp>
      <p:pic>
        <p:nvPicPr>
          <p:cNvPr id="32" name="Picture 31" descr="user-2C2C2A.png"/>
          <p:cNvPicPr>
            <a:picLocks noChangeAspect="1"/>
          </p:cNvPicPr>
          <p:nvPr/>
        </p:nvPicPr>
        <p:blipFill>
          <a:blip r:embed="rId3"/>
          <a:stretch>
            <a:fillRect/>
          </a:stretch>
        </p:blipFill>
        <p:spPr>
          <a:xfrm>
            <a:off x="4806007" y="4245927"/>
            <a:ext cx="203200" cy="203200"/>
          </a:xfrm>
          <a:prstGeom prst="rect">
            <a:avLst/>
          </a:prstGeom>
        </p:spPr>
      </p:pic>
      <p:sp>
        <p:nvSpPr>
          <p:cNvPr id="33" name="TextBox 32"/>
          <p:cNvSpPr txBox="1"/>
          <p:nvPr/>
        </p:nvSpPr>
        <p:spPr>
          <a:xfrm>
            <a:off x="5085407"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Lock</a:t>
            </a:r>
          </a:p>
        </p:txBody>
      </p:sp>
      <p:sp>
        <p:nvSpPr>
          <p:cNvPr id="34" name="Rounded Rectangle 33"/>
          <p:cNvSpPr/>
          <p:nvPr/>
        </p:nvSpPr>
        <p:spPr>
          <a:xfrm>
            <a:off x="61722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database-2C2C2A.png"/>
          <p:cNvPicPr>
            <a:picLocks noChangeAspect="1"/>
          </p:cNvPicPr>
          <p:nvPr/>
        </p:nvPicPr>
        <p:blipFill>
          <a:blip r:embed="rId7"/>
          <a:stretch>
            <a:fillRect/>
          </a:stretch>
        </p:blipFill>
        <p:spPr>
          <a:xfrm>
            <a:off x="6769100" y="2600007"/>
            <a:ext cx="508000" cy="508000"/>
          </a:xfrm>
          <a:prstGeom prst="rect">
            <a:avLst/>
          </a:prstGeom>
        </p:spPr>
      </p:pic>
      <p:sp>
        <p:nvSpPr>
          <p:cNvPr id="36" name="TextBox 35"/>
          <p:cNvSpPr txBox="1"/>
          <p:nvPr/>
        </p:nvSpPr>
        <p:spPr>
          <a:xfrm>
            <a:off x="6273800" y="3285807"/>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Tables And</a:t>
            </a:r>
          </a:p>
          <a:p>
            <a:pPr algn="ctr">
              <a:lnSpc>
                <a:spcPts val="2080"/>
              </a:lnSpc>
            </a:pPr>
            <a:r>
              <a:rPr sz="1600" b="1">
                <a:solidFill>
                  <a:srgbClr val="2C2C2A"/>
                </a:solidFill>
                <a:latin typeface="Lexend"/>
              </a:rPr>
              <a:t>Tests</a:t>
            </a:r>
          </a:p>
        </p:txBody>
      </p:sp>
      <p:pic>
        <p:nvPicPr>
          <p:cNvPr id="37" name="Picture 36" descr="user-2C2C2A.png"/>
          <p:cNvPicPr>
            <a:picLocks noChangeAspect="1"/>
          </p:cNvPicPr>
          <p:nvPr/>
        </p:nvPicPr>
        <p:blipFill>
          <a:blip r:embed="rId3"/>
          <a:stretch>
            <a:fillRect/>
          </a:stretch>
        </p:blipFill>
        <p:spPr>
          <a:xfrm>
            <a:off x="6586041" y="4245927"/>
            <a:ext cx="203200" cy="203200"/>
          </a:xfrm>
          <a:prstGeom prst="rect">
            <a:avLst/>
          </a:prstGeom>
        </p:spPr>
      </p:pic>
      <p:sp>
        <p:nvSpPr>
          <p:cNvPr id="38" name="TextBox 37"/>
          <p:cNvSpPr txBox="1"/>
          <p:nvPr/>
        </p:nvSpPr>
        <p:spPr>
          <a:xfrm>
            <a:off x="6865441"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Invest</a:t>
            </a:r>
          </a:p>
        </p:txBody>
      </p:sp>
      <p:sp>
        <p:nvSpPr>
          <p:cNvPr id="39" name="Rounded Rectangle 38"/>
          <p:cNvSpPr/>
          <p:nvPr/>
        </p:nvSpPr>
        <p:spPr>
          <a:xfrm>
            <a:off x="80264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message-code-2C2C2A.png"/>
          <p:cNvPicPr>
            <a:picLocks noChangeAspect="1"/>
          </p:cNvPicPr>
          <p:nvPr/>
        </p:nvPicPr>
        <p:blipFill>
          <a:blip r:embed="rId8"/>
          <a:stretch>
            <a:fillRect/>
          </a:stretch>
        </p:blipFill>
        <p:spPr>
          <a:xfrm>
            <a:off x="8623300" y="2600007"/>
            <a:ext cx="508000" cy="508000"/>
          </a:xfrm>
          <a:prstGeom prst="rect">
            <a:avLst/>
          </a:prstGeom>
        </p:spPr>
      </p:pic>
      <p:sp>
        <p:nvSpPr>
          <p:cNvPr id="41" name="TextBox 40"/>
          <p:cNvSpPr txBox="1"/>
          <p:nvPr/>
        </p:nvSpPr>
        <p:spPr>
          <a:xfrm>
            <a:off x="81280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Build Prompts</a:t>
            </a:r>
          </a:p>
        </p:txBody>
      </p:sp>
      <p:pic>
        <p:nvPicPr>
          <p:cNvPr id="42" name="Picture 41" descr="user-2C2C2A.png"/>
          <p:cNvPicPr>
            <a:picLocks noChangeAspect="1"/>
          </p:cNvPicPr>
          <p:nvPr/>
        </p:nvPicPr>
        <p:blipFill>
          <a:blip r:embed="rId3"/>
          <a:stretch>
            <a:fillRect/>
          </a:stretch>
        </p:blipFill>
        <p:spPr>
          <a:xfrm>
            <a:off x="8503791" y="4245927"/>
            <a:ext cx="203200" cy="203200"/>
          </a:xfrm>
          <a:prstGeom prst="rect">
            <a:avLst/>
          </a:prstGeom>
        </p:spPr>
      </p:pic>
      <p:sp>
        <p:nvSpPr>
          <p:cNvPr id="43" name="TextBox 42"/>
          <p:cNvSpPr txBox="1"/>
          <p:nvPr/>
        </p:nvSpPr>
        <p:spPr>
          <a:xfrm>
            <a:off x="8783191"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Send</a:t>
            </a:r>
          </a:p>
        </p:txBody>
      </p:sp>
      <p:sp>
        <p:nvSpPr>
          <p:cNvPr id="44" name="Rounded Rectangle 43"/>
          <p:cNvSpPr/>
          <p:nvPr/>
        </p:nvSpPr>
        <p:spPr>
          <a:xfrm>
            <a:off x="98806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rocket-2C2C2A.png"/>
          <p:cNvPicPr>
            <a:picLocks noChangeAspect="1"/>
          </p:cNvPicPr>
          <p:nvPr/>
        </p:nvPicPr>
        <p:blipFill>
          <a:blip r:embed="rId9"/>
          <a:stretch>
            <a:fillRect/>
          </a:stretch>
        </p:blipFill>
        <p:spPr>
          <a:xfrm>
            <a:off x="10477500" y="2600007"/>
            <a:ext cx="508000" cy="508000"/>
          </a:xfrm>
          <a:prstGeom prst="rect">
            <a:avLst/>
          </a:prstGeom>
        </p:spPr>
      </p:pic>
      <p:sp>
        <p:nvSpPr>
          <p:cNvPr id="46" name="TextBox 45"/>
          <p:cNvSpPr txBox="1"/>
          <p:nvPr/>
        </p:nvSpPr>
        <p:spPr>
          <a:xfrm>
            <a:off x="99822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Launch</a:t>
            </a:r>
          </a:p>
        </p:txBody>
      </p:sp>
      <p:pic>
        <p:nvPicPr>
          <p:cNvPr id="47" name="Picture 46" descr="user-2C2C2A.png"/>
          <p:cNvPicPr>
            <a:picLocks noChangeAspect="1"/>
          </p:cNvPicPr>
          <p:nvPr/>
        </p:nvPicPr>
        <p:blipFill>
          <a:blip r:embed="rId3"/>
          <a:stretch>
            <a:fillRect/>
          </a:stretch>
        </p:blipFill>
        <p:spPr>
          <a:xfrm>
            <a:off x="10255200" y="4245927"/>
            <a:ext cx="203200" cy="203200"/>
          </a:xfrm>
          <a:prstGeom prst="rect">
            <a:avLst/>
          </a:prstGeom>
        </p:spPr>
      </p:pic>
      <p:sp>
        <p:nvSpPr>
          <p:cNvPr id="48" name="TextBox 47"/>
          <p:cNvSpPr txBox="1"/>
          <p:nvPr/>
        </p:nvSpPr>
        <p:spPr>
          <a:xfrm>
            <a:off x="10534600"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Launch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One App, Many Brands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White-Label: Same App, Your Name On It</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glossary.json brands · SLIP-2026-10-04-0630 reseller-never-free · invented app Litterline</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sp>
        <p:nvSpPr>
          <p:cNvPr id="12" name="Rounded Rectangle 11"/>
          <p:cNvSpPr/>
          <p:nvPr/>
        </p:nvSpPr>
        <p:spPr>
          <a:xfrm>
            <a:off x="1181100" y="5956300"/>
            <a:ext cx="165100" cy="139700"/>
          </a:xfrm>
          <a:prstGeom prst="roundRect">
            <a:avLst>
              <a:gd name="adj" fmla="val 18181"/>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Brand Shelf: What A Reseller Swaps</a:t>
            </a:r>
          </a:p>
        </p:txBody>
      </p:sp>
      <p:sp>
        <p:nvSpPr>
          <p:cNvPr id="14" name="Rounded Rectangle 13"/>
          <p:cNvSpPr/>
          <p:nvPr/>
        </p:nvSpPr>
        <p:spPr>
          <a:xfrm>
            <a:off x="609600" y="1795779"/>
            <a:ext cx="3522133" cy="2138680"/>
          </a:xfrm>
          <a:prstGeom prst="roundRect">
            <a:avLst>
              <a:gd name="adj" fmla="val 1425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 Same Side Corner Rectangle 14"/>
          <p:cNvSpPr/>
          <p:nvPr/>
        </p:nvSpPr>
        <p:spPr>
          <a:xfrm>
            <a:off x="746760" y="1795779"/>
            <a:ext cx="3247813"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cense-2C2C2A.png"/>
          <p:cNvPicPr>
            <a:picLocks noChangeAspect="1"/>
          </p:cNvPicPr>
          <p:nvPr/>
        </p:nvPicPr>
        <p:blipFill>
          <a:blip r:embed="rId2"/>
          <a:stretch>
            <a:fillRect/>
          </a:stretch>
        </p:blipFill>
        <p:spPr>
          <a:xfrm>
            <a:off x="812800" y="2024379"/>
            <a:ext cx="355600" cy="355600"/>
          </a:xfrm>
          <a:prstGeom prst="rect">
            <a:avLst/>
          </a:prstGeom>
        </p:spPr>
      </p:pic>
      <p:sp>
        <p:nvSpPr>
          <p:cNvPr id="17" name="TextBox 16"/>
          <p:cNvSpPr txBox="1"/>
          <p:nvPr/>
        </p:nvSpPr>
        <p:spPr>
          <a:xfrm>
            <a:off x="812800"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Litterline</a:t>
            </a:r>
          </a:p>
        </p:txBody>
      </p:sp>
      <p:sp>
        <p:nvSpPr>
          <p:cNvPr id="18" name="TextBox 17"/>
          <p:cNvSpPr txBox="1"/>
          <p:nvPr/>
        </p:nvSpPr>
        <p:spPr>
          <a:xfrm>
            <a:off x="812800"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Licence And Records Hub For</a:t>
            </a:r>
          </a:p>
          <a:p>
            <a:pPr algn="l">
              <a:lnSpc>
                <a:spcPts val="1820"/>
              </a:lnSpc>
            </a:pPr>
            <a:r>
              <a:rPr sz="1400" b="0">
                <a:solidFill>
                  <a:srgbClr val="756E65"/>
                </a:solidFill>
                <a:latin typeface="Lexend"/>
              </a:rPr>
              <a:t>Breeders · LJR7</a:t>
            </a:r>
          </a:p>
        </p:txBody>
      </p:sp>
      <p:sp>
        <p:nvSpPr>
          <p:cNvPr id="19" name="Rounded Rectangle 18"/>
          <p:cNvSpPr/>
          <p:nvPr/>
        </p:nvSpPr>
        <p:spPr>
          <a:xfrm>
            <a:off x="4334933" y="1795779"/>
            <a:ext cx="3522133" cy="2138680"/>
          </a:xfrm>
          <a:prstGeom prst="roundRect">
            <a:avLst>
              <a:gd name="adj" fmla="val 1425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 Same Side Corner Rectangle 19"/>
          <p:cNvSpPr/>
          <p:nvPr/>
        </p:nvSpPr>
        <p:spPr>
          <a:xfrm>
            <a:off x="4472093" y="1795779"/>
            <a:ext cx="3247813"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alette-2C2C2A.png"/>
          <p:cNvPicPr>
            <a:picLocks noChangeAspect="1"/>
          </p:cNvPicPr>
          <p:nvPr/>
        </p:nvPicPr>
        <p:blipFill>
          <a:blip r:embed="rId3"/>
          <a:stretch>
            <a:fillRect/>
          </a:stretch>
        </p:blipFill>
        <p:spPr>
          <a:xfrm>
            <a:off x="4538133" y="2024379"/>
            <a:ext cx="355600" cy="355600"/>
          </a:xfrm>
          <a:prstGeom prst="rect">
            <a:avLst/>
          </a:prstGeom>
        </p:spPr>
      </p:pic>
      <p:sp>
        <p:nvSpPr>
          <p:cNvPr id="22" name="TextBox 21"/>
          <p:cNvSpPr txBox="1"/>
          <p:nvPr/>
        </p:nvSpPr>
        <p:spPr>
          <a:xfrm>
            <a:off x="4538133" y="2519679"/>
            <a:ext cx="3166533" cy="6858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Puppy Classroom</a:t>
            </a:r>
          </a:p>
          <a:p>
            <a:pPr algn="l">
              <a:lnSpc>
                <a:spcPts val="2600"/>
              </a:lnSpc>
            </a:pPr>
            <a:r>
              <a:rPr sz="2000" b="1">
                <a:solidFill>
                  <a:srgbClr val="2C2C2A"/>
                </a:solidFill>
                <a:latin typeface="Lexend"/>
              </a:rPr>
              <a:t>Edition</a:t>
            </a:r>
          </a:p>
        </p:txBody>
      </p:sp>
      <p:sp>
        <p:nvSpPr>
          <p:cNvPr id="23" name="TextBox 22"/>
          <p:cNvSpPr txBox="1"/>
          <p:nvPr/>
        </p:nvSpPr>
        <p:spPr>
          <a:xfrm>
            <a:off x="4538133" y="32181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Same App, Reseller Jacket, Join</a:t>
            </a:r>
          </a:p>
          <a:p>
            <a:pPr algn="l">
              <a:lnSpc>
                <a:spcPts val="1820"/>
              </a:lnSpc>
            </a:pPr>
            <a:r>
              <a:rPr sz="1400" b="0">
                <a:solidFill>
                  <a:srgbClr val="756E65"/>
                </a:solidFill>
                <a:latin typeface="Lexend"/>
              </a:rPr>
              <a:t>Link /join/ppp</a:t>
            </a:r>
          </a:p>
        </p:txBody>
      </p:sp>
      <p:sp>
        <p:nvSpPr>
          <p:cNvPr id="24" name="Rounded Rectangle 23"/>
          <p:cNvSpPr/>
          <p:nvPr/>
        </p:nvSpPr>
        <p:spPr>
          <a:xfrm>
            <a:off x="8060266" y="1795779"/>
            <a:ext cx="3522133" cy="2138680"/>
          </a:xfrm>
          <a:prstGeom prst="roundRect">
            <a:avLst>
              <a:gd name="adj" fmla="val 1425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 Same Side Corner Rectangle 24"/>
          <p:cNvSpPr/>
          <p:nvPr/>
        </p:nvSpPr>
        <p:spPr>
          <a:xfrm>
            <a:off x="8197426" y="1795779"/>
            <a:ext cx="3247813"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uilding-store-2C2C2A.png"/>
          <p:cNvPicPr>
            <a:picLocks noChangeAspect="1"/>
          </p:cNvPicPr>
          <p:nvPr/>
        </p:nvPicPr>
        <p:blipFill>
          <a:blip r:embed="rId4"/>
          <a:stretch>
            <a:fillRect/>
          </a:stretch>
        </p:blipFill>
        <p:spPr>
          <a:xfrm>
            <a:off x="8263466" y="2024379"/>
            <a:ext cx="355600" cy="355600"/>
          </a:xfrm>
          <a:prstGeom prst="rect">
            <a:avLst/>
          </a:prstGeom>
        </p:spPr>
      </p:pic>
      <p:sp>
        <p:nvSpPr>
          <p:cNvPr id="27" name="TextBox 26"/>
          <p:cNvSpPr txBox="1"/>
          <p:nvPr/>
        </p:nvSpPr>
        <p:spPr>
          <a:xfrm>
            <a:off x="8263466"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Your Brand Here</a:t>
            </a:r>
          </a:p>
        </p:txBody>
      </p:sp>
      <p:sp>
        <p:nvSpPr>
          <p:cNvPr id="28" name="TextBox 27"/>
          <p:cNvSpPr txBox="1"/>
          <p:nvPr/>
        </p:nvSpPr>
        <p:spPr>
          <a:xfrm>
            <a:off x="8263466" y="2887979"/>
            <a:ext cx="3166533"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Your Name, Colours And Domain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Reseller Rule: Never Free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Plan Is Chosen On Your Landing Page And Carried Through</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SLIP-2026-10-04-0630-DECISION-plan-carried-from-landing-page-reseller-never-free.md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world-www-2C2C2A.png"/>
          <p:cNvPicPr>
            <a:picLocks noChangeAspect="1"/>
          </p:cNvPicPr>
          <p:nvPr/>
        </p:nvPicPr>
        <p:blipFill>
          <a:blip r:embed="rId2"/>
          <a:stretch>
            <a:fillRect/>
          </a:stretch>
        </p:blipFill>
        <p:spPr>
          <a:xfrm>
            <a:off x="1391920" y="2664460"/>
            <a:ext cx="508000" cy="508000"/>
          </a:xfrm>
          <a:prstGeom prst="rect">
            <a:avLst/>
          </a:prstGeom>
        </p:spPr>
      </p:pic>
      <p:sp>
        <p:nvSpPr>
          <p:cNvPr id="12" name="TextBox 11"/>
          <p:cNvSpPr txBox="1"/>
          <p:nvPr/>
        </p:nvSpPr>
        <p:spPr>
          <a:xfrm>
            <a:off x="736600"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1</a:t>
            </a:r>
          </a:p>
        </p:txBody>
      </p:sp>
      <p:sp>
        <p:nvSpPr>
          <p:cNvPr id="13" name="TextBox 12"/>
          <p:cNvSpPr txBox="1"/>
          <p:nvPr/>
        </p:nvSpPr>
        <p:spPr>
          <a:xfrm>
            <a:off x="711200" y="3350260"/>
            <a:ext cx="1920239"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Landing Page</a:t>
            </a:r>
          </a:p>
          <a:p>
            <a:pPr algn="ctr">
              <a:lnSpc>
                <a:spcPts val="2080"/>
              </a:lnSpc>
            </a:pPr>
            <a:r>
              <a:rPr sz="1600" b="1">
                <a:solidFill>
                  <a:srgbClr val="2C2C2A"/>
                </a:solidFill>
                <a:latin typeface="Lexend"/>
              </a:rPr>
              <a:t>Button</a:t>
            </a:r>
          </a:p>
        </p:txBody>
      </p:sp>
      <p:sp>
        <p:nvSpPr>
          <p:cNvPr id="14" name="Rounded Rectangle 13"/>
          <p:cNvSpPr/>
          <p:nvPr/>
        </p:nvSpPr>
        <p:spPr>
          <a:xfrm>
            <a:off x="2834640"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ink-2C2C2A.png"/>
          <p:cNvPicPr>
            <a:picLocks noChangeAspect="1"/>
          </p:cNvPicPr>
          <p:nvPr/>
        </p:nvPicPr>
        <p:blipFill>
          <a:blip r:embed="rId3"/>
          <a:stretch>
            <a:fillRect/>
          </a:stretch>
        </p:blipFill>
        <p:spPr>
          <a:xfrm>
            <a:off x="3616959" y="2664460"/>
            <a:ext cx="508000" cy="508000"/>
          </a:xfrm>
          <a:prstGeom prst="rect">
            <a:avLst/>
          </a:prstGeom>
        </p:spPr>
      </p:pic>
      <p:sp>
        <p:nvSpPr>
          <p:cNvPr id="16" name="TextBox 15"/>
          <p:cNvSpPr txBox="1"/>
          <p:nvPr/>
        </p:nvSpPr>
        <p:spPr>
          <a:xfrm>
            <a:off x="2961640"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2</a:t>
            </a:r>
          </a:p>
        </p:txBody>
      </p:sp>
      <p:sp>
        <p:nvSpPr>
          <p:cNvPr id="17" name="TextBox 16"/>
          <p:cNvSpPr txBox="1"/>
          <p:nvPr/>
        </p:nvSpPr>
        <p:spPr>
          <a:xfrm>
            <a:off x="2936240" y="3350260"/>
            <a:ext cx="1920239"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Link Carries</a:t>
            </a:r>
          </a:p>
          <a:p>
            <a:pPr algn="ctr">
              <a:lnSpc>
                <a:spcPts val="2080"/>
              </a:lnSpc>
            </a:pPr>
            <a:r>
              <a:rPr sz="1600" b="1">
                <a:solidFill>
                  <a:srgbClr val="2C2C2A"/>
                </a:solidFill>
                <a:latin typeface="Lexend"/>
              </a:rPr>
              <a:t>Brand And Plan</a:t>
            </a:r>
          </a:p>
        </p:txBody>
      </p:sp>
      <p:sp>
        <p:nvSpPr>
          <p:cNvPr id="18" name="Rounded Rectangle 17"/>
          <p:cNvSpPr/>
          <p:nvPr/>
        </p:nvSpPr>
        <p:spPr>
          <a:xfrm>
            <a:off x="5059680"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ogin-2C2C2A.png"/>
          <p:cNvPicPr>
            <a:picLocks noChangeAspect="1"/>
          </p:cNvPicPr>
          <p:nvPr/>
        </p:nvPicPr>
        <p:blipFill>
          <a:blip r:embed="rId4"/>
          <a:stretch>
            <a:fillRect/>
          </a:stretch>
        </p:blipFill>
        <p:spPr>
          <a:xfrm>
            <a:off x="5842000" y="2664460"/>
            <a:ext cx="508000" cy="508000"/>
          </a:xfrm>
          <a:prstGeom prst="rect">
            <a:avLst/>
          </a:prstGeom>
        </p:spPr>
      </p:pic>
      <p:sp>
        <p:nvSpPr>
          <p:cNvPr id="20" name="TextBox 19"/>
          <p:cNvSpPr txBox="1"/>
          <p:nvPr/>
        </p:nvSpPr>
        <p:spPr>
          <a:xfrm>
            <a:off x="5186680"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3</a:t>
            </a:r>
          </a:p>
        </p:txBody>
      </p:sp>
      <p:sp>
        <p:nvSpPr>
          <p:cNvPr id="21" name="TextBox 20"/>
          <p:cNvSpPr txBox="1"/>
          <p:nvPr/>
        </p:nvSpPr>
        <p:spPr>
          <a:xfrm>
            <a:off x="5161280" y="3350260"/>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Sign In First</a:t>
            </a:r>
          </a:p>
        </p:txBody>
      </p:sp>
      <p:sp>
        <p:nvSpPr>
          <p:cNvPr id="22" name="Rounded Rectangle 21"/>
          <p:cNvSpPr/>
          <p:nvPr/>
        </p:nvSpPr>
        <p:spPr>
          <a:xfrm>
            <a:off x="7284719"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ash-2C2C2A.png"/>
          <p:cNvPicPr>
            <a:picLocks noChangeAspect="1"/>
          </p:cNvPicPr>
          <p:nvPr/>
        </p:nvPicPr>
        <p:blipFill>
          <a:blip r:embed="rId5"/>
          <a:stretch>
            <a:fillRect/>
          </a:stretch>
        </p:blipFill>
        <p:spPr>
          <a:xfrm>
            <a:off x="8067039" y="2664460"/>
            <a:ext cx="508000" cy="508000"/>
          </a:xfrm>
          <a:prstGeom prst="rect">
            <a:avLst/>
          </a:prstGeom>
        </p:spPr>
      </p:pic>
      <p:sp>
        <p:nvSpPr>
          <p:cNvPr id="24" name="TextBox 23"/>
          <p:cNvSpPr txBox="1"/>
          <p:nvPr/>
        </p:nvSpPr>
        <p:spPr>
          <a:xfrm>
            <a:off x="7411719"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4</a:t>
            </a:r>
          </a:p>
        </p:txBody>
      </p:sp>
      <p:sp>
        <p:nvSpPr>
          <p:cNvPr id="25" name="TextBox 24"/>
          <p:cNvSpPr txBox="1"/>
          <p:nvPr/>
        </p:nvSpPr>
        <p:spPr>
          <a:xfrm>
            <a:off x="7386319" y="3350260"/>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Pay Second</a:t>
            </a:r>
          </a:p>
        </p:txBody>
      </p:sp>
      <p:sp>
        <p:nvSpPr>
          <p:cNvPr id="26" name="Rounded Rectangle 25"/>
          <p:cNvSpPr/>
          <p:nvPr/>
        </p:nvSpPr>
        <p:spPr>
          <a:xfrm>
            <a:off x="9509760"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ayout-dashboard-2C2C2A.png"/>
          <p:cNvPicPr>
            <a:picLocks noChangeAspect="1"/>
          </p:cNvPicPr>
          <p:nvPr/>
        </p:nvPicPr>
        <p:blipFill>
          <a:blip r:embed="rId6"/>
          <a:stretch>
            <a:fillRect/>
          </a:stretch>
        </p:blipFill>
        <p:spPr>
          <a:xfrm>
            <a:off x="10292080" y="2664460"/>
            <a:ext cx="508000" cy="508000"/>
          </a:xfrm>
          <a:prstGeom prst="rect">
            <a:avLst/>
          </a:prstGeom>
        </p:spPr>
      </p:pic>
      <p:sp>
        <p:nvSpPr>
          <p:cNvPr id="28" name="TextBox 27"/>
          <p:cNvSpPr txBox="1"/>
          <p:nvPr/>
        </p:nvSpPr>
        <p:spPr>
          <a:xfrm>
            <a:off x="9636760"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5</a:t>
            </a:r>
          </a:p>
        </p:txBody>
      </p:sp>
      <p:sp>
        <p:nvSpPr>
          <p:cNvPr id="29" name="TextBox 28"/>
          <p:cNvSpPr txBox="1"/>
          <p:nvPr/>
        </p:nvSpPr>
        <p:spPr>
          <a:xfrm>
            <a:off x="9611360" y="3350260"/>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Into The App</a:t>
            </a:r>
          </a:p>
        </p:txBody>
      </p:sp>
      <p:sp>
        <p:nvSpPr>
          <p:cNvPr id="30" name="TextBox 29"/>
          <p:cNvSpPr txBox="1"/>
          <p:nvPr/>
        </p:nvSpPr>
        <p:spPr>
          <a:xfrm>
            <a:off x="609600" y="4437380"/>
            <a:ext cx="11023600" cy="58674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Worked Example: /join/ppp?plan=plus-yearly. A Reseller Brand Has No Free Plan; The Server Refuses</a:t>
            </a:r>
          </a:p>
          <a:p>
            <a:pPr algn="l">
              <a:lnSpc>
                <a:spcPts val="2210"/>
              </a:lnSpc>
            </a:pPr>
            <a:r>
              <a:rPr sz="1700" b="0">
                <a:solidFill>
                  <a:srgbClr val="756E65"/>
                </a:solidFill>
                <a:latin typeface="Lexend"/>
              </a:rPr>
              <a:t>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You Get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Stack</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Part 1 · prices TO CONFIRM</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1744979"/>
            <a:ext cx="10972800" cy="3441700"/>
          </a:xfrm>
          <a:prstGeom prst="roundRect">
            <a:avLst>
              <a:gd name="adj" fmla="val 8856"/>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2000" y="1896109"/>
            <a:ext cx="2542540" cy="256540"/>
          </a:xfrm>
          <a:prstGeom prst="rect">
            <a:avLst/>
          </a:prstGeom>
          <a:noFill/>
        </p:spPr>
        <p:txBody>
          <a:bodyPr wrap="square" lIns="0" rIns="0" tIns="0" bIns="0" anchor="t">
            <a:noAutofit/>
          </a:bodyPr>
          <a:lstStyle/>
          <a:p>
            <a:pPr algn="l">
              <a:lnSpc>
                <a:spcPts val="1820"/>
              </a:lnSpc>
            </a:pPr>
            <a:r>
              <a:rPr sz="1400" b="1">
                <a:solidFill>
                  <a:srgbClr val="2C2C2A"/>
                </a:solidFill>
                <a:latin typeface="Lexend"/>
              </a:rPr>
              <a:t>Part</a:t>
            </a:r>
          </a:p>
        </p:txBody>
      </p:sp>
      <p:sp>
        <p:nvSpPr>
          <p:cNvPr id="12" name="TextBox 11"/>
          <p:cNvSpPr txBox="1"/>
          <p:nvPr/>
        </p:nvSpPr>
        <p:spPr>
          <a:xfrm>
            <a:off x="3444240" y="1896109"/>
            <a:ext cx="4737100" cy="256540"/>
          </a:xfrm>
          <a:prstGeom prst="rect">
            <a:avLst/>
          </a:prstGeom>
          <a:noFill/>
        </p:spPr>
        <p:txBody>
          <a:bodyPr wrap="square" lIns="0" rIns="0" tIns="0" bIns="0" anchor="t">
            <a:noAutofit/>
          </a:bodyPr>
          <a:lstStyle/>
          <a:p>
            <a:pPr algn="l">
              <a:lnSpc>
                <a:spcPts val="1820"/>
              </a:lnSpc>
            </a:pPr>
            <a:r>
              <a:rPr sz="1400" b="1">
                <a:solidFill>
                  <a:srgbClr val="2C2C2A"/>
                </a:solidFill>
                <a:latin typeface="Lexend"/>
              </a:rPr>
              <a:t>What It Does</a:t>
            </a:r>
          </a:p>
        </p:txBody>
      </p:sp>
      <p:sp>
        <p:nvSpPr>
          <p:cNvPr id="13" name="TextBox 12"/>
          <p:cNvSpPr txBox="1"/>
          <p:nvPr/>
        </p:nvSpPr>
        <p:spPr>
          <a:xfrm>
            <a:off x="8321040" y="1896109"/>
            <a:ext cx="3274059" cy="256540"/>
          </a:xfrm>
          <a:prstGeom prst="rect">
            <a:avLst/>
          </a:prstGeom>
          <a:noFill/>
        </p:spPr>
        <p:txBody>
          <a:bodyPr wrap="square" lIns="0" rIns="0" tIns="0" bIns="0" anchor="t">
            <a:noAutofit/>
          </a:bodyPr>
          <a:lstStyle/>
          <a:p>
            <a:pPr algn="l">
              <a:lnSpc>
                <a:spcPts val="1820"/>
              </a:lnSpc>
            </a:pPr>
            <a:r>
              <a:rPr sz="1400" b="1">
                <a:solidFill>
                  <a:srgbClr val="2C2C2A"/>
                </a:solidFill>
                <a:latin typeface="Lexend"/>
              </a:rPr>
              <a:t>Replaces</a:t>
            </a:r>
          </a:p>
        </p:txBody>
      </p:sp>
      <p:sp>
        <p:nvSpPr>
          <p:cNvPr id="14" name="Rectangle 13"/>
          <p:cNvSpPr/>
          <p:nvPr/>
        </p:nvSpPr>
        <p:spPr>
          <a:xfrm>
            <a:off x="711200" y="22275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2000" y="2366010"/>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Idea Review</a:t>
            </a:r>
          </a:p>
        </p:txBody>
      </p:sp>
      <p:sp>
        <p:nvSpPr>
          <p:cNvPr id="16" name="TextBox 15"/>
          <p:cNvSpPr txBox="1"/>
          <p:nvPr/>
        </p:nvSpPr>
        <p:spPr>
          <a:xfrm>
            <a:off x="3444240" y="2366010"/>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Screen And Merit Gates On Your Idea</a:t>
            </a:r>
          </a:p>
        </p:txBody>
      </p:sp>
      <p:sp>
        <p:nvSpPr>
          <p:cNvPr id="17" name="TextBox 16"/>
          <p:cNvSpPr txBox="1"/>
          <p:nvPr/>
        </p:nvSpPr>
        <p:spPr>
          <a:xfrm>
            <a:off x="8321040" y="2366010"/>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Guesswork</a:t>
            </a:r>
          </a:p>
        </p:txBody>
      </p:sp>
      <p:sp>
        <p:nvSpPr>
          <p:cNvPr id="18" name="Rectangle 17"/>
          <p:cNvSpPr/>
          <p:nvPr/>
        </p:nvSpPr>
        <p:spPr>
          <a:xfrm>
            <a:off x="711200" y="27101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2000" y="2848610"/>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Research Pack</a:t>
            </a:r>
          </a:p>
        </p:txBody>
      </p:sp>
      <p:sp>
        <p:nvSpPr>
          <p:cNvPr id="20" name="TextBox 19"/>
          <p:cNvSpPr txBox="1"/>
          <p:nvPr/>
        </p:nvSpPr>
        <p:spPr>
          <a:xfrm>
            <a:off x="3444240" y="2848610"/>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Competitors, Market, Rules Flag</a:t>
            </a:r>
          </a:p>
        </p:txBody>
      </p:sp>
      <p:sp>
        <p:nvSpPr>
          <p:cNvPr id="21" name="TextBox 20"/>
          <p:cNvSpPr txBox="1"/>
          <p:nvPr/>
        </p:nvSpPr>
        <p:spPr>
          <a:xfrm>
            <a:off x="8321040" y="2848610"/>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Weeks Of Searching</a:t>
            </a:r>
          </a:p>
        </p:txBody>
      </p:sp>
      <p:sp>
        <p:nvSpPr>
          <p:cNvPr id="22" name="Rectangle 21"/>
          <p:cNvSpPr/>
          <p:nvPr/>
        </p:nvSpPr>
        <p:spPr>
          <a:xfrm>
            <a:off x="711200" y="31927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2000" y="3331209"/>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Your App</a:t>
            </a:r>
          </a:p>
        </p:txBody>
      </p:sp>
      <p:sp>
        <p:nvSpPr>
          <p:cNvPr id="24" name="TextBox 23"/>
          <p:cNvSpPr txBox="1"/>
          <p:nvPr/>
        </p:nvSpPr>
        <p:spPr>
          <a:xfrm>
            <a:off x="3444240" y="3331209"/>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Built From Proven Bricks And Kits</a:t>
            </a:r>
          </a:p>
        </p:txBody>
      </p:sp>
      <p:sp>
        <p:nvSpPr>
          <p:cNvPr id="25" name="TextBox 24"/>
          <p:cNvSpPr txBox="1"/>
          <p:nvPr/>
        </p:nvSpPr>
        <p:spPr>
          <a:xfrm>
            <a:off x="8321040" y="3331209"/>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A Hand-Made Build</a:t>
            </a:r>
          </a:p>
        </p:txBody>
      </p:sp>
      <p:sp>
        <p:nvSpPr>
          <p:cNvPr id="26" name="Rectangle 25"/>
          <p:cNvSpPr/>
          <p:nvPr/>
        </p:nvSpPr>
        <p:spPr>
          <a:xfrm>
            <a:off x="711200" y="36753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62000" y="3813809"/>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Walls And Tests</a:t>
            </a:r>
          </a:p>
        </p:txBody>
      </p:sp>
      <p:sp>
        <p:nvSpPr>
          <p:cNvPr id="28" name="TextBox 27"/>
          <p:cNvSpPr txBox="1"/>
          <p:nvPr/>
        </p:nvSpPr>
        <p:spPr>
          <a:xfrm>
            <a:off x="3444240" y="3813809"/>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Leak Tests Before Launch</a:t>
            </a:r>
          </a:p>
        </p:txBody>
      </p:sp>
      <p:sp>
        <p:nvSpPr>
          <p:cNvPr id="29" name="TextBox 28"/>
          <p:cNvSpPr txBox="1"/>
          <p:nvPr/>
        </p:nvSpPr>
        <p:spPr>
          <a:xfrm>
            <a:off x="8321040" y="3813809"/>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Hoping It's Safe</a:t>
            </a:r>
          </a:p>
        </p:txBody>
      </p:sp>
      <p:sp>
        <p:nvSpPr>
          <p:cNvPr id="30" name="Rectangle 29"/>
          <p:cNvSpPr/>
          <p:nvPr/>
        </p:nvSpPr>
        <p:spPr>
          <a:xfrm>
            <a:off x="711200" y="41579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2000" y="4296409"/>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Launch Kit</a:t>
            </a:r>
          </a:p>
        </p:txBody>
      </p:sp>
      <p:sp>
        <p:nvSpPr>
          <p:cNvPr id="32" name="TextBox 31"/>
          <p:cNvSpPr txBox="1"/>
          <p:nvPr/>
        </p:nvSpPr>
        <p:spPr>
          <a:xfrm>
            <a:off x="3444240" y="4296409"/>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Sales Page, Domain, Funnels</a:t>
            </a:r>
          </a:p>
        </p:txBody>
      </p:sp>
      <p:sp>
        <p:nvSpPr>
          <p:cNvPr id="33" name="TextBox 32"/>
          <p:cNvSpPr txBox="1"/>
          <p:nvPr/>
        </p:nvSpPr>
        <p:spPr>
          <a:xfrm>
            <a:off x="8321040" y="4296409"/>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A Separate Agency</a:t>
            </a:r>
          </a:p>
        </p:txBody>
      </p:sp>
      <p:sp>
        <p:nvSpPr>
          <p:cNvPr id="34" name="Rectangle 33"/>
          <p:cNvSpPr/>
          <p:nvPr/>
        </p:nvSpPr>
        <p:spPr>
          <a:xfrm>
            <a:off x="711200" y="4640580"/>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2000" y="4779009"/>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Daily Watch</a:t>
            </a:r>
          </a:p>
        </p:txBody>
      </p:sp>
      <p:sp>
        <p:nvSpPr>
          <p:cNvPr id="36" name="TextBox 35"/>
          <p:cNvSpPr txBox="1"/>
          <p:nvPr/>
        </p:nvSpPr>
        <p:spPr>
          <a:xfrm>
            <a:off x="3444240" y="4779009"/>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Leak Probe, Monitoring, Rescue</a:t>
            </a:r>
          </a:p>
        </p:txBody>
      </p:sp>
      <p:sp>
        <p:nvSpPr>
          <p:cNvPr id="37" name="TextBox 36"/>
          <p:cNvSpPr txBox="1"/>
          <p:nvPr/>
        </p:nvSpPr>
        <p:spPr>
          <a:xfrm>
            <a:off x="8321040" y="4779009"/>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Finding Out From Customers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This Leads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Pick The Step That Fits You</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D9 value ladder · reseller rule SLIP-2026-10-04-0630</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chool-2C2C2A.png"/>
          <p:cNvPicPr>
            <a:picLocks noChangeAspect="1"/>
          </p:cNvPicPr>
          <p:nvPr/>
        </p:nvPicPr>
        <p:blipFill>
          <a:blip r:embed="rId2"/>
          <a:stretch>
            <a:fillRect/>
          </a:stretch>
        </p:blipFill>
        <p:spPr>
          <a:xfrm>
            <a:off x="1391920" y="2936875"/>
            <a:ext cx="508000" cy="508000"/>
          </a:xfrm>
          <a:prstGeom prst="rect">
            <a:avLst/>
          </a:prstGeom>
        </p:spPr>
      </p:pic>
      <p:sp>
        <p:nvSpPr>
          <p:cNvPr id="12" name="TextBox 11"/>
          <p:cNvSpPr txBox="1"/>
          <p:nvPr/>
        </p:nvSpPr>
        <p:spPr>
          <a:xfrm>
            <a:off x="73660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1</a:t>
            </a:r>
          </a:p>
        </p:txBody>
      </p:sp>
      <p:sp>
        <p:nvSpPr>
          <p:cNvPr id="13" name="TextBox 12"/>
          <p:cNvSpPr txBox="1"/>
          <p:nvPr/>
        </p:nvSpPr>
        <p:spPr>
          <a:xfrm>
            <a:off x="71120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This Course</a:t>
            </a:r>
          </a:p>
        </p:txBody>
      </p:sp>
      <p:sp>
        <p:nvSpPr>
          <p:cNvPr id="14" name="Rounded Rectangle 13"/>
          <p:cNvSpPr/>
          <p:nvPr/>
        </p:nvSpPr>
        <p:spPr>
          <a:xfrm>
            <a:off x="283464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orms-2C2C2A.png"/>
          <p:cNvPicPr>
            <a:picLocks noChangeAspect="1"/>
          </p:cNvPicPr>
          <p:nvPr/>
        </p:nvPicPr>
        <p:blipFill>
          <a:blip r:embed="rId3"/>
          <a:stretch>
            <a:fillRect/>
          </a:stretch>
        </p:blipFill>
        <p:spPr>
          <a:xfrm>
            <a:off x="3616959" y="2936875"/>
            <a:ext cx="508000" cy="508000"/>
          </a:xfrm>
          <a:prstGeom prst="rect">
            <a:avLst/>
          </a:prstGeom>
        </p:spPr>
      </p:pic>
      <p:sp>
        <p:nvSpPr>
          <p:cNvPr id="16" name="TextBox 15"/>
          <p:cNvSpPr txBox="1"/>
          <p:nvPr/>
        </p:nvSpPr>
        <p:spPr>
          <a:xfrm>
            <a:off x="296164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2</a:t>
            </a:r>
          </a:p>
        </p:txBody>
      </p:sp>
      <p:sp>
        <p:nvSpPr>
          <p:cNvPr id="17" name="TextBox 16"/>
          <p:cNvSpPr txBox="1"/>
          <p:nvPr/>
        </p:nvSpPr>
        <p:spPr>
          <a:xfrm>
            <a:off x="293624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Idea Form</a:t>
            </a:r>
          </a:p>
        </p:txBody>
      </p:sp>
      <p:sp>
        <p:nvSpPr>
          <p:cNvPr id="18" name="Rounded Rectangle 17"/>
          <p:cNvSpPr/>
          <p:nvPr/>
        </p:nvSpPr>
        <p:spPr>
          <a:xfrm>
            <a:off x="505968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actory-2-2C2C2A.png"/>
          <p:cNvPicPr>
            <a:picLocks noChangeAspect="1"/>
          </p:cNvPicPr>
          <p:nvPr/>
        </p:nvPicPr>
        <p:blipFill>
          <a:blip r:embed="rId4"/>
          <a:stretch>
            <a:fillRect/>
          </a:stretch>
        </p:blipFill>
        <p:spPr>
          <a:xfrm>
            <a:off x="5842000" y="2936875"/>
            <a:ext cx="508000" cy="508000"/>
          </a:xfrm>
          <a:prstGeom prst="rect">
            <a:avLst/>
          </a:prstGeom>
        </p:spPr>
      </p:pic>
      <p:sp>
        <p:nvSpPr>
          <p:cNvPr id="20" name="TextBox 19"/>
          <p:cNvSpPr txBox="1"/>
          <p:nvPr/>
        </p:nvSpPr>
        <p:spPr>
          <a:xfrm>
            <a:off x="518668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3</a:t>
            </a:r>
          </a:p>
        </p:txBody>
      </p:sp>
      <p:sp>
        <p:nvSpPr>
          <p:cNvPr id="21" name="TextBox 20"/>
          <p:cNvSpPr txBox="1"/>
          <p:nvPr/>
        </p:nvSpPr>
        <p:spPr>
          <a:xfrm>
            <a:off x="516128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Your App Built</a:t>
            </a:r>
          </a:p>
        </p:txBody>
      </p:sp>
      <p:sp>
        <p:nvSpPr>
          <p:cNvPr id="22" name="Rounded Rectangle 21"/>
          <p:cNvSpPr/>
          <p:nvPr/>
        </p:nvSpPr>
        <p:spPr>
          <a:xfrm>
            <a:off x="7284719"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alette-2C2C2A.png"/>
          <p:cNvPicPr>
            <a:picLocks noChangeAspect="1"/>
          </p:cNvPicPr>
          <p:nvPr/>
        </p:nvPicPr>
        <p:blipFill>
          <a:blip r:embed="rId5"/>
          <a:stretch>
            <a:fillRect/>
          </a:stretch>
        </p:blipFill>
        <p:spPr>
          <a:xfrm>
            <a:off x="8067039" y="2936875"/>
            <a:ext cx="508000" cy="508000"/>
          </a:xfrm>
          <a:prstGeom prst="rect">
            <a:avLst/>
          </a:prstGeom>
        </p:spPr>
      </p:pic>
      <p:sp>
        <p:nvSpPr>
          <p:cNvPr id="24" name="TextBox 23"/>
          <p:cNvSpPr txBox="1"/>
          <p:nvPr/>
        </p:nvSpPr>
        <p:spPr>
          <a:xfrm>
            <a:off x="7411719"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4</a:t>
            </a:r>
          </a:p>
        </p:txBody>
      </p:sp>
      <p:sp>
        <p:nvSpPr>
          <p:cNvPr id="25" name="TextBox 24"/>
          <p:cNvSpPr txBox="1"/>
          <p:nvPr/>
        </p:nvSpPr>
        <p:spPr>
          <a:xfrm>
            <a:off x="7386319"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Reseller Plan</a:t>
            </a:r>
          </a:p>
        </p:txBody>
      </p:sp>
      <p:sp>
        <p:nvSpPr>
          <p:cNvPr id="26" name="Rounded Rectangle 25"/>
          <p:cNvSpPr/>
          <p:nvPr/>
        </p:nvSpPr>
        <p:spPr>
          <a:xfrm>
            <a:off x="950976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ink-2C2C2A.png"/>
          <p:cNvPicPr>
            <a:picLocks noChangeAspect="1"/>
          </p:cNvPicPr>
          <p:nvPr/>
        </p:nvPicPr>
        <p:blipFill>
          <a:blip r:embed="rId6"/>
          <a:stretch>
            <a:fillRect/>
          </a:stretch>
        </p:blipFill>
        <p:spPr>
          <a:xfrm>
            <a:off x="10292080" y="2936875"/>
            <a:ext cx="508000" cy="508000"/>
          </a:xfrm>
          <a:prstGeom prst="rect">
            <a:avLst/>
          </a:prstGeom>
        </p:spPr>
      </p:pic>
      <p:sp>
        <p:nvSpPr>
          <p:cNvPr id="28" name="TextBox 27"/>
          <p:cNvSpPr txBox="1"/>
          <p:nvPr/>
        </p:nvSpPr>
        <p:spPr>
          <a:xfrm>
            <a:off x="963676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5</a:t>
            </a:r>
          </a:p>
        </p:txBody>
      </p:sp>
      <p:sp>
        <p:nvSpPr>
          <p:cNvPr id="29" name="TextBox 28"/>
          <p:cNvSpPr txBox="1"/>
          <p:nvPr/>
        </p:nvSpPr>
        <p:spPr>
          <a:xfrm>
            <a:off x="961136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Partner Link</a:t>
            </a:r>
          </a:p>
        </p:txBody>
      </p:sp>
      <p:sp>
        <p:nvSpPr>
          <p:cNvPr id="30" name="TextBox 29"/>
          <p:cNvSpPr txBox="1"/>
          <p:nvPr/>
        </p:nvSpPr>
        <p:spPr>
          <a:xfrm>
            <a:off x="609600" y="444563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Start Small: The Idea Form Is Free To Fill 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Two Choices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What Happens Next Is Up To You</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1795779"/>
            <a:ext cx="5384800" cy="1577340"/>
          </a:xfrm>
          <a:prstGeom prst="roundRect">
            <a:avLst>
              <a:gd name="adj" fmla="val 1932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hourglass-2C2C2A.png"/>
          <p:cNvPicPr>
            <a:picLocks noChangeAspect="1"/>
          </p:cNvPicPr>
          <p:nvPr/>
        </p:nvPicPr>
        <p:blipFill>
          <a:blip r:embed="rId2"/>
          <a:stretch>
            <a:fillRect/>
          </a:stretch>
        </p:blipFill>
        <p:spPr>
          <a:xfrm>
            <a:off x="812800" y="2024379"/>
            <a:ext cx="355600" cy="355600"/>
          </a:xfrm>
          <a:prstGeom prst="rect">
            <a:avLst/>
          </a:prstGeom>
        </p:spPr>
      </p:pic>
      <p:sp>
        <p:nvSpPr>
          <p:cNvPr id="12" name="TextBox 11"/>
          <p:cNvSpPr txBox="1"/>
          <p:nvPr/>
        </p:nvSpPr>
        <p:spPr>
          <a:xfrm>
            <a:off x="812800" y="2519679"/>
            <a:ext cx="5029200"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Keep Going As You Are</a:t>
            </a:r>
          </a:p>
        </p:txBody>
      </p:sp>
      <p:sp>
        <p:nvSpPr>
          <p:cNvPr id="13" name="TextBox 12"/>
          <p:cNvSpPr txBox="1"/>
          <p:nvPr/>
        </p:nvSpPr>
        <p:spPr>
          <a:xfrm>
            <a:off x="812800" y="2887979"/>
            <a:ext cx="5029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Paper, Spreadsheets, Apps That Don't Talk</a:t>
            </a:r>
          </a:p>
        </p:txBody>
      </p:sp>
      <p:sp>
        <p:nvSpPr>
          <p:cNvPr id="14" name="Rounded Rectangle 13"/>
          <p:cNvSpPr/>
          <p:nvPr/>
        </p:nvSpPr>
        <p:spPr>
          <a:xfrm>
            <a:off x="6197600" y="1795779"/>
            <a:ext cx="5384800" cy="1577340"/>
          </a:xfrm>
          <a:prstGeom prst="roundRect">
            <a:avLst>
              <a:gd name="adj" fmla="val 1932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nd-2C2C2A.png"/>
          <p:cNvPicPr>
            <a:picLocks noChangeAspect="1"/>
          </p:cNvPicPr>
          <p:nvPr/>
        </p:nvPicPr>
        <p:blipFill>
          <a:blip r:embed="rId3"/>
          <a:stretch>
            <a:fillRect/>
          </a:stretch>
        </p:blipFill>
        <p:spPr>
          <a:xfrm>
            <a:off x="6400800" y="2024379"/>
            <a:ext cx="355600" cy="355600"/>
          </a:xfrm>
          <a:prstGeom prst="rect">
            <a:avLst/>
          </a:prstGeom>
        </p:spPr>
      </p:pic>
      <p:sp>
        <p:nvSpPr>
          <p:cNvPr id="16" name="TextBox 15"/>
          <p:cNvSpPr txBox="1"/>
          <p:nvPr/>
        </p:nvSpPr>
        <p:spPr>
          <a:xfrm>
            <a:off x="6400800" y="2519679"/>
            <a:ext cx="5029200"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Send One Idea</a:t>
            </a:r>
          </a:p>
        </p:txBody>
      </p:sp>
      <p:sp>
        <p:nvSpPr>
          <p:cNvPr id="17" name="TextBox 16"/>
          <p:cNvSpPr txBox="1"/>
          <p:nvPr/>
        </p:nvSpPr>
        <p:spPr>
          <a:xfrm>
            <a:off x="6400800" y="2887979"/>
            <a:ext cx="5029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Ten Minutes On The Form, The Factory Does The Rest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Start Here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Three Ways To Take The Next Step</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1808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1871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1</a:t>
            </a:r>
          </a:p>
        </p:txBody>
      </p:sp>
      <p:sp>
        <p:nvSpPr>
          <p:cNvPr id="12" name="TextBox 11"/>
          <p:cNvSpPr txBox="1"/>
          <p:nvPr/>
        </p:nvSpPr>
        <p:spPr>
          <a:xfrm>
            <a:off x="1219200" y="1859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Fill In The Idea Form</a:t>
            </a:r>
          </a:p>
        </p:txBody>
      </p:sp>
      <p:sp>
        <p:nvSpPr>
          <p:cNvPr id="13" name="Rounded Rectangle 12"/>
          <p:cNvSpPr/>
          <p:nvPr/>
        </p:nvSpPr>
        <p:spPr>
          <a:xfrm>
            <a:off x="609600" y="2316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9600" y="2379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2</a:t>
            </a:r>
          </a:p>
        </p:txBody>
      </p:sp>
      <p:sp>
        <p:nvSpPr>
          <p:cNvPr id="15" name="TextBox 14"/>
          <p:cNvSpPr txBox="1"/>
          <p:nvPr/>
        </p:nvSpPr>
        <p:spPr>
          <a:xfrm>
            <a:off x="1219200" y="2367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Ask About A Reseller Plan For Your Brand</a:t>
            </a:r>
          </a:p>
        </p:txBody>
      </p:sp>
      <p:sp>
        <p:nvSpPr>
          <p:cNvPr id="16" name="Rounded Rectangle 15"/>
          <p:cNvSpPr/>
          <p:nvPr/>
        </p:nvSpPr>
        <p:spPr>
          <a:xfrm>
            <a:off x="609600" y="2824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9600" y="2887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3</a:t>
            </a:r>
          </a:p>
        </p:txBody>
      </p:sp>
      <p:sp>
        <p:nvSpPr>
          <p:cNvPr id="18" name="TextBox 17"/>
          <p:cNvSpPr txBox="1"/>
          <p:nvPr/>
        </p:nvSpPr>
        <p:spPr>
          <a:xfrm>
            <a:off x="1219200" y="2875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Share Your Partner Link With A Business You Know</a:t>
            </a:r>
          </a:p>
        </p:txBody>
      </p:sp>
      <p:sp>
        <p:nvSpPr>
          <p:cNvPr id="19" name="Rounded Rectangle 18"/>
          <p:cNvSpPr/>
          <p:nvPr/>
        </p:nvSpPr>
        <p:spPr>
          <a:xfrm>
            <a:off x="8509000" y="1871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2"/>
          <a:stretch>
            <a:fillRect/>
          </a:stretch>
        </p:blipFill>
        <p:spPr>
          <a:xfrm>
            <a:off x="8699500" y="2062479"/>
            <a:ext cx="279400" cy="279400"/>
          </a:xfrm>
          <a:prstGeom prst="rect">
            <a:avLst/>
          </a:prstGeom>
        </p:spPr>
      </p:pic>
      <p:sp>
        <p:nvSpPr>
          <p:cNvPr id="21" name="TextBox 20"/>
          <p:cNvSpPr txBox="1"/>
          <p:nvPr/>
        </p:nvSpPr>
        <p:spPr>
          <a:xfrm>
            <a:off x="9118600" y="2049779"/>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Idea Form</a:t>
            </a:r>
          </a:p>
        </p:txBody>
      </p:sp>
      <p:sp>
        <p:nvSpPr>
          <p:cNvPr id="22" name="TextBox 21"/>
          <p:cNvSpPr txBox="1"/>
          <p:nvPr/>
        </p:nvSpPr>
        <p:spPr>
          <a:xfrm>
            <a:off x="9118600" y="2354579"/>
            <a:ext cx="23622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Link: TO CONFIRM</a:t>
            </a:r>
          </a:p>
        </p:txBody>
      </p:sp>
      <p:sp>
        <p:nvSpPr>
          <p:cNvPr id="23" name="Rounded Rectangle 22"/>
          <p:cNvSpPr/>
          <p:nvPr/>
        </p:nvSpPr>
        <p:spPr>
          <a:xfrm>
            <a:off x="8509000" y="3014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lette-2C2C2A.png"/>
          <p:cNvPicPr>
            <a:picLocks noChangeAspect="1"/>
          </p:cNvPicPr>
          <p:nvPr/>
        </p:nvPicPr>
        <p:blipFill>
          <a:blip r:embed="rId3"/>
          <a:stretch>
            <a:fillRect/>
          </a:stretch>
        </p:blipFill>
        <p:spPr>
          <a:xfrm>
            <a:off x="8699500" y="3205479"/>
            <a:ext cx="279400" cy="279400"/>
          </a:xfrm>
          <a:prstGeom prst="rect">
            <a:avLst/>
          </a:prstGeom>
        </p:spPr>
      </p:pic>
      <p:sp>
        <p:nvSpPr>
          <p:cNvPr id="25" name="TextBox 24"/>
          <p:cNvSpPr txBox="1"/>
          <p:nvPr/>
        </p:nvSpPr>
        <p:spPr>
          <a:xfrm>
            <a:off x="9118600" y="3192779"/>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Reseller Plan</a:t>
            </a:r>
          </a:p>
        </p:txBody>
      </p:sp>
      <p:sp>
        <p:nvSpPr>
          <p:cNvPr id="26" name="TextBox 25"/>
          <p:cNvSpPr txBox="1"/>
          <p:nvPr/>
        </p:nvSpPr>
        <p:spPr>
          <a:xfrm>
            <a:off x="9118600" y="3497579"/>
            <a:ext cx="23622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TO CONFIRM</a:t>
            </a:r>
          </a:p>
        </p:txBody>
      </p:sp>
      <p:sp>
        <p:nvSpPr>
          <p:cNvPr id="27" name="Rounded Rectangle 26"/>
          <p:cNvSpPr/>
          <p:nvPr/>
        </p:nvSpPr>
        <p:spPr>
          <a:xfrm>
            <a:off x="8509000" y="4157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ink-2C2C2A.png"/>
          <p:cNvPicPr>
            <a:picLocks noChangeAspect="1"/>
          </p:cNvPicPr>
          <p:nvPr/>
        </p:nvPicPr>
        <p:blipFill>
          <a:blip r:embed="rId4"/>
          <a:stretch>
            <a:fillRect/>
          </a:stretch>
        </p:blipFill>
        <p:spPr>
          <a:xfrm>
            <a:off x="8699500" y="4348480"/>
            <a:ext cx="279400" cy="279400"/>
          </a:xfrm>
          <a:prstGeom prst="rect">
            <a:avLst/>
          </a:prstGeom>
        </p:spPr>
      </p:pic>
      <p:sp>
        <p:nvSpPr>
          <p:cNvPr id="29" name="TextBox 28"/>
          <p:cNvSpPr txBox="1"/>
          <p:nvPr/>
        </p:nvSpPr>
        <p:spPr>
          <a:xfrm>
            <a:off x="9118600" y="4335780"/>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Partner Link</a:t>
            </a:r>
          </a:p>
        </p:txBody>
      </p:sp>
      <p:sp>
        <p:nvSpPr>
          <p:cNvPr id="30" name="TextBox 29"/>
          <p:cNvSpPr txBox="1"/>
          <p:nvPr/>
        </p:nvSpPr>
        <p:spPr>
          <a:xfrm>
            <a:off x="9118600" y="4640580"/>
            <a:ext cx="23622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TO CONFIRM</a:t>
            </a:r>
          </a:p>
        </p:txBody>
      </p:sp>
      <p:sp>
        <p:nvSpPr>
          <p:cNvPr id="31" name="TextBox 30"/>
          <p:cNvSpPr txBox="1"/>
          <p:nvPr/>
        </p:nvSpPr>
        <p:spPr>
          <a:xfrm>
            <a:off x="609600" y="5727700"/>
            <a:ext cx="11023600" cy="240030"/>
          </a:xfrm>
          <a:prstGeom prst="rect">
            <a:avLst/>
          </a:prstGeom>
          <a:noFill/>
        </p:spPr>
        <p:txBody>
          <a:bodyPr wrap="square" lIns="0" rIns="0" tIns="0" bIns="0" anchor="t">
            <a:noAutofit/>
          </a:bodyPr>
          <a:lstStyle/>
          <a:p>
            <a:pPr algn="l">
              <a:lnSpc>
                <a:spcPts val="1690"/>
              </a:lnSpc>
            </a:pPr>
            <a:r>
              <a:rPr sz="1300" b="0">
                <a:solidFill>
                  <a:srgbClr val="756E65"/>
                </a:solidFill>
                <a:latin typeface="Lexend"/>
              </a:rPr>
              <a:t>No Income Promises. Any Results Depend On Your Own Business And Effort.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Questions Welcome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Apps Are Assembled From 101 Proven Bricks On 8 Shelves</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You Answer A Form; The Factory Does The Building</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Walls And Leak Tests Are Built In, At Every Paid Step</a:t>
            </a:r>
          </a:p>
        </p:txBody>
      </p:sp>
      <p:pic>
        <p:nvPicPr>
          <p:cNvPr id="16" name="Picture 15" descr="circle-check-217A2D.png"/>
          <p:cNvPicPr>
            <a:picLocks noChangeAspect="1"/>
          </p:cNvPicPr>
          <p:nvPr/>
        </p:nvPicPr>
        <p:blipFill>
          <a:blip r:embed="rId2"/>
          <a:stretch>
            <a:fillRect/>
          </a:stretch>
        </p:blipFill>
        <p:spPr>
          <a:xfrm>
            <a:off x="609600" y="3332479"/>
            <a:ext cx="304800" cy="304800"/>
          </a:xfrm>
          <a:prstGeom prst="rect">
            <a:avLst/>
          </a:prstGeom>
        </p:spPr>
      </p:pic>
      <p:sp>
        <p:nvSpPr>
          <p:cNvPr id="17" name="TextBox 16"/>
          <p:cNvSpPr txBox="1"/>
          <p:nvPr/>
        </p:nvSpPr>
        <p:spPr>
          <a:xfrm>
            <a:off x="1092200" y="3357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 Person Decides At The Gates That Matter</a:t>
            </a:r>
          </a:p>
        </p:txBody>
      </p:sp>
      <p:sp>
        <p:nvSpPr>
          <p:cNvPr id="18" name="Rounded Rectangle 17"/>
          <p:cNvSpPr/>
          <p:nvPr/>
        </p:nvSpPr>
        <p:spPr>
          <a:xfrm>
            <a:off x="609600" y="3967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09600" y="3967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3600" y="4119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21" name="TextBox 20"/>
          <p:cNvSpPr txBox="1"/>
          <p:nvPr/>
        </p:nvSpPr>
        <p:spPr>
          <a:xfrm>
            <a:off x="863600" y="4361180"/>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Gates Catch Problems While They Are Still Cheap, So Your Customers Never Meet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