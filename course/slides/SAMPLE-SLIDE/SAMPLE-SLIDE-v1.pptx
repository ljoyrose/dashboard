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slide for the design system.</a:t>
            </a:r>
          </a:p>
          <a:p/>
          <a:p>
            <a:r>
              <a:t>Framework beat: Secret 1 · Vehicle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06400"/>
            <a:ext cx="8356600" cy="7188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60"/>
              </a:lnSpc>
            </a:pPr>
            <a:r>
              <a:rPr sz="4200" b="1">
                <a:solidFill>
                  <a:srgbClr val="2C2C2A"/>
                </a:solidFill>
                <a:latin typeface="Lexend"/>
              </a:rPr>
              <a:t>Eight Shelves Of 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12520"/>
            <a:ext cx="110236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756E65"/>
                </a:solidFill>
                <a:latin typeface="Lexend"/>
              </a:rPr>
              <a:t>Every App Is Built From The Same Shelves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478280"/>
            <a:ext cx="10972800" cy="1270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9600" y="6400800"/>
            <a:ext cx="25908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>
                <a:solidFill>
                  <a:srgbClr val="FAF7F2"/>
                </a:solidFill>
                <a:latin typeface="Lexend"/>
              </a:rPr>
              <a:t>23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8652" y="6407150"/>
            <a:ext cx="57658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>
                <a:solidFill>
                  <a:srgbClr val="FAF7F2"/>
                </a:solidFill>
                <a:latin typeface="Lexend"/>
              </a:rPr>
              <a:t>Design System · Sample · Slide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29400"/>
            <a:ext cx="8483600" cy="2070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E5E0D8"/>
                </a:solidFill>
                <a:latin typeface="Lexend"/>
              </a:rPr>
              <a:t>Source: glossary.json · AF-UNDERSTANDING-2026-10-22.md 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7400" y="6464300"/>
            <a:ext cx="32258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60"/>
              </a:lnSpc>
            </a:pPr>
            <a:r>
              <a:rPr sz="1200" b="0">
                <a:solidFill>
                  <a:srgbClr val="FAF7F2"/>
                </a:solidFill>
                <a:latin typeface="Lexend SemiBold"/>
              </a:rPr>
              <a:t>LJR7 App Factory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5829300"/>
            <a:ext cx="10972800" cy="6350"/>
          </a:xfrm>
          <a:prstGeom prst="rect">
            <a:avLst/>
          </a:prstGeom>
          <a:solidFill>
            <a:srgbClr val="E5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9600" y="5918200"/>
            <a:ext cx="8128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2C2C2A"/>
                </a:solidFill>
                <a:latin typeface="Lexend"/>
              </a:rPr>
              <a:t>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1100" y="5956300"/>
            <a:ext cx="165100" cy="139700"/>
          </a:xfrm>
          <a:prstGeom prst="roundRect">
            <a:avLst>
              <a:gd name="adj" fmla="val 18181"/>
            </a:avLst>
          </a:prstGeom>
          <a:solidFill>
            <a:srgbClr val="BE6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35100" y="5930900"/>
            <a:ext cx="38608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>
                <a:solidFill>
                  <a:srgbClr val="756E65"/>
                </a:solidFill>
                <a:latin typeface="Lexend"/>
              </a:rPr>
              <a:t>Top Band = Shelf Colour</a:t>
            </a:r>
          </a:p>
        </p:txBody>
      </p:sp>
      <p:pic>
        <p:nvPicPr>
          <p:cNvPr id="14" name="Picture 13" descr="box-2C2C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831" y="593090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29831" y="5930900"/>
            <a:ext cx="3860800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>
                <a:solidFill>
                  <a:srgbClr val="756E65"/>
                </a:solidFill>
                <a:latin typeface="Lexend"/>
              </a:rPr>
              <a:t>Each Shelf Has Its Own Icon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1744979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 Same Side Corner Rectangle 16"/>
          <p:cNvSpPr/>
          <p:nvPr/>
        </p:nvSpPr>
        <p:spPr>
          <a:xfrm>
            <a:off x="746760" y="1744979"/>
            <a:ext cx="2316480" cy="76200"/>
          </a:xfrm>
          <a:prstGeom prst="round2Same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x-2C2C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973579"/>
            <a:ext cx="355600" cy="355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2800" y="2468879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2787649"/>
            <a:ext cx="2235200" cy="256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Always: Sign-In, Menus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3600" y="1744979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 Same Side Corner Rectangle 21"/>
          <p:cNvSpPr/>
          <p:nvPr/>
        </p:nvSpPr>
        <p:spPr>
          <a:xfrm>
            <a:off x="3540760" y="1744979"/>
            <a:ext cx="2316480" cy="76200"/>
          </a:xfrm>
          <a:prstGeom prst="round2SameRect">
            <a:avLst/>
          </a:prstGeom>
          <a:solidFill>
            <a:srgbClr val="BE6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ll-2C2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0" y="1973579"/>
            <a:ext cx="355600" cy="355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06800" y="2468879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Boundaries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6800" y="2787649"/>
            <a:ext cx="2235200" cy="256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Allowed: Walls, Roles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7600" y="1744979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 Same Side Corner Rectangle 26"/>
          <p:cNvSpPr/>
          <p:nvPr/>
        </p:nvSpPr>
        <p:spPr>
          <a:xfrm>
            <a:off x="6334760" y="1744979"/>
            <a:ext cx="2316480" cy="76200"/>
          </a:xfrm>
          <a:prstGeom prst="round2SameRect">
            <a:avLst/>
          </a:prstGeom>
          <a:solidFill>
            <a:srgbClr val="C0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ash-2C2C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73579"/>
            <a:ext cx="355600" cy="355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0" y="2468879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Bucks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87649"/>
            <a:ext cx="2235200" cy="256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Money: Plans, 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600" y="1744979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 Same Side Corner Rectangle 31"/>
          <p:cNvSpPr/>
          <p:nvPr/>
        </p:nvSpPr>
        <p:spPr>
          <a:xfrm>
            <a:off x="9128760" y="1744979"/>
            <a:ext cx="2316480" cy="76200"/>
          </a:xfrm>
          <a:prstGeom prst="round2SameRect">
            <a:avLst/>
          </a:prstGeom>
          <a:solidFill>
            <a:srgbClr val="B3A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ayout-dashboard-2C2C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800" y="1973579"/>
            <a:ext cx="355600" cy="355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94800" y="2468879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Body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4800" y="2787649"/>
            <a:ext cx="2235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The Rest: Screens,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" y="3806190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 Same Side Corner Rectangle 36"/>
          <p:cNvSpPr/>
          <p:nvPr/>
        </p:nvSpPr>
        <p:spPr>
          <a:xfrm>
            <a:off x="746760" y="3806190"/>
            <a:ext cx="2316480" cy="76200"/>
          </a:xfrm>
          <a:prstGeom prst="round2SameRect">
            <a:avLst/>
          </a:prstGeom>
          <a:solidFill>
            <a:srgbClr val="89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lette-2C2C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4034790"/>
            <a:ext cx="355600" cy="355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12800" y="4530090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4848860"/>
            <a:ext cx="2235200" cy="256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Swaps: Name, Colours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3600" y="3806190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 Same Side Corner Rectangle 41"/>
          <p:cNvSpPr/>
          <p:nvPr/>
        </p:nvSpPr>
        <p:spPr>
          <a:xfrm>
            <a:off x="3540760" y="3806190"/>
            <a:ext cx="2316480" cy="76200"/>
          </a:xfrm>
          <a:prstGeom prst="round2SameRect">
            <a:avLst/>
          </a:prstGeom>
          <a:solidFill>
            <a:srgbClr val="40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trending-up-2C2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800" y="4034790"/>
            <a:ext cx="355600" cy="355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606800" y="4530090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Boost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6800" y="4848860"/>
            <a:ext cx="2235200" cy="256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Found: Pages, Reviews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7600" y="3806190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 Same Side Corner Rectangle 46"/>
          <p:cNvSpPr/>
          <p:nvPr/>
        </p:nvSpPr>
        <p:spPr>
          <a:xfrm>
            <a:off x="6334760" y="3806190"/>
            <a:ext cx="2316480" cy="76200"/>
          </a:xfrm>
          <a:prstGeom prst="round2SameRect">
            <a:avLst/>
          </a:prstGeom>
          <a:solidFill>
            <a:srgbClr val="7A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brain-2C2C2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034790"/>
            <a:ext cx="355600" cy="3556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00800" y="4530090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Brains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848860"/>
            <a:ext cx="2235200" cy="256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Works It Out: Scoring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91600" y="3806190"/>
            <a:ext cx="2590800" cy="1858010"/>
          </a:xfrm>
          <a:prstGeom prst="roundRect">
            <a:avLst>
              <a:gd name="adj" fmla="val 16404"/>
            </a:avLst>
          </a:prstGeom>
          <a:solidFill>
            <a:srgbClr val="FFFFFF"/>
          </a:solidFill>
          <a:ln w="6350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 Same Side Corner Rectangle 51"/>
          <p:cNvSpPr/>
          <p:nvPr/>
        </p:nvSpPr>
        <p:spPr>
          <a:xfrm>
            <a:off x="9128760" y="3806190"/>
            <a:ext cx="2316480" cy="76200"/>
          </a:xfrm>
          <a:prstGeom prst="round2SameRect">
            <a:avLst/>
          </a:prstGeom>
          <a:solidFill>
            <a:srgbClr val="8D6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robot-2C2C2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4800" y="4034790"/>
            <a:ext cx="355600" cy="3556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194800" y="4530090"/>
            <a:ext cx="2235200" cy="306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>
                <a:solidFill>
                  <a:srgbClr val="2C2C2A"/>
                </a:solidFill>
                <a:latin typeface="Lexend"/>
              </a:rPr>
              <a:t>Bots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94800" y="4848860"/>
            <a:ext cx="2235200" cy="487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Alone: Reminders,</a:t>
            </a:r>
          </a:p>
          <a:p>
            <a:pPr algn="l">
              <a:lnSpc>
                <a:spcPts val="1820"/>
              </a:lnSpc>
            </a:pPr>
            <a:r>
              <a:rPr sz="1400" b="0">
                <a:solidFill>
                  <a:srgbClr val="756E65"/>
                </a:solidFill>
                <a:latin typeface="Lexend"/>
              </a:rPr>
              <a:t>Imports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