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an app meets the outside world: a sales page, a domain, ClickFunnels funnels, a plan carried safely from the landing page, the launch tests and the Launch gate.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outcome.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Theo is seventeen. He was helping to put together a page for Northvale Canine Society, the club that resells Litterline to its members under its own name. He wanted more club members to try it, so he planned a big button that said free plan. It seemed generous and harmless. But the free plan was refused. Northvale is a reseller, and the factory has a firm rule: a reseller's brand is never on a free plan. That made Theo look much harder at how a button on a page turns into a real, recorded choice.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Stage 7, called Launch. It happens in the room called Runway, which is tagged Brand, because this is where the app meets the outside world under each brand's name. The jobs include a sales page, set-up for each brand, the domain, the funnels, and a careful set of launch tests. This lesson covers the outside pieces: the page people land on, the web address they type, and the path that leads them from a first look to signing up. The next lesson covers the launch tests and the Launch gate.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sales page explains what the app does, who it is for and what it costs. The template line asks for three things: the sales page, a rival line and a launch price. A rival line is a short, honest statement of how this app differs from what people use now. The factory drafts the page, and the factory owner approves it. Much of the wording comes from the research in Stage 1, where customers' own words about their problem were collected. People trust words that sound like their own experience.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domain is the name of a website, the words people type to find it. Computers find each other by number, so the internet keeps an address book called DNS, the Domain Name System. DNS records point the name at the server where the app lives. The factory picks the domain name in Stage 3, then buys it and sets the records in Stage 4: one for the bare name and one for the www version. SSL, the padlock in the browser that keeps traffic private, is set up too. In Stage 7, all three are verified from outside.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funnel is a short series of pages that leads a visitor from a first look to signing up or paying. It is wide at the top, where many people arrive, and narrow at the bottom, where fewer people act. The factory builds its landing page and funnel in ClickFunnels, a tool for making sales pages and funnels. The offer was first drafted back in Stage 1 in a funnel shape: who the customer is, the hook, which is their problem in their own words, and the offer itself. That same page is used again here.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does ClickFunnels talk to the app? The simplest route is a built-in connection that sends sign-ups and tags across. A tag is a label on a contact, such as trial started. One security rule matters a lot: never unlock paid content using a tag that public code can apply, because any visitor could apply it. Another rule: never store a ClickFunnels key or password in the app's database. The app stores only which brand links to which workspace. Paid access is decided by the app itself, never by a label.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plan. Each button on a landing page carries both the brand and the plan inside its link. The plan travels through sign-in the same way the brand does. The rule is sign in first, pay second. When the person comes back, the server checks the plan really is one of that brand's offers, records the chosen plan against the member even if they abandon checkout, and opens that plan's checkout. The price is never taken from the web address, because anyone can edit a web address. Each payment is stamped with the buyer's brand.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Free is decided per brand offer, never for the whole app. The factory owner's own brands may offer a free plan. A reseller's brand never has a free offer. So when Theo's button asked for a free plan on Northvale's brand, the server refused it, exactly as designed. Northvale's members go from sign-in straight to the pay page, then on to their dashboard. To sum up: a sales page the owner approves, a domain proved from outside, funnels in ClickFunnels, and a plan that travels safely with every click.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 DNS is the internet's address book: its records point a name people can type at the server that holds the app.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outcome.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Maya is twelve. She tried the new Stayproof site on her laptop, signing up as a brand-new kennel worker, and everything worked. She was ready to say it could launch. Then she tried again on her phone. The sign-up email arrived, she tapped the link, and the page that opened had forgotten who she was. On the laptop, she had opened the email link in the same browser. On the phone, it opened somewhere new. Launch tests have to walk the whole journey, as a brand-new person, on desktop and on phone.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launch, the leak check runs one last time, and it is strict. Every table is tested, with negative cases, using two accounts. Not only the tables a screen happens to use, but every one, including old and forgotten ones. A negative case, as you know, checks that something forbidden really fails. The result sets the app's leak status: Ln for tested with no leak, or Ly for a leak found. An app showing Ly does not launch. In the factory's gate set, Leak is a check inside the Launch gate, not a separate gate.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comes the launch walk. Before the gate, a brand-new account for each brand walks the whole journey on the live site, on desktop and on phone, including email links opened on the phone. The journey map is the list of every step a person takes, from the first page to the app's core action, and it includes steps the factory does not build itself, like the sign-up email. Maya's phone problem is exactly what this walk is there to catch. An onboarding walk for each type of user follows the same idea.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comes the user-switch test, a standard check on every app. In one browser, sign in as user A and set a display name. Sign out. Sign in as user B. User B must see none of user A's name, footer text or settings. This catches a sneaky kind of leak, where the browser remembers something from the last person. On a shared family computer, or a laptop on a kennel's front desk, that really matters. It sounds simple, and it is, but real apps have failed this test more than once.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Money is tested for real. Checkout is tested on the live link with a 100 percent off test code: buy, sign in, and get access. Checkout never works in preview, so it has to be the live link. A real payment and a refund are also run from start to finish. Around this sit other duties due before launch: legal and consent pages live, with the marketing box left unticked, a security review before publishing, and proof that a user can delete their account and export their data, and that both actually work.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support route is tested too, so a real person with a problem can actually reach help. Then comes the Launch gate, from 7 to 8. Its question is: open it to real users? The factory owner always decides this one. There is no auto-pass here. The engine describes it as Leak, Launch and Live in one move: the leak check passed, the launch walk done, and the first real user proved from start to finish. After a yes, the app leaves the build board and appears only in Operate.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about growing the app after launch? The factory's template has a weekly boost line: a weekly proposal of ways to help the app get found, using parts from the Boost shelf, such as public pages, reviews, search visibility and funnels. But be clear about its status. The weekly boost is marked PROPOSED. It sits in the template as an idea that has not been ruled on, so this course teaches it as a proposal, not as a rule. In the factory, a proposal counts for nothing until the live system actually does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before an app opens to real users, it passes a leak test on every table with two accounts, a launch walk on desktop and phone, a user-switch test, a live checkout test, legal and consent checks and a tested support route. Then the factory owner says yes at the Launch gate. Scheduled jobs switch on: the leak probe, the backup and the credit watch. Maya's phone found a real gap, and now the walk finds that kind of gap every time. Next module: how a live app is watched every single day.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D. The walk covers desktop and phone, including email links opened on the phone, because journeys can break between devices.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Stage 7 · Launch</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Track F · Family Learners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M08 · v1 · Slide 1</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scripts/modules/M08.json · AF-UNDERSTANDING-2026-10-22.md, ClickFunnels - OverSkill - Integration (CURRENT 13 Sep 2026).md, ClickFunnels-Platform-Reference.md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TextBox 9"/>
          <p:cNvSpPr txBox="1"/>
          <p:nvPr/>
        </p:nvSpPr>
        <p:spPr>
          <a:xfrm>
            <a:off x="609600" y="2252979"/>
            <a:ext cx="7035800" cy="3459480"/>
          </a:xfrm>
          <a:prstGeom prst="rect">
            <a:avLst/>
          </a:prstGeom>
          <a:noFill/>
        </p:spPr>
        <p:txBody>
          <a:bodyPr wrap="square" lIns="0" rIns="0" tIns="0" bIns="0" anchor="t">
            <a:noAutofit/>
          </a:bodyPr>
          <a:lstStyle/>
          <a:p>
            <a:pPr algn="l">
              <a:lnSpc>
                <a:spcPts val="6760"/>
              </a:lnSpc>
            </a:pPr>
            <a:r>
              <a:rPr sz="5200" b="1">
                <a:solidFill>
                  <a:srgbClr val="2C2C2A"/>
                </a:solidFill>
                <a:latin typeface="Lexend"/>
              </a:rPr>
              <a:t>Sales Page, Domain,</a:t>
            </a:r>
          </a:p>
          <a:p>
            <a:pPr algn="l">
              <a:lnSpc>
                <a:spcPts val="6760"/>
              </a:lnSpc>
            </a:pPr>
            <a:r>
              <a:rPr sz="5200" b="1">
                <a:solidFill>
                  <a:srgbClr val="2C2C2A"/>
                </a:solidFill>
                <a:latin typeface="Lexend"/>
              </a:rPr>
              <a:t>Funnels, The Launch</a:t>
            </a:r>
          </a:p>
          <a:p>
            <a:pPr algn="l">
              <a:lnSpc>
                <a:spcPts val="6760"/>
              </a:lnSpc>
            </a:pPr>
            <a:r>
              <a:rPr sz="5200" b="1">
                <a:solidFill>
                  <a:srgbClr val="2C2C2A"/>
                </a:solidFill>
                <a:latin typeface="Lexend"/>
              </a:rPr>
              <a:t>Walk, The Launch</a:t>
            </a:r>
          </a:p>
          <a:p>
            <a:pPr algn="l">
              <a:lnSpc>
                <a:spcPts val="6760"/>
              </a:lnSpc>
            </a:pPr>
            <a:r>
              <a:rPr sz="5200" b="1">
                <a:solidFill>
                  <a:srgbClr val="2C2C2A"/>
                </a:solidFill>
                <a:latin typeface="Lexend"/>
              </a:rPr>
              <a:t>Gate</a:t>
            </a:r>
          </a:p>
        </p:txBody>
      </p:sp>
      <p:sp>
        <p:nvSpPr>
          <p:cNvPr id="11" name="TextBox 10"/>
          <p:cNvSpPr txBox="1"/>
          <p:nvPr/>
        </p:nvSpPr>
        <p:spPr>
          <a:xfrm>
            <a:off x="609600" y="5814060"/>
            <a:ext cx="6400800" cy="13462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How an app meets the outside world: a sales page,</a:t>
            </a:r>
          </a:p>
          <a:p>
            <a:pPr algn="l">
              <a:lnSpc>
                <a:spcPts val="2600"/>
              </a:lnSpc>
            </a:pPr>
            <a:r>
              <a:rPr sz="2000" b="0">
                <a:solidFill>
                  <a:srgbClr val="756E65"/>
                </a:solidFill>
                <a:latin typeface="Lexend"/>
              </a:rPr>
              <a:t>a domain, ClickFunnels funnels, a plan carried</a:t>
            </a:r>
          </a:p>
          <a:p>
            <a:pPr algn="l">
              <a:lnSpc>
                <a:spcPts val="2600"/>
              </a:lnSpc>
            </a:pPr>
            <a:r>
              <a:rPr sz="2000" b="0">
                <a:solidFill>
                  <a:srgbClr val="756E65"/>
                </a:solidFill>
                <a:latin typeface="Lexend"/>
              </a:rPr>
              <a:t>safely from the landing page, the launch tests and</a:t>
            </a:r>
          </a:p>
          <a:p>
            <a:pPr algn="l">
              <a:lnSpc>
                <a:spcPts val="2600"/>
              </a:lnSpc>
            </a:pPr>
            <a:r>
              <a:rPr sz="2000" b="0">
                <a:solidFill>
                  <a:srgbClr val="756E65"/>
                </a:solidFill>
                <a:latin typeface="Lexend"/>
              </a:rPr>
              <a:t>the Launch gate.</a:t>
            </a:r>
          </a:p>
        </p:txBody>
      </p:sp>
      <p:pic>
        <p:nvPicPr>
          <p:cNvPr id="12" name="Picture 11" descr="rocket-2C2C2A.png"/>
          <p:cNvPicPr>
            <a:picLocks noChangeAspect="1"/>
          </p:cNvPicPr>
          <p:nvPr/>
        </p:nvPicPr>
        <p:blipFill>
          <a:blip r:embed="rId2"/>
          <a:stretch>
            <a:fillRect/>
          </a:stretch>
        </p:blipFill>
        <p:spPr>
          <a:xfrm>
            <a:off x="8572500" y="2506979"/>
            <a:ext cx="2286000" cy="2286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Sales Page, Domain And Funnels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M08-L1 · About 6 Minutes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M08 · v1 · Slide 2</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scripts/modules/M08.json · AF-UNDERSTANDING-2026-10-22.md, ClickFunnels - OverSkill - Integration (CURRENT 13 Sep 2026).md, ClickFunnels-Platform-Reference.md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target-2C2C2A.png"/>
          <p:cNvPicPr>
            <a:picLocks noChangeAspect="1"/>
          </p:cNvPicPr>
          <p:nvPr/>
        </p:nvPicPr>
        <p:blipFill>
          <a:blip r:embed="rId2"/>
          <a:stretch>
            <a:fillRect/>
          </a:stretch>
        </p:blipFill>
        <p:spPr>
          <a:xfrm>
            <a:off x="609600" y="2851150"/>
            <a:ext cx="1016000" cy="1016000"/>
          </a:xfrm>
          <a:prstGeom prst="rect">
            <a:avLst/>
          </a:prstGeom>
        </p:spPr>
      </p:pic>
      <p:sp>
        <p:nvSpPr>
          <p:cNvPr id="11" name="TextBox 10"/>
          <p:cNvSpPr txBox="1"/>
          <p:nvPr/>
        </p:nvSpPr>
        <p:spPr>
          <a:xfrm>
            <a:off x="2070100" y="2813050"/>
            <a:ext cx="9563100" cy="180848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You can explain what a domain, DNS</a:t>
            </a:r>
          </a:p>
          <a:p>
            <a:pPr algn="l">
              <a:lnSpc>
                <a:spcPts val="4680"/>
              </a:lnSpc>
            </a:pPr>
            <a:r>
              <a:rPr sz="3600" b="1">
                <a:solidFill>
                  <a:srgbClr val="2C2C2A"/>
                </a:solidFill>
                <a:latin typeface="Lexend"/>
              </a:rPr>
              <a:t>and a funnel are, and why a reseller's</a:t>
            </a:r>
          </a:p>
          <a:p>
            <a:pPr algn="l">
              <a:lnSpc>
                <a:spcPts val="4680"/>
              </a:lnSpc>
            </a:pPr>
            <a:r>
              <a:rPr sz="3600" b="1">
                <a:solidFill>
                  <a:srgbClr val="2C2C2A"/>
                </a:solidFill>
                <a:latin typeface="Lexend"/>
              </a:rPr>
              <a:t>brand is never on a free plan.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Sales Page, Domain And Funnels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M08-L1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M08 · v1 · Slide 3</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scripts/modules/M08.json · AF-UNDERSTANDING-2026-10-22.md, ClickFunnels - OverSkill - Integration (CURRENT 13 Sep 2026).md, ClickFunnels-Platform-Reference.md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user-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A Free Button That Was Refused</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He was helping to put together a page for Northvale Canine Society, the club</a:t>
            </a:r>
          </a:p>
          <a:p>
            <a:pPr algn="l">
              <a:lnSpc>
                <a:spcPts val="2600"/>
              </a:lnSpc>
            </a:pPr>
            <a:r>
              <a:rPr sz="2000" b="0">
                <a:solidFill>
                  <a:srgbClr val="756E65"/>
                </a:solidFill>
                <a:latin typeface="Lexend"/>
              </a:rPr>
              <a:t>that resells Litterline to its members under its own name.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Sales Page, Domain And Funnels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M08-L1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M08 · v1 · Slide 4</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scripts/modules/M08.json · AF-UNDERSTANDING-2026-10-22.md, ClickFunnels - OverSkill - Integration (CURRENT 13 Sep 2026).md, ClickFunnels-Platform-Reference.md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rocket-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Stage 7 Happens On The Runway</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It happens in the room called Runway, which is tagged Brand, because this</a:t>
            </a:r>
          </a:p>
          <a:p>
            <a:pPr algn="l">
              <a:lnSpc>
                <a:spcPts val="2600"/>
              </a:lnSpc>
            </a:pPr>
            <a:r>
              <a:rPr sz="2000" b="0">
                <a:solidFill>
                  <a:srgbClr val="756E65"/>
                </a:solidFill>
                <a:latin typeface="Lexend"/>
              </a:rPr>
              <a:t>is where the app meets the outside world under each brand's name.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Sales Page, Domain And Funnels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M08-L1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M08 · v1 · Slide 5</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scripts/modules/M08.json · AF-UNDERSTANDING-2026-10-22.md, ClickFunnels - OverSkill - Integration (CURRENT 13 Sep 2026).md, ClickFunnels-Platform-Reference.md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building-store-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The Sales Page And Launch Price</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The sales page explains what the app does, who it is for and what it costs.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Sales Page, Domain And Funnels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M08-L1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M08 · v1 · Slide 6</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scripts/modules/M08.json · AF-UNDERSTANDING-2026-10-22.md, ClickFunnels - OverSkill - Integration (CURRENT 13 Sep 2026).md, ClickFunnels-Platform-Reference.md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world-www-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Domain And DNS In Plain Words</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A domain is the name of a website, the words people type to find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Sales Page, Domain And Funnels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M08-L1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M08 · v1 · Slide 7</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scripts/modules/M08.json · AF-UNDERSTANDING-2026-10-22.md, ClickFunnels - OverSkill - Integration (CURRENT 13 Sep 2026).md, ClickFunnels-Platform-Reference.md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hart-funnel-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Funnels Lead People Step By Step</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A funnel is a short series of pages that leads a visitor from a first look to</a:t>
            </a:r>
          </a:p>
          <a:p>
            <a:pPr algn="l">
              <a:lnSpc>
                <a:spcPts val="2600"/>
              </a:lnSpc>
            </a:pPr>
            <a:r>
              <a:rPr sz="2000" b="0">
                <a:solidFill>
                  <a:srgbClr val="756E65"/>
                </a:solidFill>
                <a:latin typeface="Lexend"/>
              </a:rPr>
              <a:t>signing up or paying.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Sales Page, Domain And Funnels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M08-L1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M08 · v1 · Slide 8</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scripts/modules/M08.json · AF-UNDERSTANDING-2026-10-22.md, ClickFunnels - OverSkill - Integration (CURRENT 13 Sep 2026).md, ClickFunnels-Platform-Reference.md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shield-check-2C2C2A.png"/>
          <p:cNvPicPr>
            <a:picLocks noChangeAspect="1"/>
          </p:cNvPicPr>
          <p:nvPr/>
        </p:nvPicPr>
        <p:blipFill>
          <a:blip r:embed="rId2"/>
          <a:stretch>
            <a:fillRect/>
          </a:stretch>
        </p:blipFill>
        <p:spPr>
          <a:xfrm>
            <a:off x="609600" y="2722879"/>
            <a:ext cx="1016000" cy="1016000"/>
          </a:xfrm>
          <a:prstGeom prst="rect">
            <a:avLst/>
          </a:prstGeom>
        </p:spPr>
      </p:pic>
      <p:sp>
        <p:nvSpPr>
          <p:cNvPr id="11" name="TextBox 10"/>
          <p:cNvSpPr txBox="1"/>
          <p:nvPr/>
        </p:nvSpPr>
        <p:spPr>
          <a:xfrm>
            <a:off x="2070100" y="2684779"/>
            <a:ext cx="9563100" cy="121412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ClickFunnels Holds Contacts, Not The</a:t>
            </a:r>
          </a:p>
          <a:p>
            <a:pPr algn="l">
              <a:lnSpc>
                <a:spcPts val="4680"/>
              </a:lnSpc>
            </a:pPr>
            <a:r>
              <a:rPr sz="3600" b="1">
                <a:solidFill>
                  <a:srgbClr val="2C2C2A"/>
                </a:solidFill>
                <a:latin typeface="Lexend"/>
              </a:rPr>
              <a:t>Keys</a:t>
            </a:r>
          </a:p>
        </p:txBody>
      </p:sp>
      <p:sp>
        <p:nvSpPr>
          <p:cNvPr id="12" name="TextBox 11"/>
          <p:cNvSpPr txBox="1"/>
          <p:nvPr/>
        </p:nvSpPr>
        <p:spPr>
          <a:xfrm>
            <a:off x="2070100" y="406400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The simplest route is a built-in connection that sends sign-ups and tags</a:t>
            </a:r>
          </a:p>
          <a:p>
            <a:pPr algn="l">
              <a:lnSpc>
                <a:spcPts val="2600"/>
              </a:lnSpc>
            </a:pPr>
            <a:r>
              <a:rPr sz="2000" b="0">
                <a:solidFill>
                  <a:srgbClr val="756E65"/>
                </a:solidFill>
                <a:latin typeface="Lexend"/>
              </a:rPr>
              <a:t>across.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Sales Page, Domain And Funnels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M08-L1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M08 · v1 · Slide 9</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scripts/modules/M08.json · AF-UNDERSTANDING-2026-10-22.md, ClickFunnels - OverSkill - Integration (CURRENT 13 Sep 2026).md, ClickFunnels-Platform-Reference.md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link-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The Plan Travels With The Click</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Each button on a landing page carries both the brand and the plan inside its</a:t>
            </a:r>
          </a:p>
          <a:p>
            <a:pPr algn="l">
              <a:lnSpc>
                <a:spcPts val="2600"/>
              </a:lnSpc>
            </a:pPr>
            <a:r>
              <a:rPr sz="2000" b="0">
                <a:solidFill>
                  <a:srgbClr val="756E65"/>
                </a:solidFill>
                <a:latin typeface="Lexend"/>
              </a:rPr>
              <a:t>link.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Sales Page, Domain And Funnels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M08-L1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M08 · v1 · Slide 10</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scripts/modules/M08.json · AF-UNDERSTANDING-2026-10-22.md, ClickFunnels - OverSkill - Integration (CURRENT 13 Sep 2026).md, ClickFunnels-Platform-Reference.md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license-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A Reseller Brand Is Never Free</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Free is decided per brand offer, never for the whole app.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Recap</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Sales Page, Domain And Funnels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M08 · v1 · Slide 11</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scripts/modules/M08.json · AF-UNDERSTANDING-2026-10-22.md, ClickFunnels - OverSkill - Integration (CURRENT 13 Sep 2026).md, ClickFunnels-Platform-Reference.md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ircle-check-217A2D.png"/>
          <p:cNvPicPr>
            <a:picLocks noChangeAspect="1"/>
          </p:cNvPicPr>
          <p:nvPr/>
        </p:nvPicPr>
        <p:blipFill>
          <a:blip r:embed="rId2"/>
          <a:stretch>
            <a:fillRect/>
          </a:stretch>
        </p:blipFill>
        <p:spPr>
          <a:xfrm>
            <a:off x="609600" y="1808479"/>
            <a:ext cx="304800" cy="304800"/>
          </a:xfrm>
          <a:prstGeom prst="rect">
            <a:avLst/>
          </a:prstGeom>
        </p:spPr>
      </p:pic>
      <p:sp>
        <p:nvSpPr>
          <p:cNvPr id="11" name="TextBox 10"/>
          <p:cNvSpPr txBox="1"/>
          <p:nvPr/>
        </p:nvSpPr>
        <p:spPr>
          <a:xfrm>
            <a:off x="1092200" y="1833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DNS Points The Domain At The App</a:t>
            </a:r>
          </a:p>
        </p:txBody>
      </p:sp>
      <p:pic>
        <p:nvPicPr>
          <p:cNvPr id="12" name="Picture 11" descr="circle-check-217A2D.png"/>
          <p:cNvPicPr>
            <a:picLocks noChangeAspect="1"/>
          </p:cNvPicPr>
          <p:nvPr/>
        </p:nvPicPr>
        <p:blipFill>
          <a:blip r:embed="rId2"/>
          <a:stretch>
            <a:fillRect/>
          </a:stretch>
        </p:blipFill>
        <p:spPr>
          <a:xfrm>
            <a:off x="609600" y="2316479"/>
            <a:ext cx="304800" cy="304800"/>
          </a:xfrm>
          <a:prstGeom prst="rect">
            <a:avLst/>
          </a:prstGeom>
        </p:spPr>
      </p:pic>
      <p:sp>
        <p:nvSpPr>
          <p:cNvPr id="13" name="TextBox 12"/>
          <p:cNvSpPr txBox="1"/>
          <p:nvPr/>
        </p:nvSpPr>
        <p:spPr>
          <a:xfrm>
            <a:off x="1092200" y="2341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The Link Carries Brand And Plan, Never Price</a:t>
            </a:r>
          </a:p>
        </p:txBody>
      </p:sp>
      <p:pic>
        <p:nvPicPr>
          <p:cNvPr id="14" name="Picture 13" descr="circle-check-217A2D.png"/>
          <p:cNvPicPr>
            <a:picLocks noChangeAspect="1"/>
          </p:cNvPicPr>
          <p:nvPr/>
        </p:nvPicPr>
        <p:blipFill>
          <a:blip r:embed="rId2"/>
          <a:stretch>
            <a:fillRect/>
          </a:stretch>
        </p:blipFill>
        <p:spPr>
          <a:xfrm>
            <a:off x="609600" y="2824479"/>
            <a:ext cx="304800" cy="304800"/>
          </a:xfrm>
          <a:prstGeom prst="rect">
            <a:avLst/>
          </a:prstGeom>
        </p:spPr>
      </p:pic>
      <p:sp>
        <p:nvSpPr>
          <p:cNvPr id="15" name="TextBox 14"/>
          <p:cNvSpPr txBox="1"/>
          <p:nvPr/>
        </p:nvSpPr>
        <p:spPr>
          <a:xfrm>
            <a:off x="1092200" y="2849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A Reseller Brand Is Never On A Free Plan</a:t>
            </a:r>
          </a:p>
        </p:txBody>
      </p:sp>
      <p:sp>
        <p:nvSpPr>
          <p:cNvPr id="16" name="Rounded Rectangle 15"/>
          <p:cNvSpPr/>
          <p:nvPr/>
        </p:nvSpPr>
        <p:spPr>
          <a:xfrm>
            <a:off x="609600" y="3459479"/>
            <a:ext cx="10972800" cy="852169"/>
          </a:xfrm>
          <a:prstGeom prst="roundRect">
            <a:avLst>
              <a:gd name="adj" fmla="val 35767"/>
            </a:avLst>
          </a:prstGeom>
          <a:solidFill>
            <a:srgbClr val="F2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09600" y="3459479"/>
            <a:ext cx="38100" cy="852169"/>
          </a:xfrm>
          <a:prstGeom prst="roundRect">
            <a:avLst>
              <a:gd name="adj" fmla="val 50000"/>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63600" y="3611879"/>
            <a:ext cx="3860800" cy="207010"/>
          </a:xfrm>
          <a:prstGeom prst="rect">
            <a:avLst/>
          </a:prstGeom>
          <a:noFill/>
        </p:spPr>
        <p:txBody>
          <a:bodyPr wrap="square" lIns="0" rIns="0" tIns="0" bIns="0" anchor="t">
            <a:noAutofit/>
          </a:bodyPr>
          <a:lstStyle/>
          <a:p>
            <a:pPr algn="l">
              <a:lnSpc>
                <a:spcPts val="1430"/>
              </a:lnSpc>
            </a:pPr>
            <a:r>
              <a:rPr sz="1100" b="1">
                <a:solidFill>
                  <a:srgbClr val="756E65"/>
                </a:solidFill>
                <a:latin typeface="Lexend"/>
              </a:rPr>
              <a:t>WHY IT MATTERS</a:t>
            </a:r>
          </a:p>
        </p:txBody>
      </p:sp>
      <p:sp>
        <p:nvSpPr>
          <p:cNvPr id="19" name="TextBox 18"/>
          <p:cNvSpPr txBox="1"/>
          <p:nvPr/>
        </p:nvSpPr>
        <p:spPr>
          <a:xfrm>
            <a:off x="863600" y="3853179"/>
            <a:ext cx="105156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Every Click Must Land On A Recorded, Checked Plan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Quick Check</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Sales Page, Domain And Funnels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M08 · v1 · Slide 12</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scripts/modules/M08.json · AF-UNDERSTANDING-2026-10-22.md, ClickFunnels - OverSkill - Integration (CURRENT 13 Sep 2026).md, ClickFunnels-Platform-Reference.md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TextBox 9"/>
          <p:cNvSpPr txBox="1"/>
          <p:nvPr/>
        </p:nvSpPr>
        <p:spPr>
          <a:xfrm>
            <a:off x="609600" y="1744979"/>
            <a:ext cx="11023600" cy="421640"/>
          </a:xfrm>
          <a:prstGeom prst="rect">
            <a:avLst/>
          </a:prstGeom>
          <a:noFill/>
        </p:spPr>
        <p:txBody>
          <a:bodyPr wrap="square" lIns="0" rIns="0" tIns="0" bIns="0" anchor="t">
            <a:noAutofit/>
          </a:bodyPr>
          <a:lstStyle/>
          <a:p>
            <a:pPr algn="l">
              <a:lnSpc>
                <a:spcPts val="3120"/>
              </a:lnSpc>
            </a:pPr>
            <a:r>
              <a:rPr sz="2400" b="1">
                <a:solidFill>
                  <a:srgbClr val="2C2C2A"/>
                </a:solidFill>
                <a:latin typeface="Lexend"/>
              </a:rPr>
              <a:t>What does DNS do?</a:t>
            </a:r>
          </a:p>
        </p:txBody>
      </p:sp>
      <p:sp>
        <p:nvSpPr>
          <p:cNvPr id="11" name="Rounded Rectangle 10"/>
          <p:cNvSpPr/>
          <p:nvPr/>
        </p:nvSpPr>
        <p:spPr>
          <a:xfrm>
            <a:off x="609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12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A</a:t>
            </a:r>
          </a:p>
        </p:txBody>
      </p:sp>
      <p:sp>
        <p:nvSpPr>
          <p:cNvPr id="13" name="TextBox 12"/>
          <p:cNvSpPr txBox="1"/>
          <p:nvPr/>
        </p:nvSpPr>
        <p:spPr>
          <a:xfrm>
            <a:off x="1244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It designs the sales page</a:t>
            </a:r>
          </a:p>
        </p:txBody>
      </p:sp>
      <p:sp>
        <p:nvSpPr>
          <p:cNvPr id="14" name="Rounded Rectangle 13"/>
          <p:cNvSpPr/>
          <p:nvPr/>
        </p:nvSpPr>
        <p:spPr>
          <a:xfrm>
            <a:off x="6197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0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B</a:t>
            </a:r>
          </a:p>
        </p:txBody>
      </p:sp>
      <p:sp>
        <p:nvSpPr>
          <p:cNvPr id="16" name="TextBox 15"/>
          <p:cNvSpPr txBox="1"/>
          <p:nvPr/>
        </p:nvSpPr>
        <p:spPr>
          <a:xfrm>
            <a:off x="6832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It takes payments at checkout</a:t>
            </a:r>
          </a:p>
        </p:txBody>
      </p:sp>
      <p:sp>
        <p:nvSpPr>
          <p:cNvPr id="17" name="Rounded Rectangle 16"/>
          <p:cNvSpPr/>
          <p:nvPr/>
        </p:nvSpPr>
        <p:spPr>
          <a:xfrm>
            <a:off x="609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2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C</a:t>
            </a:r>
          </a:p>
        </p:txBody>
      </p:sp>
      <p:sp>
        <p:nvSpPr>
          <p:cNvPr id="19" name="TextBox 18"/>
          <p:cNvSpPr txBox="1"/>
          <p:nvPr/>
        </p:nvSpPr>
        <p:spPr>
          <a:xfrm>
            <a:off x="1244600" y="3652519"/>
            <a:ext cx="4610100" cy="55372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It points a domain name at the server</a:t>
            </a:r>
          </a:p>
          <a:p>
            <a:pPr algn="l">
              <a:lnSpc>
                <a:spcPts val="2080"/>
              </a:lnSpc>
            </a:pPr>
            <a:r>
              <a:rPr sz="1600" b="0">
                <a:solidFill>
                  <a:srgbClr val="2C2C2A"/>
                </a:solidFill>
                <a:latin typeface="Lexend SemiBold"/>
              </a:rPr>
              <a:t>where the app lives</a:t>
            </a:r>
          </a:p>
        </p:txBody>
      </p:sp>
      <p:sp>
        <p:nvSpPr>
          <p:cNvPr id="20" name="Rounded Rectangle 19"/>
          <p:cNvSpPr/>
          <p:nvPr/>
        </p:nvSpPr>
        <p:spPr>
          <a:xfrm>
            <a:off x="6197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00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D</a:t>
            </a:r>
          </a:p>
        </p:txBody>
      </p:sp>
      <p:sp>
        <p:nvSpPr>
          <p:cNvPr id="22" name="TextBox 21"/>
          <p:cNvSpPr txBox="1"/>
          <p:nvPr/>
        </p:nvSpPr>
        <p:spPr>
          <a:xfrm>
            <a:off x="6832600" y="36525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It tests every table for leaks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Launch Walk And Boosts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M08-L2 · About 6 Minutes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M08 · v1 · Slide 13</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scripts/modules/M08.json · AF-UNDERSTANDING-2026-10-22.md, ClickFunnels - OverSkill - Integration (CURRENT 13 Sep 2026).md, ClickFunnels-Platform-Reference.md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target-2C2C2A.png"/>
          <p:cNvPicPr>
            <a:picLocks noChangeAspect="1"/>
          </p:cNvPicPr>
          <p:nvPr/>
        </p:nvPicPr>
        <p:blipFill>
          <a:blip r:embed="rId2"/>
          <a:stretch>
            <a:fillRect/>
          </a:stretch>
        </p:blipFill>
        <p:spPr>
          <a:xfrm>
            <a:off x="609600" y="2851150"/>
            <a:ext cx="1016000" cy="1016000"/>
          </a:xfrm>
          <a:prstGeom prst="rect">
            <a:avLst/>
          </a:prstGeom>
        </p:spPr>
      </p:pic>
      <p:sp>
        <p:nvSpPr>
          <p:cNvPr id="11" name="TextBox 10"/>
          <p:cNvSpPr txBox="1"/>
          <p:nvPr/>
        </p:nvSpPr>
        <p:spPr>
          <a:xfrm>
            <a:off x="2070100" y="2813050"/>
            <a:ext cx="9563100" cy="180848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You can name the checks that come</a:t>
            </a:r>
          </a:p>
          <a:p>
            <a:pPr algn="l">
              <a:lnSpc>
                <a:spcPts val="4680"/>
              </a:lnSpc>
            </a:pPr>
            <a:r>
              <a:rPr sz="3600" b="1">
                <a:solidFill>
                  <a:srgbClr val="2C2C2A"/>
                </a:solidFill>
                <a:latin typeface="Lexend"/>
              </a:rPr>
              <a:t>before the Launch gate and explain why</a:t>
            </a:r>
          </a:p>
          <a:p>
            <a:pPr algn="l">
              <a:lnSpc>
                <a:spcPts val="4680"/>
              </a:lnSpc>
            </a:pPr>
            <a:r>
              <a:rPr sz="3600" b="1">
                <a:solidFill>
                  <a:srgbClr val="2C2C2A"/>
                </a:solidFill>
                <a:latin typeface="Lexend"/>
              </a:rPr>
              <a:t>the weekly boost is still only proposed.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Launch Walk And Boosts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M08-L2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M08 · v1 · Slide 14</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scripts/modules/M08.json · AF-UNDERSTANDING-2026-10-22.md, ClickFunnels - OverSkill - Integration (CURRENT 13 Sep 2026).md, ClickFunnels-Platform-Reference.md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user-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It Worked On The Laptop</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She tried the new Stayproof site on her laptop, signing up as a brand-new</a:t>
            </a:r>
          </a:p>
          <a:p>
            <a:pPr algn="l">
              <a:lnSpc>
                <a:spcPts val="2600"/>
              </a:lnSpc>
            </a:pPr>
            <a:r>
              <a:rPr sz="2000" b="0">
                <a:solidFill>
                  <a:srgbClr val="756E65"/>
                </a:solidFill>
                <a:latin typeface="Lexend"/>
              </a:rPr>
              <a:t>kennel worker, and everything worked.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Launch Walk And Boosts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M08-L2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M08 · v1 · Slide 15</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scripts/modules/M08.json · AF-UNDERSTANDING-2026-10-22.md, ClickFunnels - OverSkill - Integration (CURRENT 13 Sep 2026).md, ClickFunnels-Platform-Reference.md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droplet-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Leak Test Every Table, Two Accounts</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Before launch, the leak check runs one last time, and it is strict.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Launch Walk And Boosts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M08-L2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M08 · v1 · Slide 16</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scripts/modules/M08.json · AF-UNDERSTANDING-2026-10-22.md, ClickFunnels - OverSkill - Integration (CURRENT 13 Sep 2026).md, ClickFunnels-Platform-Reference.md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player-play-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The Launch Walk, Desktop And Phone</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Before the gate, a brand-new account for each brand walks the whole</a:t>
            </a:r>
          </a:p>
          <a:p>
            <a:pPr algn="l">
              <a:lnSpc>
                <a:spcPts val="2600"/>
              </a:lnSpc>
            </a:pPr>
            <a:r>
              <a:rPr sz="2000" b="0">
                <a:solidFill>
                  <a:srgbClr val="756E65"/>
                </a:solidFill>
                <a:latin typeface="Lexend"/>
              </a:rPr>
              <a:t>journey on the live site, on desktop and on phone, including email...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Launch Walk And Boosts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M08-L2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M08 · v1 · Slide 17</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scripts/modules/M08.json · AF-UNDERSTANDING-2026-10-22.md, ClickFunnels - OverSkill - Integration (CURRENT 13 Sep 2026).md, ClickFunnels-Platform-Reference.md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users-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The User-Switch Test</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Then comes the user-switch test, a standard check on every app.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Launch Walk And Boosts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M08-L2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M08 · v1 · Slide 18</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scripts/modules/M08.json · AF-UNDERSTANDING-2026-10-22.md, ClickFunnels - OverSkill - Integration (CURRENT 13 Sep 2026).md, ClickFunnels-Platform-Reference.md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ash-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Checkout Tested On The Live Link</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Checkout is tested on the live link with a 100 percent off test code: buy, sign</a:t>
            </a:r>
          </a:p>
          <a:p>
            <a:pPr algn="l">
              <a:lnSpc>
                <a:spcPts val="2600"/>
              </a:lnSpc>
            </a:pPr>
            <a:r>
              <a:rPr sz="2000" b="0">
                <a:solidFill>
                  <a:srgbClr val="756E65"/>
                </a:solidFill>
                <a:latin typeface="Lexend"/>
              </a:rPr>
              <a:t>in, and get access.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Launch Walk And Boosts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M08-L2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M08 · v1 · Slide 19</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scripts/modules/M08.json · AF-UNDERSTANDING-2026-10-22.md, ClickFunnels - OverSkill - Integration (CURRENT 13 Sep 2026).md, ClickFunnels-Platform-Reference.md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flag-2C2C2A.png"/>
          <p:cNvPicPr>
            <a:picLocks noChangeAspect="1"/>
          </p:cNvPicPr>
          <p:nvPr/>
        </p:nvPicPr>
        <p:blipFill>
          <a:blip r:embed="rId2"/>
          <a:stretch>
            <a:fillRect/>
          </a:stretch>
        </p:blipFill>
        <p:spPr>
          <a:xfrm>
            <a:off x="609600" y="2722879"/>
            <a:ext cx="1016000" cy="1016000"/>
          </a:xfrm>
          <a:prstGeom prst="rect">
            <a:avLst/>
          </a:prstGeom>
        </p:spPr>
      </p:pic>
      <p:sp>
        <p:nvSpPr>
          <p:cNvPr id="11" name="TextBox 10"/>
          <p:cNvSpPr txBox="1"/>
          <p:nvPr/>
        </p:nvSpPr>
        <p:spPr>
          <a:xfrm>
            <a:off x="2070100" y="2684779"/>
            <a:ext cx="9563100" cy="121412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Support Route, Then The Launch Gate</a:t>
            </a:r>
          </a:p>
          <a:p>
            <a:pPr algn="l">
              <a:lnSpc>
                <a:spcPts val="4680"/>
              </a:lnSpc>
            </a:pPr>
            <a:r>
              <a:rPr sz="3600" b="1">
                <a:solidFill>
                  <a:srgbClr val="2C2C2A"/>
                </a:solidFill>
                <a:latin typeface="Lexend"/>
              </a:rPr>
              <a:t>(7-8)</a:t>
            </a:r>
          </a:p>
        </p:txBody>
      </p:sp>
      <p:sp>
        <p:nvSpPr>
          <p:cNvPr id="12" name="TextBox 11"/>
          <p:cNvSpPr txBox="1"/>
          <p:nvPr/>
        </p:nvSpPr>
        <p:spPr>
          <a:xfrm>
            <a:off x="2070100" y="406400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The support route is tested too, so a real person with a problem can actually</a:t>
            </a:r>
          </a:p>
          <a:p>
            <a:pPr algn="l">
              <a:lnSpc>
                <a:spcPts val="2600"/>
              </a:lnSpc>
            </a:pPr>
            <a:r>
              <a:rPr sz="2000" b="0">
                <a:solidFill>
                  <a:srgbClr val="756E65"/>
                </a:solidFill>
                <a:latin typeface="Lexend"/>
              </a:rPr>
              <a:t>reach help.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Launch Walk And Boosts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M08-L2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M08 · v1 · Slide 20</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scripts/modules/M08.json · AF-UNDERSTANDING-2026-10-22.md, ClickFunnels - OverSkill - Integration (CURRENT 13 Sep 2026).md, ClickFunnels-Platform-Reference.md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trending-up-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Weekly Boost: Proposed, Not A Rule</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The factory's template has a weekly boost line: a weekly proposal of ways to</a:t>
            </a:r>
          </a:p>
          <a:p>
            <a:pPr algn="l">
              <a:lnSpc>
                <a:spcPts val="2600"/>
              </a:lnSpc>
            </a:pPr>
            <a:r>
              <a:rPr sz="2000" b="0">
                <a:solidFill>
                  <a:srgbClr val="756E65"/>
                </a:solidFill>
                <a:latin typeface="Lexend"/>
              </a:rPr>
              <a:t>help the app get found, using parts from the Boost shelf,...</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Launch Walk And Boosts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M08-L2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M08 · v1 · Slide 21</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scripts/modules/M08.json · AF-UNDERSTANDING-2026-10-22.md, ClickFunnels - OverSkill - Integration (CURRENT 13 Sep 2026).md, ClickFunnels-Platform-Reference.md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rocket-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Ready For Real Users</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So before an app opens to real users, it passes a leak test on every table</a:t>
            </a:r>
          </a:p>
          <a:p>
            <a:pPr algn="l">
              <a:lnSpc>
                <a:spcPts val="2600"/>
              </a:lnSpc>
            </a:pPr>
            <a:r>
              <a:rPr sz="2000" b="0">
                <a:solidFill>
                  <a:srgbClr val="756E65"/>
                </a:solidFill>
                <a:latin typeface="Lexend"/>
              </a:rPr>
              <a:t>with two accounts, a launch walk on desktop and phone, 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Recap</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The Launch Walk And Boosts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M08 · v1 · Slide 22</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scripts/modules/M08.json · AF-UNDERSTANDING-2026-10-22.md, ClickFunnels - OverSkill - Integration (CURRENT 13 Sep 2026).md, ClickFunnels-Platform-Reference.md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ircle-check-217A2D.png"/>
          <p:cNvPicPr>
            <a:picLocks noChangeAspect="1"/>
          </p:cNvPicPr>
          <p:nvPr/>
        </p:nvPicPr>
        <p:blipFill>
          <a:blip r:embed="rId2"/>
          <a:stretch>
            <a:fillRect/>
          </a:stretch>
        </p:blipFill>
        <p:spPr>
          <a:xfrm>
            <a:off x="609600" y="1808479"/>
            <a:ext cx="304800" cy="304800"/>
          </a:xfrm>
          <a:prstGeom prst="rect">
            <a:avLst/>
          </a:prstGeom>
        </p:spPr>
      </p:pic>
      <p:sp>
        <p:nvSpPr>
          <p:cNvPr id="11" name="TextBox 10"/>
          <p:cNvSpPr txBox="1"/>
          <p:nvPr/>
        </p:nvSpPr>
        <p:spPr>
          <a:xfrm>
            <a:off x="1092200" y="1833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Leak Test Every Table With Two Accounts</a:t>
            </a:r>
          </a:p>
        </p:txBody>
      </p:sp>
      <p:pic>
        <p:nvPicPr>
          <p:cNvPr id="12" name="Picture 11" descr="circle-check-217A2D.png"/>
          <p:cNvPicPr>
            <a:picLocks noChangeAspect="1"/>
          </p:cNvPicPr>
          <p:nvPr/>
        </p:nvPicPr>
        <p:blipFill>
          <a:blip r:embed="rId2"/>
          <a:stretch>
            <a:fillRect/>
          </a:stretch>
        </p:blipFill>
        <p:spPr>
          <a:xfrm>
            <a:off x="609600" y="2316479"/>
            <a:ext cx="304800" cy="304800"/>
          </a:xfrm>
          <a:prstGeom prst="rect">
            <a:avLst/>
          </a:prstGeom>
        </p:spPr>
      </p:pic>
      <p:sp>
        <p:nvSpPr>
          <p:cNvPr id="13" name="TextBox 12"/>
          <p:cNvSpPr txBox="1"/>
          <p:nvPr/>
        </p:nvSpPr>
        <p:spPr>
          <a:xfrm>
            <a:off x="1092200" y="2341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Walk The Journey New, On Desktop And Phone</a:t>
            </a:r>
          </a:p>
        </p:txBody>
      </p:sp>
      <p:pic>
        <p:nvPicPr>
          <p:cNvPr id="14" name="Picture 13" descr="circle-check-217A2D.png"/>
          <p:cNvPicPr>
            <a:picLocks noChangeAspect="1"/>
          </p:cNvPicPr>
          <p:nvPr/>
        </p:nvPicPr>
        <p:blipFill>
          <a:blip r:embed="rId2"/>
          <a:stretch>
            <a:fillRect/>
          </a:stretch>
        </p:blipFill>
        <p:spPr>
          <a:xfrm>
            <a:off x="609600" y="2824479"/>
            <a:ext cx="304800" cy="304800"/>
          </a:xfrm>
          <a:prstGeom prst="rect">
            <a:avLst/>
          </a:prstGeom>
        </p:spPr>
      </p:pic>
      <p:sp>
        <p:nvSpPr>
          <p:cNvPr id="15" name="TextBox 14"/>
          <p:cNvSpPr txBox="1"/>
          <p:nvPr/>
        </p:nvSpPr>
        <p:spPr>
          <a:xfrm>
            <a:off x="1092200" y="2849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The Owner Always Decides The Launch Gate (7-8)</a:t>
            </a:r>
          </a:p>
        </p:txBody>
      </p:sp>
      <p:sp>
        <p:nvSpPr>
          <p:cNvPr id="16" name="Rounded Rectangle 15"/>
          <p:cNvSpPr/>
          <p:nvPr/>
        </p:nvSpPr>
        <p:spPr>
          <a:xfrm>
            <a:off x="609600" y="3459479"/>
            <a:ext cx="10972800" cy="852169"/>
          </a:xfrm>
          <a:prstGeom prst="roundRect">
            <a:avLst>
              <a:gd name="adj" fmla="val 35767"/>
            </a:avLst>
          </a:prstGeom>
          <a:solidFill>
            <a:srgbClr val="F2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09600" y="3459479"/>
            <a:ext cx="38100" cy="852169"/>
          </a:xfrm>
          <a:prstGeom prst="roundRect">
            <a:avLst>
              <a:gd name="adj" fmla="val 50000"/>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63600" y="3611879"/>
            <a:ext cx="3860800" cy="207010"/>
          </a:xfrm>
          <a:prstGeom prst="rect">
            <a:avLst/>
          </a:prstGeom>
          <a:noFill/>
        </p:spPr>
        <p:txBody>
          <a:bodyPr wrap="square" lIns="0" rIns="0" tIns="0" bIns="0" anchor="t">
            <a:noAutofit/>
          </a:bodyPr>
          <a:lstStyle/>
          <a:p>
            <a:pPr algn="l">
              <a:lnSpc>
                <a:spcPts val="1430"/>
              </a:lnSpc>
            </a:pPr>
            <a:r>
              <a:rPr sz="1100" b="1">
                <a:solidFill>
                  <a:srgbClr val="756E65"/>
                </a:solidFill>
                <a:latin typeface="Lexend"/>
              </a:rPr>
              <a:t>WHY IT MATTERS</a:t>
            </a:r>
          </a:p>
        </p:txBody>
      </p:sp>
      <p:sp>
        <p:nvSpPr>
          <p:cNvPr id="19" name="TextBox 18"/>
          <p:cNvSpPr txBox="1"/>
          <p:nvPr/>
        </p:nvSpPr>
        <p:spPr>
          <a:xfrm>
            <a:off x="863600" y="3853179"/>
            <a:ext cx="105156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Real Users Deserve An App Proved On Every Path</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Quick Check</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The Launch Walk And Boosts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M08 · v1 · Slide 23</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scripts/modules/M08.json · AF-UNDERSTANDING-2026-10-22.md, ClickFunnels - OverSkill - Integration (CURRENT 13 Sep 2026).md, ClickFunnels-Platform-Reference.md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TextBox 9"/>
          <p:cNvSpPr txBox="1"/>
          <p:nvPr/>
        </p:nvSpPr>
        <p:spPr>
          <a:xfrm>
            <a:off x="609600" y="1744979"/>
            <a:ext cx="11023600" cy="421640"/>
          </a:xfrm>
          <a:prstGeom prst="rect">
            <a:avLst/>
          </a:prstGeom>
          <a:noFill/>
        </p:spPr>
        <p:txBody>
          <a:bodyPr wrap="square" lIns="0" rIns="0" tIns="0" bIns="0" anchor="t">
            <a:noAutofit/>
          </a:bodyPr>
          <a:lstStyle/>
          <a:p>
            <a:pPr algn="l">
              <a:lnSpc>
                <a:spcPts val="3120"/>
              </a:lnSpc>
            </a:pPr>
            <a:r>
              <a:rPr sz="2400" b="1">
                <a:solidFill>
                  <a:srgbClr val="2C2C2A"/>
                </a:solidFill>
                <a:latin typeface="Lexend"/>
              </a:rPr>
              <a:t>Why does the launch walk include a phone?</a:t>
            </a:r>
          </a:p>
        </p:txBody>
      </p:sp>
      <p:sp>
        <p:nvSpPr>
          <p:cNvPr id="11" name="Rounded Rectangle 10"/>
          <p:cNvSpPr/>
          <p:nvPr/>
        </p:nvSpPr>
        <p:spPr>
          <a:xfrm>
            <a:off x="609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12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A</a:t>
            </a:r>
          </a:p>
        </p:txBody>
      </p:sp>
      <p:sp>
        <p:nvSpPr>
          <p:cNvPr id="13" name="TextBox 12"/>
          <p:cNvSpPr txBox="1"/>
          <p:nvPr/>
        </p:nvSpPr>
        <p:spPr>
          <a:xfrm>
            <a:off x="1244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Phones are faster to test on</a:t>
            </a:r>
          </a:p>
        </p:txBody>
      </p:sp>
      <p:sp>
        <p:nvSpPr>
          <p:cNvPr id="14" name="Rounded Rectangle 13"/>
          <p:cNvSpPr/>
          <p:nvPr/>
        </p:nvSpPr>
        <p:spPr>
          <a:xfrm>
            <a:off x="6197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0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B</a:t>
            </a:r>
          </a:p>
        </p:txBody>
      </p:sp>
      <p:sp>
        <p:nvSpPr>
          <p:cNvPr id="16" name="TextBox 15"/>
          <p:cNvSpPr txBox="1"/>
          <p:nvPr/>
        </p:nvSpPr>
        <p:spPr>
          <a:xfrm>
            <a:off x="6832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The sales page is only shown on phones</a:t>
            </a:r>
          </a:p>
        </p:txBody>
      </p:sp>
      <p:sp>
        <p:nvSpPr>
          <p:cNvPr id="17" name="Rounded Rectangle 16"/>
          <p:cNvSpPr/>
          <p:nvPr/>
        </p:nvSpPr>
        <p:spPr>
          <a:xfrm>
            <a:off x="609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2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C</a:t>
            </a:r>
          </a:p>
        </p:txBody>
      </p:sp>
      <p:sp>
        <p:nvSpPr>
          <p:cNvPr id="19" name="TextBox 18"/>
          <p:cNvSpPr txBox="1"/>
          <p:nvPr/>
        </p:nvSpPr>
        <p:spPr>
          <a:xfrm>
            <a:off x="1244600" y="36525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Phones never need a sign-in</a:t>
            </a:r>
          </a:p>
        </p:txBody>
      </p:sp>
      <p:sp>
        <p:nvSpPr>
          <p:cNvPr id="20" name="Rounded Rectangle 19"/>
          <p:cNvSpPr/>
          <p:nvPr/>
        </p:nvSpPr>
        <p:spPr>
          <a:xfrm>
            <a:off x="6197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00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D</a:t>
            </a:r>
          </a:p>
        </p:txBody>
      </p:sp>
      <p:sp>
        <p:nvSpPr>
          <p:cNvPr id="22" name="TextBox 21"/>
          <p:cNvSpPr txBox="1"/>
          <p:nvPr/>
        </p:nvSpPr>
        <p:spPr>
          <a:xfrm>
            <a:off x="6832600" y="3652519"/>
            <a:ext cx="4610100" cy="55372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Email links opened on a phone can break a</a:t>
            </a:r>
          </a:p>
          <a:p>
            <a:pPr algn="l">
              <a:lnSpc>
                <a:spcPts val="2080"/>
              </a:lnSpc>
            </a:pPr>
            <a:r>
              <a:rPr sz="1600" b="0">
                <a:solidFill>
                  <a:srgbClr val="2C2C2A"/>
                </a:solidFill>
                <a:latin typeface="Lexend SemiBold"/>
              </a:rPr>
              <a:t>journey that works on desktop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