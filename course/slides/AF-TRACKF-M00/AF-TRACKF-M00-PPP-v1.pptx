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every app is built from, why most apps are made by hand, and the road of 9 stages, 11 rooms and gates that every idea travels in the factory.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outcome.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 is thirteen and helps on Saturdays at The Tidy Paw, a dog grooming salon run by Juno Platt. Juno keeps her bookings on paper cards, and every week a few clients simply do not turn up. Ava wanted to build Juno an app that would fix this. She opened an app builder, stared at the blank page, and stopped. She did not know where to begin. Then she noticed something that changed how she saw it: every app, however big, is made of the same four things. Screens, tables, rules and people. Name those four first, and the blank page stops being blank.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screens. A screen is one page of an app that a person looks at and touches, such as a calendar, a form or a list. For Juno's salon, one screen might show today's bookings. Another might let a client pick a time. A screen does not store anything on its own. It only shows information and collects it. That matters, because a lot of people think the screens are the app. They are only the front window. Behind every screen sits the part that remembers things, and that is where we go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Behind the screens sit tables. A table is where an app stores its data, laid out in rows and columns, rather like a spreadsheet. Each row is one thing, such as one booking. Each column is one fact about it, such as the date, the time or the dog's name. Juno's salon would need a table of bookings, a table of clients and a table of free time slots. The plan of all the tables an app needs is called a schema. Get the tables right and the screens are easy to change later. Get them wrong and everything wobbles.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come rules. A rule decides who may see something and who may change it. Juno should see all her own clients. A client should see only their own bookings, never anyone else's. If a second salon used the same app, neither salon should ever see the other's data. In this course, a rule that keeps one group's data apart from another's is called a wall. When a wall fails and someone sees data that is not theirs, that is called a leak. A leak is the most serious mistake an app can make, so the factory tests for leaks again and again.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thing is people. Every app has different kinds of people using it, and each kind needs different screens and different rules. There is the owner who runs the app. There are the businesses that use it, like Juno's salon. There are those businesses' customers, like the dog owners who book a trim. And there is the public: strangers who have not signed in at all. These ideas come back in the four groups of codes you will meet in Stage 0. Knowing exactly who signs in, and who does not, shapes every table and every rule.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why does this matter? Most apps today are made by hand. Someone starts from a blank page, invents the screens, the tables and the rules from nothing, and makes hundreds of choices along the way. The next app starts from a blank page again. The same mistakes get made twice, and the same safety checks get forgotten twice. Nothing learned on one app is carried to the next. That can work for a single app. It does not work if you want many apps that are all safe, all tested and all built the same careful way.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app factory takes a different route. Every idea travels the same road, in the same order, with the same checklist at each step. Instead of inventing parts from nothing, the factory reuses tested parts called bricks. There are 101 bricks, kept on 8 shelves, and they are grouped into 9 ready-made bundles called kits, numbered K00-K08. Kit K00 is the floor that every app gets: the basics, the walls between businesses, and the legal and consent parts. When a problem is found on one app, the fix becomes a checklist line, so the next app does not repeat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put it together. Ava now has a plan before she builds anything. For Juno's salon she can list the screens: today's bookings and a booking page. She can list the tables: bookings, clients and time slots. She can write the rules: each client sees only their own bookings, and each salon sees only its own clients. And she can name the people: Juno, her clients and the public. That list is the start of every app the factory makes. Next you will see the road an idea travels, its rooms and its gates. First, a recap.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A table stores the app's data, with one row per thing and one column per fact.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outcome.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 is fifteen. One weekend he had an idea for a small app to help his gran keep track of her dog's walks and feeding times, and he wanted it finished by Sunday night. So he skipped straight to building. By Sunday it worked, until his cousin signed in and could read his gran's private notes. Sam had wanted speed. What stopped him was a mistake he never checked for. The lesson he took away was simple: an app is safer when it travels a fixed road, with gates where it must stop and prove itself before it moves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factory, every idea travels the same road of nine stages, numbered 0 to 8. Stage 0 is Idea, where the idea is written down. Stage 1 is Research, where we check whether people need it. Stage 2 is Base, where we pick a starting point. Stage 3 is Features, where we choose what goes in. Stage 4 is Schema, the plan of the tables. Stage 5 is Data, where test accounts are set up. Stage 6 is Prompts, where the app is actually built. Stage 7 is Launch. Stage 8 is Operate, where the live app is watched every day.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make this road easy to follow. First, the money. Stages 0 to 5 cost no build credits at all. Build credits are what the building platform charges each time it writes code. Stage 6, Prompts, is the only stage that spends them, so every check before it is free. Second, the paperwork. Each app has a card, which holds its 20 codes and is never overwritten, and one document organised by stage. Each stage of that document ends with a line saying when it is finished. That line is the test for the stage.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road runs through rooms. A room is simply where an app sits while it is at a certain stage, so anyone can see at a glance what is happening. There are 11 rooms in all. Six sit on the main road. Reception holds new ideas at Stage 0. Research holds Stages 1, 2 and 3. The Rig holds Stages 4 and 5, where tables and test data are set up. The Reactor holds Stage 6, the paid build. The Runway holds Stage 7, launch. And Radar holds Stage 8, where live apps are watched.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other five rooms sit beside the road. Recovery holds ideas that were killed or held, so they are kept as evidence and can be looked at again. Reserve holds spare parts, such as bricks and kits from apps that were switched off. The Ready Room is where locked jobs wait for a free building lane. Rescue is for live apps in trouble that need an urgent fix. And Recycle is where a retired app's parts go back onto the shelves. Nothing in the factory is simply thrown away. Even a failure teaches the next app something.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Between the stages sit gates. A gate is a stop point where the app must prove its stage is finished before it may move on. There are 8 gates on the main road. Screen sits between Stages 0 and 1. Merit sits between 1 and 2. Base sits between 2 and 3. Lock sits between 3 and 4. Schema sits between 4 and 5. Invest sits between 5 and 6. Send sits between 6 and 7. Launch sits between 7 and 8. A gate cannot open while any checklist line for its stage is still not done.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gates open by themselves when every check passes. Base and Schema are automatic. Invest is automatic when the build is estimated at 1,500 credits or less. At the others, a person decides: Screen, Merit, Lock, Invest when the build is bigger, Send and Launch. Their yes is the only thing that moves the app. Inside some gates sit smaller checks. Slot, inside Invest, makes sure no more than 3 apps are being built at once, with 1 lane kept free for rescues. Leak and Live, inside Launch, prove nothing leaks and the first real sign-in works.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is not the end. A live app goes round a lap, and three lap gates watch it. Trouble is automatic: if an incident is opened on a live app, the app moves to Rescue. Back to Operate is a person's decision, and the question is whether the fix is proved live. Retire is also a person's decision: should the app be switched off and archived? So that is the whole map. Nine stages, 11 rooms, 8 road gates and 3 lap gates, with a person deciding at the moments that matter most. Let us recap before Stage 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The road has nine stages, from 0 Idea to 8 Operate.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What Is An App Factory</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Track F · Family Learners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sp>
        <p:nvSpPr>
          <p:cNvPr id="10" name="TextBox 9"/>
          <p:cNvSpPr txBox="1"/>
          <p:nvPr/>
        </p:nvSpPr>
        <p:spPr>
          <a:xfrm>
            <a:off x="609600" y="2252979"/>
            <a:ext cx="7035800" cy="2600960"/>
          </a:xfrm>
          <a:prstGeom prst="rect">
            <a:avLst/>
          </a:prstGeom>
          <a:noFill/>
        </p:spPr>
        <p:txBody>
          <a:bodyPr wrap="square" lIns="0" rIns="0" tIns="0" bIns="0" anchor="t">
            <a:noAutofit/>
          </a:bodyPr>
          <a:lstStyle/>
          <a:p>
            <a:pPr algn="l">
              <a:lnSpc>
                <a:spcPts val="6760"/>
              </a:lnSpc>
            </a:pPr>
            <a:r>
              <a:rPr sz="5200" b="1">
                <a:solidFill>
                  <a:srgbClr val="2C2C2A"/>
                </a:solidFill>
                <a:latin typeface="Lexend"/>
              </a:rPr>
              <a:t>What An App Is</a:t>
            </a:r>
          </a:p>
          <a:p>
            <a:pPr algn="l">
              <a:lnSpc>
                <a:spcPts val="6760"/>
              </a:lnSpc>
            </a:pPr>
            <a:r>
              <a:rPr sz="5200" b="1">
                <a:solidFill>
                  <a:srgbClr val="2C2C2A"/>
                </a:solidFill>
                <a:latin typeface="Lexend"/>
              </a:rPr>
              <a:t>Made Of, The Road,</a:t>
            </a:r>
          </a:p>
          <a:p>
            <a:pPr algn="l">
              <a:lnSpc>
                <a:spcPts val="6760"/>
              </a:lnSpc>
            </a:pPr>
            <a:r>
              <a:rPr sz="5200" b="1">
                <a:solidFill>
                  <a:srgbClr val="2C2C2A"/>
                </a:solidFill>
                <a:latin typeface="Lexend"/>
              </a:rPr>
              <a:t>Rooms And Gates</a:t>
            </a:r>
          </a:p>
        </p:txBody>
      </p:sp>
      <p:sp>
        <p:nvSpPr>
          <p:cNvPr id="11" name="TextBox 10"/>
          <p:cNvSpPr txBox="1"/>
          <p:nvPr/>
        </p:nvSpPr>
        <p:spPr>
          <a:xfrm>
            <a:off x="609600" y="4955540"/>
            <a:ext cx="6400800" cy="10160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What every app is built from, why most apps are</a:t>
            </a:r>
          </a:p>
          <a:p>
            <a:pPr algn="l">
              <a:lnSpc>
                <a:spcPts val="2600"/>
              </a:lnSpc>
            </a:pPr>
            <a:r>
              <a:rPr sz="2000" b="0">
                <a:solidFill>
                  <a:srgbClr val="756E65"/>
                </a:solidFill>
                <a:latin typeface="Lexend"/>
              </a:rPr>
              <a:t>made by hand, and the road of 9 stages, 11 rooms</a:t>
            </a:r>
          </a:p>
          <a:p>
            <a:pPr algn="l">
              <a:lnSpc>
                <a:spcPts val="2600"/>
              </a:lnSpc>
            </a:pPr>
            <a:r>
              <a:rPr sz="2000" b="0">
                <a:solidFill>
                  <a:srgbClr val="756E65"/>
                </a:solidFill>
                <a:latin typeface="Lexend"/>
              </a:rPr>
              <a:t>and gates that every idea travels in the factory.</a:t>
            </a:r>
          </a:p>
        </p:txBody>
      </p:sp>
      <p:pic>
        <p:nvPicPr>
          <p:cNvPr id="12" name="Picture 11" descr="building-factory-2-2C2C2A.png"/>
          <p:cNvPicPr>
            <a:picLocks noChangeAspect="1"/>
          </p:cNvPicPr>
          <p:nvPr/>
        </p:nvPicPr>
        <p:blipFill>
          <a:blip r:embed="rId2"/>
          <a:stretch>
            <a:fillRect/>
          </a:stretch>
        </p:blipFill>
        <p:spPr>
          <a:xfrm>
            <a:off x="8572500" y="2506979"/>
            <a:ext cx="2286000" cy="2286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What An App Is Made Of</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M00-L1 · About 6 Minutes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0" name="Picture 9" descr="target-2C2C2A.png"/>
          <p:cNvPicPr>
            <a:picLocks noChangeAspect="1"/>
          </p:cNvPicPr>
          <p:nvPr/>
        </p:nvPicPr>
        <p:blipFill>
          <a:blip r:embed="rId2"/>
          <a:stretch>
            <a:fillRect/>
          </a:stretch>
        </p:blipFill>
        <p:spPr>
          <a:xfrm>
            <a:off x="609600" y="2851150"/>
            <a:ext cx="1016000" cy="1016000"/>
          </a:xfrm>
          <a:prstGeom prst="rect">
            <a:avLst/>
          </a:prstGeom>
        </p:spPr>
      </p:pic>
      <p:sp>
        <p:nvSpPr>
          <p:cNvPr id="11" name="TextBox 10"/>
          <p:cNvSpPr txBox="1"/>
          <p:nvPr/>
        </p:nvSpPr>
        <p:spPr>
          <a:xfrm>
            <a:off x="2070100" y="2813050"/>
            <a:ext cx="9563100" cy="180848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You can name the four things every app</a:t>
            </a:r>
          </a:p>
          <a:p>
            <a:pPr algn="l">
              <a:lnSpc>
                <a:spcPts val="4680"/>
              </a:lnSpc>
            </a:pPr>
            <a:r>
              <a:rPr sz="3600" b="1">
                <a:solidFill>
                  <a:srgbClr val="2C2C2A"/>
                </a:solidFill>
                <a:latin typeface="Lexend"/>
              </a:rPr>
              <a:t>is made of and explain why a factory</a:t>
            </a:r>
          </a:p>
          <a:p>
            <a:pPr algn="l">
              <a:lnSpc>
                <a:spcPts val="4680"/>
              </a:lnSpc>
            </a:pPr>
            <a:r>
              <a:rPr sz="3600" b="1">
                <a:solidFill>
                  <a:srgbClr val="2C2C2A"/>
                </a:solidFill>
                <a:latin typeface="Lexend"/>
              </a:rPr>
              <a:t>reuses tested parts.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What An App Is Made Of</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0" name="Picture 9" descr="bulb-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Ava, A Blank Page And Four Things</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Ava is thirteen and helps on Saturdays at The Tidy Paw, a dog grooming</a:t>
            </a:r>
          </a:p>
          <a:p>
            <a:pPr algn="l">
              <a:lnSpc>
                <a:spcPts val="2600"/>
              </a:lnSpc>
            </a:pPr>
            <a:r>
              <a:rPr sz="2000" b="0">
                <a:solidFill>
                  <a:srgbClr val="756E65"/>
                </a:solidFill>
                <a:latin typeface="Lexend"/>
              </a:rPr>
              <a:t>salon run by Juno Platt.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What An App Is Made Of</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0" name="Picture 9" descr="layout-dashboard-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Screens Are What People See</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A screen is one page of an app that a person looks at and touches, such as a</a:t>
            </a:r>
          </a:p>
          <a:p>
            <a:pPr algn="l">
              <a:lnSpc>
                <a:spcPts val="2600"/>
              </a:lnSpc>
            </a:pPr>
            <a:r>
              <a:rPr sz="2000" b="0">
                <a:solidFill>
                  <a:srgbClr val="756E65"/>
                </a:solidFill>
                <a:latin typeface="Lexend"/>
              </a:rPr>
              <a:t>calendar, a form or a list.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What An App Is Made Of</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0" name="Picture 9" descr="table-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Tables Hold The Data In Rows</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A table is where an app stores its data, laid out in rows and columns, rather</a:t>
            </a:r>
          </a:p>
          <a:p>
            <a:pPr algn="l">
              <a:lnSpc>
                <a:spcPts val="2600"/>
              </a:lnSpc>
            </a:pPr>
            <a:r>
              <a:rPr sz="2000" b="0">
                <a:solidFill>
                  <a:srgbClr val="756E65"/>
                </a:solidFill>
                <a:latin typeface="Lexend"/>
              </a:rPr>
              <a:t>like a spreadsheet.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What An App Is Made Of</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0" name="Picture 9" descr="shield-check-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Rules Decide Who Sees What</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A rule decides who may see something and who may change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What An App Is Made Of</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0" name="Picture 9" descr="users-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People: Who Uses The App</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Every app has different kinds of people using it, and each kind needs</a:t>
            </a:r>
          </a:p>
          <a:p>
            <a:pPr algn="l">
              <a:lnSpc>
                <a:spcPts val="2600"/>
              </a:lnSpc>
            </a:pPr>
            <a:r>
              <a:rPr sz="2000" b="0">
                <a:solidFill>
                  <a:srgbClr val="756E65"/>
                </a:solidFill>
                <a:latin typeface="Lexend"/>
              </a:rPr>
              <a:t>different screens and different rules.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What An App Is Made Of</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0" name="Picture 9" descr="clock-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Most Apps Are Built By Hand</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Someone starts from a blank page, invents the screens, the tables and the</a:t>
            </a:r>
          </a:p>
          <a:p>
            <a:pPr algn="l">
              <a:lnSpc>
                <a:spcPts val="2600"/>
              </a:lnSpc>
            </a:pPr>
            <a:r>
              <a:rPr sz="2000" b="0">
                <a:solidFill>
                  <a:srgbClr val="756E65"/>
                </a:solidFill>
                <a:latin typeface="Lexend"/>
              </a:rPr>
              <a:t>rules from nothing, and makes hundreds of choices along the way.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What An App Is Made Of</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0" name="Picture 9" descr="building-factory-2-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Factory Reuses Tested Parts</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Every idea travels the same road, in the same order, with the same checklist</a:t>
            </a:r>
          </a:p>
          <a:p>
            <a:pPr algn="l">
              <a:lnSpc>
                <a:spcPts val="2600"/>
              </a:lnSpc>
            </a:pPr>
            <a:r>
              <a:rPr sz="2000" b="0">
                <a:solidFill>
                  <a:srgbClr val="756E65"/>
                </a:solidFill>
                <a:latin typeface="Lexend"/>
              </a:rPr>
              <a:t>at each step.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What An App Is Made Of</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10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0" name="Picture 9" descr="checklist-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Ava's Plan Before Building</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Ava now has a plan before she builds anything.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What An App Is Made Of</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11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0" name="Picture 9" descr="circle-check-217A2D.png"/>
          <p:cNvPicPr>
            <a:picLocks noChangeAspect="1"/>
          </p:cNvPicPr>
          <p:nvPr/>
        </p:nvPicPr>
        <p:blipFill>
          <a:blip r:embed="rId2"/>
          <a:stretch>
            <a:fillRect/>
          </a:stretch>
        </p:blipFill>
        <p:spPr>
          <a:xfrm>
            <a:off x="609600" y="1808479"/>
            <a:ext cx="304800" cy="304800"/>
          </a:xfrm>
          <a:prstGeom prst="rect">
            <a:avLst/>
          </a:prstGeom>
        </p:spPr>
      </p:pic>
      <p:sp>
        <p:nvSpPr>
          <p:cNvPr id="11" name="TextBox 10"/>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Screens Show And Collect Information</a:t>
            </a:r>
          </a:p>
        </p:txBody>
      </p:sp>
      <p:pic>
        <p:nvPicPr>
          <p:cNvPr id="12" name="Picture 11" descr="circle-check-217A2D.png"/>
          <p:cNvPicPr>
            <a:picLocks noChangeAspect="1"/>
          </p:cNvPicPr>
          <p:nvPr/>
        </p:nvPicPr>
        <p:blipFill>
          <a:blip r:embed="rId2"/>
          <a:stretch>
            <a:fillRect/>
          </a:stretch>
        </p:blipFill>
        <p:spPr>
          <a:xfrm>
            <a:off x="609600" y="2316479"/>
            <a:ext cx="304800" cy="304800"/>
          </a:xfrm>
          <a:prstGeom prst="rect">
            <a:avLst/>
          </a:prstGeom>
        </p:spPr>
      </p:pic>
      <p:sp>
        <p:nvSpPr>
          <p:cNvPr id="13" name="TextBox 12"/>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Tables Store Data In Rows And Columns</a:t>
            </a:r>
          </a:p>
        </p:txBody>
      </p:sp>
      <p:pic>
        <p:nvPicPr>
          <p:cNvPr id="14" name="Picture 13" descr="circle-check-217A2D.png"/>
          <p:cNvPicPr>
            <a:picLocks noChangeAspect="1"/>
          </p:cNvPicPr>
          <p:nvPr/>
        </p:nvPicPr>
        <p:blipFill>
          <a:blip r:embed="rId2"/>
          <a:stretch>
            <a:fillRect/>
          </a:stretch>
        </p:blipFill>
        <p:spPr>
          <a:xfrm>
            <a:off x="609600" y="2824479"/>
            <a:ext cx="304800" cy="304800"/>
          </a:xfrm>
          <a:prstGeom prst="rect">
            <a:avLst/>
          </a:prstGeom>
        </p:spPr>
      </p:pic>
      <p:sp>
        <p:nvSpPr>
          <p:cNvPr id="15" name="TextBox 14"/>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Rules And Walls Decide Who Sees What</a:t>
            </a:r>
          </a:p>
        </p:txBody>
      </p:sp>
      <p:sp>
        <p:nvSpPr>
          <p:cNvPr id="16" name="Rounded Rectangle 15"/>
          <p:cNvSpPr/>
          <p:nvPr/>
        </p:nvSpPr>
        <p:spPr>
          <a:xfrm>
            <a:off x="609600" y="3459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09600" y="3459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3600" y="3611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19" name="TextBox 18"/>
          <p:cNvSpPr txBox="1"/>
          <p:nvPr/>
        </p:nvSpPr>
        <p:spPr>
          <a:xfrm>
            <a:off x="863600" y="3853179"/>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Name The Four Parts Before You Build Anything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Quick Check</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What An App Is Made Of</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12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sp>
        <p:nvSpPr>
          <p:cNvPr id="10" name="TextBox 9"/>
          <p:cNvSpPr txBox="1"/>
          <p:nvPr/>
        </p:nvSpPr>
        <p:spPr>
          <a:xfrm>
            <a:off x="609600" y="1744979"/>
            <a:ext cx="11023600" cy="421640"/>
          </a:xfrm>
          <a:prstGeom prst="rect">
            <a:avLst/>
          </a:prstGeom>
          <a:noFill/>
        </p:spPr>
        <p:txBody>
          <a:bodyPr wrap="square" lIns="0" rIns="0" tIns="0" bIns="0" anchor="t">
            <a:noAutofit/>
          </a:bodyPr>
          <a:lstStyle/>
          <a:p>
            <a:pPr algn="l">
              <a:lnSpc>
                <a:spcPts val="3120"/>
              </a:lnSpc>
            </a:pPr>
            <a:r>
              <a:rPr sz="2400" b="1">
                <a:solidFill>
                  <a:srgbClr val="2C2C2A"/>
                </a:solidFill>
                <a:latin typeface="Lexend"/>
              </a:rPr>
              <a:t>What is a table in an app?</a:t>
            </a:r>
          </a:p>
        </p:txBody>
      </p:sp>
      <p:sp>
        <p:nvSpPr>
          <p:cNvPr id="11" name="Rounded Rectangle 10"/>
          <p:cNvSpPr/>
          <p:nvPr/>
        </p:nvSpPr>
        <p:spPr>
          <a:xfrm>
            <a:off x="609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2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A</a:t>
            </a:r>
          </a:p>
        </p:txBody>
      </p:sp>
      <p:sp>
        <p:nvSpPr>
          <p:cNvPr id="13" name="TextBox 12"/>
          <p:cNvSpPr txBox="1"/>
          <p:nvPr/>
        </p:nvSpPr>
        <p:spPr>
          <a:xfrm>
            <a:off x="1244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A page that people tap</a:t>
            </a:r>
          </a:p>
        </p:txBody>
      </p:sp>
      <p:sp>
        <p:nvSpPr>
          <p:cNvPr id="14" name="Rounded Rectangle 13"/>
          <p:cNvSpPr/>
          <p:nvPr/>
        </p:nvSpPr>
        <p:spPr>
          <a:xfrm>
            <a:off x="6197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B</a:t>
            </a:r>
          </a:p>
        </p:txBody>
      </p:sp>
      <p:sp>
        <p:nvSpPr>
          <p:cNvPr id="16" name="TextBox 15"/>
          <p:cNvSpPr txBox="1"/>
          <p:nvPr/>
        </p:nvSpPr>
        <p:spPr>
          <a:xfrm>
            <a:off x="6832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Where data is stored in rows and columns</a:t>
            </a:r>
          </a:p>
        </p:txBody>
      </p:sp>
      <p:sp>
        <p:nvSpPr>
          <p:cNvPr id="17" name="Rounded Rectangle 16"/>
          <p:cNvSpPr/>
          <p:nvPr/>
        </p:nvSpPr>
        <p:spPr>
          <a:xfrm>
            <a:off x="609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C</a:t>
            </a:r>
          </a:p>
        </p:txBody>
      </p:sp>
      <p:sp>
        <p:nvSpPr>
          <p:cNvPr id="19" name="TextBox 18"/>
          <p:cNvSpPr txBox="1"/>
          <p:nvPr/>
        </p:nvSpPr>
        <p:spPr>
          <a:xfrm>
            <a:off x="1244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A rule about prices</a:t>
            </a:r>
          </a:p>
        </p:txBody>
      </p:sp>
      <p:sp>
        <p:nvSpPr>
          <p:cNvPr id="20" name="Rounded Rectangle 19"/>
          <p:cNvSpPr/>
          <p:nvPr/>
        </p:nvSpPr>
        <p:spPr>
          <a:xfrm>
            <a:off x="6197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D</a:t>
            </a:r>
          </a:p>
        </p:txBody>
      </p:sp>
      <p:sp>
        <p:nvSpPr>
          <p:cNvPr id="22" name="TextBox 21"/>
          <p:cNvSpPr txBox="1"/>
          <p:nvPr/>
        </p:nvSpPr>
        <p:spPr>
          <a:xfrm>
            <a:off x="6832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A kind of screen for staff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Road, Rooms And Gates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M00-L2 · About 6 Minutes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13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0" name="Picture 9" descr="target-2C2C2A.png"/>
          <p:cNvPicPr>
            <a:picLocks noChangeAspect="1"/>
          </p:cNvPicPr>
          <p:nvPr/>
        </p:nvPicPr>
        <p:blipFill>
          <a:blip r:embed="rId2"/>
          <a:stretch>
            <a:fillRect/>
          </a:stretch>
        </p:blipFill>
        <p:spPr>
          <a:xfrm>
            <a:off x="609600" y="2851150"/>
            <a:ext cx="1016000" cy="1016000"/>
          </a:xfrm>
          <a:prstGeom prst="rect">
            <a:avLst/>
          </a:prstGeom>
        </p:spPr>
      </p:pic>
      <p:sp>
        <p:nvSpPr>
          <p:cNvPr id="11" name="TextBox 10"/>
          <p:cNvSpPr txBox="1"/>
          <p:nvPr/>
        </p:nvSpPr>
        <p:spPr>
          <a:xfrm>
            <a:off x="2070100" y="2813050"/>
            <a:ext cx="9563100" cy="180848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You can name the 9 stages, describe the</a:t>
            </a:r>
          </a:p>
          <a:p>
            <a:pPr algn="l">
              <a:lnSpc>
                <a:spcPts val="4680"/>
              </a:lnSpc>
            </a:pPr>
            <a:r>
              <a:rPr sz="3600" b="1">
                <a:solidFill>
                  <a:srgbClr val="2C2C2A"/>
                </a:solidFill>
                <a:latin typeface="Lexend"/>
              </a:rPr>
              <a:t>11 rooms and say which gates need a</a:t>
            </a:r>
          </a:p>
          <a:p>
            <a:pPr algn="l">
              <a:lnSpc>
                <a:spcPts val="4680"/>
              </a:lnSpc>
            </a:pPr>
            <a:r>
              <a:rPr sz="3600" b="1">
                <a:solidFill>
                  <a:srgbClr val="2C2C2A"/>
                </a:solidFill>
                <a:latin typeface="Lexend"/>
              </a:rPr>
              <a:t>person to decide.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Road, Rooms And Gates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14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0" name="Picture 9" descr="hourglass-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Sam Wanted It Done By Sunday</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One weekend he had an idea for a small app to help his gran keep track of</a:t>
            </a:r>
          </a:p>
          <a:p>
            <a:pPr algn="l">
              <a:lnSpc>
                <a:spcPts val="2600"/>
              </a:lnSpc>
            </a:pPr>
            <a:r>
              <a:rPr sz="2000" b="0">
                <a:solidFill>
                  <a:srgbClr val="756E65"/>
                </a:solidFill>
                <a:latin typeface="Lexend"/>
              </a:rPr>
              <a:t>her dog's walks and feeding times, and he wanted it finished...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Road, Rooms And Gates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15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0" name="Picture 9" descr="map-2-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Nine Stages, Numbered 0 To 8</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In the factory, every idea travels the same road of nine stages, numbered 0</a:t>
            </a:r>
          </a:p>
          <a:p>
            <a:pPr algn="l">
              <a:lnSpc>
                <a:spcPts val="2600"/>
              </a:lnSpc>
            </a:pPr>
            <a:r>
              <a:rPr sz="2000" b="0">
                <a:solidFill>
                  <a:srgbClr val="756E65"/>
                </a:solidFill>
                <a:latin typeface="Lexend"/>
              </a:rPr>
              <a:t>to 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Road, Rooms And Gates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16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0" name="Picture 9" descr="file-text-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Free Stages, One Card, One Document</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Two things make this road easy to follow.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Road, Rooms And Gates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17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0" name="Picture 9" descr="home-2-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Six Rooms On The Main Road</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A room is simply where an app sits while it is at a certain stage, so anyone</a:t>
            </a:r>
          </a:p>
          <a:p>
            <a:pPr algn="l">
              <a:lnSpc>
                <a:spcPts val="2600"/>
              </a:lnSpc>
            </a:pPr>
            <a:r>
              <a:rPr sz="2000" b="0">
                <a:solidFill>
                  <a:srgbClr val="756E65"/>
                </a:solidFill>
                <a:latin typeface="Lexend"/>
              </a:rPr>
              <a:t>can see at a glance what is happening.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Road, Rooms And Gates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18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0" name="Picture 9" descr="building-warehous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Five Rooms Beside The Road</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other five rooms sit beside the road.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Road, Rooms And Gates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19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0" name="Picture 9" descr="filter-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Eight Gates On The Main Road</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A gate is a stop point where the app must prove its stage is finished before it</a:t>
            </a:r>
          </a:p>
          <a:p>
            <a:pPr algn="l">
              <a:lnSpc>
                <a:spcPts val="2600"/>
              </a:lnSpc>
            </a:pPr>
            <a:r>
              <a:rPr sz="2000" b="0">
                <a:solidFill>
                  <a:srgbClr val="756E65"/>
                </a:solidFill>
                <a:latin typeface="Lexend"/>
              </a:rPr>
              <a:t>may move 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Road, Rooms And Gates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20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0" name="Picture 9" descr="user-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Person Decides At Some Gates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Some gates open by themselves when every check passes.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Road, Rooms And Gates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21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0" name="Picture 9" descr="recycl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After Launch, Three Lap Gates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A live app goes round a lap, and three lap gates watch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Road, Rooms And Gates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22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0" name="Picture 9" descr="circle-check-217A2D.png"/>
          <p:cNvPicPr>
            <a:picLocks noChangeAspect="1"/>
          </p:cNvPicPr>
          <p:nvPr/>
        </p:nvPicPr>
        <p:blipFill>
          <a:blip r:embed="rId2"/>
          <a:stretch>
            <a:fillRect/>
          </a:stretch>
        </p:blipFill>
        <p:spPr>
          <a:xfrm>
            <a:off x="609600" y="1808479"/>
            <a:ext cx="304800" cy="304800"/>
          </a:xfrm>
          <a:prstGeom prst="rect">
            <a:avLst/>
          </a:prstGeom>
        </p:spPr>
      </p:pic>
      <p:sp>
        <p:nvSpPr>
          <p:cNvPr id="11" name="TextBox 10"/>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Nine Stages Run From 0 Idea To 8 Operate</a:t>
            </a:r>
          </a:p>
        </p:txBody>
      </p:sp>
      <p:pic>
        <p:nvPicPr>
          <p:cNvPr id="12" name="Picture 11" descr="circle-check-217A2D.png"/>
          <p:cNvPicPr>
            <a:picLocks noChangeAspect="1"/>
          </p:cNvPicPr>
          <p:nvPr/>
        </p:nvPicPr>
        <p:blipFill>
          <a:blip r:embed="rId2"/>
          <a:stretch>
            <a:fillRect/>
          </a:stretch>
        </p:blipFill>
        <p:spPr>
          <a:xfrm>
            <a:off x="609600" y="2316479"/>
            <a:ext cx="304800" cy="304800"/>
          </a:xfrm>
          <a:prstGeom prst="rect">
            <a:avLst/>
          </a:prstGeom>
        </p:spPr>
      </p:pic>
      <p:sp>
        <p:nvSpPr>
          <p:cNvPr id="13" name="TextBox 12"/>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Eleven Rooms Show Where Each App Sits</a:t>
            </a:r>
          </a:p>
        </p:txBody>
      </p:sp>
      <p:pic>
        <p:nvPicPr>
          <p:cNvPr id="14" name="Picture 13" descr="circle-check-217A2D.png"/>
          <p:cNvPicPr>
            <a:picLocks noChangeAspect="1"/>
          </p:cNvPicPr>
          <p:nvPr/>
        </p:nvPicPr>
        <p:blipFill>
          <a:blip r:embed="rId2"/>
          <a:stretch>
            <a:fillRect/>
          </a:stretch>
        </p:blipFill>
        <p:spPr>
          <a:xfrm>
            <a:off x="609600" y="2824479"/>
            <a:ext cx="304800" cy="304800"/>
          </a:xfrm>
          <a:prstGeom prst="rect">
            <a:avLst/>
          </a:prstGeom>
        </p:spPr>
      </p:pic>
      <p:sp>
        <p:nvSpPr>
          <p:cNvPr id="15" name="TextBox 14"/>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Gates Stop Apps, A Person Decides At Some</a:t>
            </a:r>
          </a:p>
        </p:txBody>
      </p:sp>
      <p:sp>
        <p:nvSpPr>
          <p:cNvPr id="16" name="Rounded Rectangle 15"/>
          <p:cNvSpPr/>
          <p:nvPr/>
        </p:nvSpPr>
        <p:spPr>
          <a:xfrm>
            <a:off x="609600" y="3459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09600" y="3459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3600" y="3611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19" name="TextBox 18"/>
          <p:cNvSpPr txBox="1"/>
          <p:nvPr/>
        </p:nvSpPr>
        <p:spPr>
          <a:xfrm>
            <a:off x="863600" y="3853179"/>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A Fixed Road Catches Mistakes Before Real People Do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Quick Check</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Road, Rooms And Gates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23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sp>
        <p:nvSpPr>
          <p:cNvPr id="10" name="TextBox 9"/>
          <p:cNvSpPr txBox="1"/>
          <p:nvPr/>
        </p:nvSpPr>
        <p:spPr>
          <a:xfrm>
            <a:off x="609600" y="1744979"/>
            <a:ext cx="11023600" cy="421640"/>
          </a:xfrm>
          <a:prstGeom prst="rect">
            <a:avLst/>
          </a:prstGeom>
          <a:noFill/>
        </p:spPr>
        <p:txBody>
          <a:bodyPr wrap="square" lIns="0" rIns="0" tIns="0" bIns="0" anchor="t">
            <a:noAutofit/>
          </a:bodyPr>
          <a:lstStyle/>
          <a:p>
            <a:pPr algn="l">
              <a:lnSpc>
                <a:spcPts val="3120"/>
              </a:lnSpc>
            </a:pPr>
            <a:r>
              <a:rPr sz="2400" b="1">
                <a:solidFill>
                  <a:srgbClr val="2C2C2A"/>
                </a:solidFill>
                <a:latin typeface="Lexend"/>
              </a:rPr>
              <a:t>How many stages are on the factory road?</a:t>
            </a:r>
          </a:p>
        </p:txBody>
      </p:sp>
      <p:sp>
        <p:nvSpPr>
          <p:cNvPr id="11" name="Rounded Rectangle 10"/>
          <p:cNvSpPr/>
          <p:nvPr/>
        </p:nvSpPr>
        <p:spPr>
          <a:xfrm>
            <a:off x="609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2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A</a:t>
            </a:r>
          </a:p>
        </p:txBody>
      </p:sp>
      <p:sp>
        <p:nvSpPr>
          <p:cNvPr id="13" name="TextBox 12"/>
          <p:cNvSpPr txBox="1"/>
          <p:nvPr/>
        </p:nvSpPr>
        <p:spPr>
          <a:xfrm>
            <a:off x="1244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Seven</a:t>
            </a:r>
          </a:p>
        </p:txBody>
      </p:sp>
      <p:sp>
        <p:nvSpPr>
          <p:cNvPr id="14" name="Rounded Rectangle 13"/>
          <p:cNvSpPr/>
          <p:nvPr/>
        </p:nvSpPr>
        <p:spPr>
          <a:xfrm>
            <a:off x="6197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B</a:t>
            </a:r>
          </a:p>
        </p:txBody>
      </p:sp>
      <p:sp>
        <p:nvSpPr>
          <p:cNvPr id="16" name="TextBox 15"/>
          <p:cNvSpPr txBox="1"/>
          <p:nvPr/>
        </p:nvSpPr>
        <p:spPr>
          <a:xfrm>
            <a:off x="6832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Eight</a:t>
            </a:r>
          </a:p>
        </p:txBody>
      </p:sp>
      <p:sp>
        <p:nvSpPr>
          <p:cNvPr id="17" name="Rounded Rectangle 16"/>
          <p:cNvSpPr/>
          <p:nvPr/>
        </p:nvSpPr>
        <p:spPr>
          <a:xfrm>
            <a:off x="609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C</a:t>
            </a:r>
          </a:p>
        </p:txBody>
      </p:sp>
      <p:sp>
        <p:nvSpPr>
          <p:cNvPr id="19" name="TextBox 18"/>
          <p:cNvSpPr txBox="1"/>
          <p:nvPr/>
        </p:nvSpPr>
        <p:spPr>
          <a:xfrm>
            <a:off x="1244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Nine, numbered 0 to 8</a:t>
            </a:r>
          </a:p>
        </p:txBody>
      </p:sp>
      <p:sp>
        <p:nvSpPr>
          <p:cNvPr id="20" name="Rounded Rectangle 19"/>
          <p:cNvSpPr/>
          <p:nvPr/>
        </p:nvSpPr>
        <p:spPr>
          <a:xfrm>
            <a:off x="6197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D</a:t>
            </a:r>
          </a:p>
        </p:txBody>
      </p:sp>
      <p:sp>
        <p:nvSpPr>
          <p:cNvPr id="22" name="TextBox 21"/>
          <p:cNvSpPr txBox="1"/>
          <p:nvPr/>
        </p:nvSpPr>
        <p:spPr>
          <a:xfrm>
            <a:off x="6832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Eleven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