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the codes and kits decide an app's tables, how each table is built, set and recorded, and how the walls are tested before the Schema gate.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outcome.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Nia keeps the spreadsheet for her family's walking group, so when she heard Stage 4 was about tables, she thought it would be easy. She planned to add columns as she went, and rename them whenever better names came to mind. Then she learned two facts about the build platform. Renaming a table or column destroys every row in it, and still reports success. And changing who can read a table after it is made costs a paid building turn. So she changed her approach. Plan every table first, set it right at birth, and write down why it exists.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Stage 4 is called Schema. A schema is the plan of the tables that hold the data: which tables exist, which columns each one has, and who may read or write them. A column is one field in a table, like a dog's name or a booking date. Stage 4 sits in the Rig room, together with Stage 5, and it is free. Nothing here is built by the paid builder. The tables are built by hand, then proved by reading them back, which is called a re-read. Free work now saves paid work later.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does the list of tables come from? Not from guessing. The kits chosen earlier each bring their own tables. K00, the floor, brings seven: tenants, tenant users, roles, permissions, consents, usage channels and events. K02, booking, adds bookings, availability slots and resources. The codes on the idea card then shape the columns. If TEN (0-6) is 2 or more, several businesses share the app, so every table holding a business's data needs a tenant id column, which says which business owns each row. A tenant is one business using the app.</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anything is created, the tables and columns are written out as a spec, short for specification, saved as a CSV file. A CSV is a plain file of rows and columns that any program can open. The spec is never left as loose prose, because nobody can test a paragraph. Every name is checked against the naming standard, so one idea always has one name. Then the tables are built by hand, for free, and each one is read back to prove it exists exactly as written. A copied base is also swept for ghost columns, ones it inherited but does not use.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table has an access mode, a setting that says who may read and write its rows. Here are some examples. Public means anyone can read, even when signed out. User scoped means each row belongs to the signed-in person who made it. Anonymous writable means a stranger can add rows without signing in. A role gate limits a table to people with a given role, such as staff. The access mode is set when the table is created, which is free. Changing it afterwards is a billed builder turn. So the mode is decided on paper first.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Deciding a mode is not the same as having it. So each table gets an anonymous probe. A probe is a test request, and anonymous means it is sent with nobody signed in, the way a stranger on the internet would arrive. If a table is meant to be private and the probe gets rows back, something is wrong, and it is fixed before going further. The codes set what is allowed. Litterline has POST (0-2) at 0, so no table should take writes from a stranger. VIEW (0-2) at 1 means only link-holders may read anything signed out.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last piece is the table register, section 4.0 of the app's document. Every table gets one row in it, with the reason the table exists, its role gate and who may write to it. This sounds like paperwork, but it prevents a costly mistake. A table is never removed just because no code seems to read it. Removing a table needs a person's dated ruling. Without a register, a table that looks unused might hold the one record a business needs on inspection day, and deleting it would be very hard to undo.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rule from the duties file is worth learning by heart. Never rename a table or column. A rename destroys every row and still returns a success message, so nobody notices until the data is gone. If a name must change, the safe way is to add the new column, copy the data across, which is called migrating, and leave the old one unread. Plan, spec, build by hand, set the mode, probe, record. That is how Stage 4 makes its tables. Now a short recap before we meet the walls.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Recap.</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B. A schema is the plan of the tables, their columns and who may read or write them.</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outcome.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Theo's cousin works at a grooming salon. One morning, the booking app the salon used showed her another salon's client list, names and phone numbers included. It was fixed within a day, but the trust was gone. When Theo started helping to plan Trimtable, he wanted to be sure it could never do that. At first he wrote, the data is private, in his notes. Then he realised that sentence proved nothing. What he needed was a test for each table that could actually fail, run from outside, with a date beside the result.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factory, a wall is a rule that keeps two parties' data apart. The simplest picture has three walls. Owner from owner keeps one reseller's businesses away from another reseller's. Business from business keeps one salon's records away from the next salon's. Customer from customer keeps one customer's details private inside a single business. The third wall always sits inside the second, never instead of it: check the business first, then the customer. Trimtable has no reseller above it, so the first wall has nobody on the other side yet.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full set has eight walls, numbered W1-W8, and most codes on the idea card point to one. W1 is the brand wall, between businesses. W2 is the member wall, between customers. W3 is the layer-above wall, for parties sitting above a business. W4 is the staff wall, for roles, guests and view-as access. W5 is the membership wall, about who can join and belong, and whose name is shown. W6 is the public wall, for strangers who are signed out. W7 is the data-out wall, for data leaving the app. W8 is the sensitivity hold, for health or children's data.</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Stage 4 ends with table tests, section 4.4 of the document. The test depends on the kind of table. Application tables hold a business's own records, like bookings. Each one gets a brand-wall read: sign in as tenant A and try to read tenant B's rows. Tenant A must see none. User tables hold one person's own things. Each one gets a user-wall read: one user must not see another user's rows. Control tables hold the app's own settings, and each gets an anonymous read, sent signed out, which has to return 401.</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401 is a status code, a number a web server sends back with every answer. 401 means the request was refused because nobody is signed in. For a control table, that is exactly the answer you want a stranger to get. If the anonymous read returns 200 instead, which means success, and hands back rows, the table is open to the whole internet. That is a stop. The fix comes before anything else, and then the test is run again until it returns 401. A pass is only a pass when the stranger gets nothing.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Some tables are shared on purpose. Imagine one dog's record that two breeders both hold a claim on, with each allowed to see different fields. A field is one column in one row. A shared row carries no tenant id, so a normal row-level test looks for a tenant tag, finds none, and reports all clear, while the wrong fields leak. That is why the rule says a row-level test passes while leaking. On a shared table the leak test must be field-level: check that each claim sees only the fields it is allowed to see.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test without a result is just a hope. So the stage is finished only when every Launch table and every Base table has at least one test with a dated result. Launch tables are the ones the first version uses. Base tables are the ones that come with the base the app started from. The tests are run from outside, as a real visitor would, not by asking the builder whether it worked. A sentence in the notes, such as the data is private, never counts. Only a test that could fail, and did not, counts.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Then comes the Schema gate. It sits between Stage 4 and Stage 5 and asks: tables probed, names re-read? Like the Base gate, it is automatic. When every Stage 4 checklist line is done, and no section of the document still says pending, the engine moves the app on without anyone clicking yes. That only works because the tests are plain. A probe returned 401 or it did not. A name matches the spec or it does not. Next comes Stage 5, where test businesses and test people are set up. First, the recap.</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Recap.</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 W1, the brand wall, sits between businesses.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Stage 4 · Schema</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Track F · Family Learners</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M05 · v1 · Slide 1</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scripts/modules/M05.json · AF-UNDERSTANDING-2026-10-22.md, APP-FACTORY-FRAMEWORK.md, BRICK-KITS.csv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sp>
        <p:nvSpPr>
          <p:cNvPr id="10" name="TextBox 9"/>
          <p:cNvSpPr txBox="1"/>
          <p:nvPr/>
        </p:nvSpPr>
        <p:spPr>
          <a:xfrm>
            <a:off x="609600" y="2252979"/>
            <a:ext cx="7035800" cy="2600960"/>
          </a:xfrm>
          <a:prstGeom prst="rect">
            <a:avLst/>
          </a:prstGeom>
          <a:noFill/>
        </p:spPr>
        <p:txBody>
          <a:bodyPr wrap="square" lIns="0" rIns="0" tIns="0" bIns="0" anchor="t">
            <a:noAutofit/>
          </a:bodyPr>
          <a:lstStyle/>
          <a:p>
            <a:pPr algn="l">
              <a:lnSpc>
                <a:spcPts val="6760"/>
              </a:lnSpc>
            </a:pPr>
            <a:r>
              <a:rPr sz="5200" b="1">
                <a:solidFill>
                  <a:srgbClr val="2C2C2A"/>
                </a:solidFill>
                <a:latin typeface="Lexend"/>
              </a:rPr>
              <a:t>Tables And Columns,</a:t>
            </a:r>
          </a:p>
          <a:p>
            <a:pPr algn="l">
              <a:lnSpc>
                <a:spcPts val="6760"/>
              </a:lnSpc>
            </a:pPr>
            <a:r>
              <a:rPr sz="5200" b="1">
                <a:solidFill>
                  <a:srgbClr val="2C2C2A"/>
                </a:solidFill>
                <a:latin typeface="Lexend"/>
              </a:rPr>
              <a:t>Access Modes, Walls,</a:t>
            </a:r>
          </a:p>
          <a:p>
            <a:pPr algn="l">
              <a:lnSpc>
                <a:spcPts val="6760"/>
              </a:lnSpc>
            </a:pPr>
            <a:r>
              <a:rPr sz="5200" b="1">
                <a:solidFill>
                  <a:srgbClr val="2C2C2A"/>
                </a:solidFill>
                <a:latin typeface="Lexend"/>
              </a:rPr>
              <a:t>Table Tests</a:t>
            </a:r>
          </a:p>
        </p:txBody>
      </p:sp>
      <p:sp>
        <p:nvSpPr>
          <p:cNvPr id="11" name="TextBox 10"/>
          <p:cNvSpPr txBox="1"/>
          <p:nvPr/>
        </p:nvSpPr>
        <p:spPr>
          <a:xfrm>
            <a:off x="609600" y="4955540"/>
            <a:ext cx="6400800" cy="10160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How the codes and kits decide an app's tables, how</a:t>
            </a:r>
          </a:p>
          <a:p>
            <a:pPr algn="l">
              <a:lnSpc>
                <a:spcPts val="2600"/>
              </a:lnSpc>
            </a:pPr>
            <a:r>
              <a:rPr sz="2000" b="0">
                <a:solidFill>
                  <a:srgbClr val="756E65"/>
                </a:solidFill>
                <a:latin typeface="Lexend"/>
              </a:rPr>
              <a:t>each table is built, set and recorded, and how the</a:t>
            </a:r>
          </a:p>
          <a:p>
            <a:pPr algn="l">
              <a:lnSpc>
                <a:spcPts val="2600"/>
              </a:lnSpc>
            </a:pPr>
            <a:r>
              <a:rPr sz="2000" b="0">
                <a:solidFill>
                  <a:srgbClr val="756E65"/>
                </a:solidFill>
                <a:latin typeface="Lexend"/>
              </a:rPr>
              <a:t>walls are tested before the Schema gate.</a:t>
            </a:r>
          </a:p>
        </p:txBody>
      </p:sp>
      <p:pic>
        <p:nvPicPr>
          <p:cNvPr id="12" name="Picture 11" descr="table-2C2C2A.png"/>
          <p:cNvPicPr>
            <a:picLocks noChangeAspect="1"/>
          </p:cNvPicPr>
          <p:nvPr/>
        </p:nvPicPr>
        <p:blipFill>
          <a:blip r:embed="rId2"/>
          <a:stretch>
            <a:fillRect/>
          </a:stretch>
        </p:blipFill>
        <p:spPr>
          <a:xfrm>
            <a:off x="8572500" y="2506979"/>
            <a:ext cx="2286000" cy="2286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How The System Makes The Tables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M05-L1 · About 6 Minutes</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M05 · v1 · Slide 2</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scripts/modules/M05.json · AF-UNDERSTANDING-2026-10-22.md, APP-FACTORY-FRAMEWORK.md, BRICK-KITS.csv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target-2C2C2A.png"/>
          <p:cNvPicPr>
            <a:picLocks noChangeAspect="1"/>
          </p:cNvPicPr>
          <p:nvPr/>
        </p:nvPicPr>
        <p:blipFill>
          <a:blip r:embed="rId2"/>
          <a:stretch>
            <a:fillRect/>
          </a:stretch>
        </p:blipFill>
        <p:spPr>
          <a:xfrm>
            <a:off x="609600" y="2851150"/>
            <a:ext cx="1016000" cy="1016000"/>
          </a:xfrm>
          <a:prstGeom prst="rect">
            <a:avLst/>
          </a:prstGeom>
        </p:spPr>
      </p:pic>
      <p:sp>
        <p:nvSpPr>
          <p:cNvPr id="11" name="TextBox 10"/>
          <p:cNvSpPr txBox="1"/>
          <p:nvPr/>
        </p:nvSpPr>
        <p:spPr>
          <a:xfrm>
            <a:off x="2070100" y="2813050"/>
            <a:ext cx="9563100" cy="180848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You can explain how codes and kits</a:t>
            </a:r>
          </a:p>
          <a:p>
            <a:pPr algn="l">
              <a:lnSpc>
                <a:spcPts val="4680"/>
              </a:lnSpc>
            </a:pPr>
            <a:r>
              <a:rPr sz="3600" b="1">
                <a:solidFill>
                  <a:srgbClr val="2C2C2A"/>
                </a:solidFill>
                <a:latin typeface="Lexend"/>
              </a:rPr>
              <a:t>decide the tables, and how each table is</a:t>
            </a:r>
          </a:p>
          <a:p>
            <a:pPr algn="l">
              <a:lnSpc>
                <a:spcPts val="4680"/>
              </a:lnSpc>
            </a:pPr>
            <a:r>
              <a:rPr sz="3600" b="1">
                <a:solidFill>
                  <a:srgbClr val="2C2C2A"/>
                </a:solidFill>
                <a:latin typeface="Lexend"/>
              </a:rPr>
              <a:t>built, set and recorded.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How The System Makes The Tables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M05-L1</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M05 · v1 · Slide 3</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scripts/modules/M05.json · AF-UNDERSTANDING-2026-10-22.md, APP-FACTORY-FRAMEWORK.md, BRICK-KITS.csv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user-2C2C2A.png"/>
          <p:cNvPicPr>
            <a:picLocks noChangeAspect="1"/>
          </p:cNvPicPr>
          <p:nvPr/>
        </p:nvPicPr>
        <p:blipFill>
          <a:blip r:embed="rId2"/>
          <a:stretch>
            <a:fillRect/>
          </a:stretch>
        </p:blipFill>
        <p:spPr>
          <a:xfrm>
            <a:off x="609600" y="3020060"/>
            <a:ext cx="1016000" cy="1016000"/>
          </a:xfrm>
          <a:prstGeom prst="rect">
            <a:avLst/>
          </a:prstGeom>
        </p:spPr>
      </p:pic>
      <p:sp>
        <p:nvSpPr>
          <p:cNvPr id="11" name="TextBox 10"/>
          <p:cNvSpPr txBox="1"/>
          <p:nvPr/>
        </p:nvSpPr>
        <p:spPr>
          <a:xfrm>
            <a:off x="2070100" y="29819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Nia Thought Tables Were Easy</a:t>
            </a:r>
          </a:p>
        </p:txBody>
      </p:sp>
      <p:sp>
        <p:nvSpPr>
          <p:cNvPr id="12" name="TextBox 11"/>
          <p:cNvSpPr txBox="1"/>
          <p:nvPr/>
        </p:nvSpPr>
        <p:spPr>
          <a:xfrm>
            <a:off x="2070100" y="3766820"/>
            <a:ext cx="9563100" cy="6858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Nia keeps the spreadsheet for her family's walking group, so when she heard</a:t>
            </a:r>
          </a:p>
          <a:p>
            <a:pPr algn="l">
              <a:lnSpc>
                <a:spcPts val="2600"/>
              </a:lnSpc>
            </a:pPr>
            <a:r>
              <a:rPr sz="2000" b="0">
                <a:solidFill>
                  <a:srgbClr val="756E65"/>
                </a:solidFill>
                <a:latin typeface="Lexend"/>
              </a:rPr>
              <a:t>Stage 4 was about tables, she thought it would be easy.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How The System Makes The Tables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M05-L1</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M05 · v1 · Slide 4</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scripts/modules/M05.json · AF-UNDERSTANDING-2026-10-22.md, APP-FACTORY-FRAMEWORK.md, BRICK-KITS.csv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table-options-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A Schema Is The Plan Of Tables</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Stage 4 is called Schema.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How The System Makes The Tables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M05-L1</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M05 · v1 · Slide 5</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scripts/modules/M05.json · AF-UNDERSTANDING-2026-10-22.md, APP-FACTORY-FRAMEWORK.md, BRICK-KITS.csv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puzzle-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Codes And Kits Decide The Tables</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Where does the list of tables come from?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How The System Makes The Tables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M05-L1</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M05 · v1 · Slide 6</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scripts/modules/M05.json · AF-UNDERSTANDING-2026-10-22.md, APP-FACTORY-FRAMEWORK.md, BRICK-KITS.csv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file-text-2C2C2A.png"/>
          <p:cNvPicPr>
            <a:picLocks noChangeAspect="1"/>
          </p:cNvPicPr>
          <p:nvPr/>
        </p:nvPicPr>
        <p:blipFill>
          <a:blip r:embed="rId2"/>
          <a:stretch>
            <a:fillRect/>
          </a:stretch>
        </p:blipFill>
        <p:spPr>
          <a:xfrm>
            <a:off x="609600" y="3020060"/>
            <a:ext cx="1016000" cy="1016000"/>
          </a:xfrm>
          <a:prstGeom prst="rect">
            <a:avLst/>
          </a:prstGeom>
        </p:spPr>
      </p:pic>
      <p:sp>
        <p:nvSpPr>
          <p:cNvPr id="11" name="TextBox 10"/>
          <p:cNvSpPr txBox="1"/>
          <p:nvPr/>
        </p:nvSpPr>
        <p:spPr>
          <a:xfrm>
            <a:off x="2070100" y="29819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A Spec First, Then Built By Hand</a:t>
            </a:r>
          </a:p>
        </p:txBody>
      </p:sp>
      <p:sp>
        <p:nvSpPr>
          <p:cNvPr id="12" name="TextBox 11"/>
          <p:cNvSpPr txBox="1"/>
          <p:nvPr/>
        </p:nvSpPr>
        <p:spPr>
          <a:xfrm>
            <a:off x="2070100" y="3766820"/>
            <a:ext cx="9563100" cy="6858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Before anything is created, the tables and columns are written out as a spec,</a:t>
            </a:r>
          </a:p>
          <a:p>
            <a:pPr algn="l">
              <a:lnSpc>
                <a:spcPts val="2600"/>
              </a:lnSpc>
            </a:pPr>
            <a:r>
              <a:rPr sz="2000" b="0">
                <a:solidFill>
                  <a:srgbClr val="756E65"/>
                </a:solidFill>
                <a:latin typeface="Lexend"/>
              </a:rPr>
              <a:t>short for specification, saved as a CSV file.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How The System Makes The Tables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M05-L1</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M05 · v1 · Slide 7</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scripts/modules/M05.json · AF-UNDERSTANDING-2026-10-22.md, APP-FACTORY-FRAMEWORK.md, BRICK-KITS.csv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key-2C2C2A.png"/>
          <p:cNvPicPr>
            <a:picLocks noChangeAspect="1"/>
          </p:cNvPicPr>
          <p:nvPr/>
        </p:nvPicPr>
        <p:blipFill>
          <a:blip r:embed="rId2"/>
          <a:stretch>
            <a:fillRect/>
          </a:stretch>
        </p:blipFill>
        <p:spPr>
          <a:xfrm>
            <a:off x="609600" y="3020060"/>
            <a:ext cx="1016000" cy="1016000"/>
          </a:xfrm>
          <a:prstGeom prst="rect">
            <a:avLst/>
          </a:prstGeom>
        </p:spPr>
      </p:pic>
      <p:sp>
        <p:nvSpPr>
          <p:cNvPr id="11" name="TextBox 10"/>
          <p:cNvSpPr txBox="1"/>
          <p:nvPr/>
        </p:nvSpPr>
        <p:spPr>
          <a:xfrm>
            <a:off x="2070100" y="29819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Access Modes Say Who Can Read</a:t>
            </a:r>
          </a:p>
        </p:txBody>
      </p:sp>
      <p:sp>
        <p:nvSpPr>
          <p:cNvPr id="12" name="TextBox 11"/>
          <p:cNvSpPr txBox="1"/>
          <p:nvPr/>
        </p:nvSpPr>
        <p:spPr>
          <a:xfrm>
            <a:off x="2070100" y="3766820"/>
            <a:ext cx="9563100" cy="6858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Every table has an access mode, a setting that says who may read and write</a:t>
            </a:r>
          </a:p>
          <a:p>
            <a:pPr algn="l">
              <a:lnSpc>
                <a:spcPts val="2600"/>
              </a:lnSpc>
            </a:pPr>
            <a:r>
              <a:rPr sz="2000" b="0">
                <a:solidFill>
                  <a:srgbClr val="756E65"/>
                </a:solidFill>
                <a:latin typeface="Lexend"/>
              </a:rPr>
              <a:t>its rows.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How The System Makes The Tables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M05-L1</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M05 · v1 · Slide 8</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scripts/modules/M05.json · AF-UNDERSTANDING-2026-10-22.md, APP-FACTORY-FRAMEWORK.md, BRICK-KITS.csv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search-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Probe Every Table While Signed Out</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Deciding a mode is not the same as having it.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How The System Makes The Tables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M05-L1</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M05 · v1 · Slide 9</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scripts/modules/M05.json · AF-UNDERSTANDING-2026-10-22.md, APP-FACTORY-FRAMEWORK.md, BRICK-KITS.csv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layout-list-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Every Table Gets A Register Row</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The last piece is the table register, section 4.0 of the app's document.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How The System Makes The Tables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M05-L1</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M05 · v1 · Slide 10</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scripts/modules/M05.json · AF-UNDERSTANDING-2026-10-22.md, APP-FACTORY-FRAMEWORK.md, BRICK-KITS.csv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recycle-2C2C2A.png"/>
          <p:cNvPicPr>
            <a:picLocks noChangeAspect="1"/>
          </p:cNvPicPr>
          <p:nvPr/>
        </p:nvPicPr>
        <p:blipFill>
          <a:blip r:embed="rId2"/>
          <a:stretch>
            <a:fillRect/>
          </a:stretch>
        </p:blipFill>
        <p:spPr>
          <a:xfrm>
            <a:off x="609600" y="2887979"/>
            <a:ext cx="1016000" cy="1016000"/>
          </a:xfrm>
          <a:prstGeom prst="rect">
            <a:avLst/>
          </a:prstGeom>
        </p:spPr>
      </p:pic>
      <p:sp>
        <p:nvSpPr>
          <p:cNvPr id="11" name="TextBox 10"/>
          <p:cNvSpPr txBox="1"/>
          <p:nvPr/>
        </p:nvSpPr>
        <p:spPr>
          <a:xfrm>
            <a:off x="2070100" y="2849879"/>
            <a:ext cx="9563100" cy="121412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Never Rename, Add And Migrate</a:t>
            </a:r>
          </a:p>
          <a:p>
            <a:pPr algn="l">
              <a:lnSpc>
                <a:spcPts val="4680"/>
              </a:lnSpc>
            </a:pPr>
            <a:r>
              <a:rPr sz="3600" b="1">
                <a:solidFill>
                  <a:srgbClr val="2C2C2A"/>
                </a:solidFill>
                <a:latin typeface="Lexend"/>
              </a:rPr>
              <a:t>Instead</a:t>
            </a:r>
          </a:p>
        </p:txBody>
      </p:sp>
      <p:sp>
        <p:nvSpPr>
          <p:cNvPr id="12" name="TextBox 11"/>
          <p:cNvSpPr txBox="1"/>
          <p:nvPr/>
        </p:nvSpPr>
        <p:spPr>
          <a:xfrm>
            <a:off x="2070100" y="422910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One rule from the duties file is worth learning by heart.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Recap</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How The System Makes The Tables</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M05 · v1 · Slide 11</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scripts/modules/M05.json · AF-UNDERSTANDING-2026-10-22.md, APP-FACTORY-FRAMEWORK.md, BRICK-KITS.csv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circle-check-217A2D.png"/>
          <p:cNvPicPr>
            <a:picLocks noChangeAspect="1"/>
          </p:cNvPicPr>
          <p:nvPr/>
        </p:nvPicPr>
        <p:blipFill>
          <a:blip r:embed="rId2"/>
          <a:stretch>
            <a:fillRect/>
          </a:stretch>
        </p:blipFill>
        <p:spPr>
          <a:xfrm>
            <a:off x="609600" y="1808479"/>
            <a:ext cx="304800" cy="304800"/>
          </a:xfrm>
          <a:prstGeom prst="rect">
            <a:avLst/>
          </a:prstGeom>
        </p:spPr>
      </p:pic>
      <p:sp>
        <p:nvSpPr>
          <p:cNvPr id="11" name="TextBox 10"/>
          <p:cNvSpPr txBox="1"/>
          <p:nvPr/>
        </p:nvSpPr>
        <p:spPr>
          <a:xfrm>
            <a:off x="1092200" y="1833879"/>
            <a:ext cx="10541000" cy="339090"/>
          </a:xfrm>
          <a:prstGeom prst="rect">
            <a:avLst/>
          </a:prstGeom>
          <a:noFill/>
        </p:spPr>
        <p:txBody>
          <a:bodyPr wrap="square" lIns="0" rIns="0" tIns="0" bIns="0" anchor="t">
            <a:noAutofit/>
          </a:bodyPr>
          <a:lstStyle/>
          <a:p>
            <a:pPr algn="l">
              <a:lnSpc>
                <a:spcPts val="2470"/>
              </a:lnSpc>
            </a:pPr>
            <a:r>
              <a:rPr sz="1900" b="0">
                <a:solidFill>
                  <a:srgbClr val="2C2C2A"/>
                </a:solidFill>
                <a:latin typeface="Lexend SemiBold"/>
              </a:rPr>
              <a:t>Kits Bring The Tables, Codes Shape The Columns</a:t>
            </a:r>
          </a:p>
        </p:txBody>
      </p:sp>
      <p:pic>
        <p:nvPicPr>
          <p:cNvPr id="12" name="Picture 11" descr="circle-check-217A2D.png"/>
          <p:cNvPicPr>
            <a:picLocks noChangeAspect="1"/>
          </p:cNvPicPr>
          <p:nvPr/>
        </p:nvPicPr>
        <p:blipFill>
          <a:blip r:embed="rId2"/>
          <a:stretch>
            <a:fillRect/>
          </a:stretch>
        </p:blipFill>
        <p:spPr>
          <a:xfrm>
            <a:off x="609600" y="2316479"/>
            <a:ext cx="304800" cy="304800"/>
          </a:xfrm>
          <a:prstGeom prst="rect">
            <a:avLst/>
          </a:prstGeom>
        </p:spPr>
      </p:pic>
      <p:sp>
        <p:nvSpPr>
          <p:cNvPr id="13" name="TextBox 12"/>
          <p:cNvSpPr txBox="1"/>
          <p:nvPr/>
        </p:nvSpPr>
        <p:spPr>
          <a:xfrm>
            <a:off x="1092200" y="2341879"/>
            <a:ext cx="10541000" cy="339090"/>
          </a:xfrm>
          <a:prstGeom prst="rect">
            <a:avLst/>
          </a:prstGeom>
          <a:noFill/>
        </p:spPr>
        <p:txBody>
          <a:bodyPr wrap="square" lIns="0" rIns="0" tIns="0" bIns="0" anchor="t">
            <a:noAutofit/>
          </a:bodyPr>
          <a:lstStyle/>
          <a:p>
            <a:pPr algn="l">
              <a:lnSpc>
                <a:spcPts val="2470"/>
              </a:lnSpc>
            </a:pPr>
            <a:r>
              <a:rPr sz="1900" b="0">
                <a:solidFill>
                  <a:srgbClr val="2C2C2A"/>
                </a:solidFill>
                <a:latin typeface="Lexend SemiBold"/>
              </a:rPr>
              <a:t>Set Access Mode At Creation, Then Probe Signed Out</a:t>
            </a:r>
          </a:p>
        </p:txBody>
      </p:sp>
      <p:pic>
        <p:nvPicPr>
          <p:cNvPr id="14" name="Picture 13" descr="circle-check-217A2D.png"/>
          <p:cNvPicPr>
            <a:picLocks noChangeAspect="1"/>
          </p:cNvPicPr>
          <p:nvPr/>
        </p:nvPicPr>
        <p:blipFill>
          <a:blip r:embed="rId2"/>
          <a:stretch>
            <a:fillRect/>
          </a:stretch>
        </p:blipFill>
        <p:spPr>
          <a:xfrm>
            <a:off x="609600" y="2824479"/>
            <a:ext cx="304800" cy="304800"/>
          </a:xfrm>
          <a:prstGeom prst="rect">
            <a:avLst/>
          </a:prstGeom>
        </p:spPr>
      </p:pic>
      <p:sp>
        <p:nvSpPr>
          <p:cNvPr id="15" name="TextBox 14"/>
          <p:cNvSpPr txBox="1"/>
          <p:nvPr/>
        </p:nvSpPr>
        <p:spPr>
          <a:xfrm>
            <a:off x="1092200" y="2849879"/>
            <a:ext cx="10541000" cy="339090"/>
          </a:xfrm>
          <a:prstGeom prst="rect">
            <a:avLst/>
          </a:prstGeom>
          <a:noFill/>
        </p:spPr>
        <p:txBody>
          <a:bodyPr wrap="square" lIns="0" rIns="0" tIns="0" bIns="0" anchor="t">
            <a:noAutofit/>
          </a:bodyPr>
          <a:lstStyle/>
          <a:p>
            <a:pPr algn="l">
              <a:lnSpc>
                <a:spcPts val="2470"/>
              </a:lnSpc>
            </a:pPr>
            <a:r>
              <a:rPr sz="1900" b="0">
                <a:solidFill>
                  <a:srgbClr val="2C2C2A"/>
                </a:solidFill>
                <a:latin typeface="Lexend SemiBold"/>
              </a:rPr>
              <a:t>Every Table Gets A 4.0 Register Row And Reason</a:t>
            </a:r>
          </a:p>
        </p:txBody>
      </p:sp>
      <p:sp>
        <p:nvSpPr>
          <p:cNvPr id="16" name="Rounded Rectangle 15"/>
          <p:cNvSpPr/>
          <p:nvPr/>
        </p:nvSpPr>
        <p:spPr>
          <a:xfrm>
            <a:off x="609600" y="3459479"/>
            <a:ext cx="10972800" cy="852169"/>
          </a:xfrm>
          <a:prstGeom prst="roundRect">
            <a:avLst>
              <a:gd name="adj" fmla="val 35767"/>
            </a:avLst>
          </a:prstGeom>
          <a:solidFill>
            <a:srgbClr val="F2E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609600" y="3459479"/>
            <a:ext cx="38100" cy="852169"/>
          </a:xfrm>
          <a:prstGeom prst="roundRect">
            <a:avLst>
              <a:gd name="adj" fmla="val 50000"/>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63600" y="3611879"/>
            <a:ext cx="3860800" cy="207010"/>
          </a:xfrm>
          <a:prstGeom prst="rect">
            <a:avLst/>
          </a:prstGeom>
          <a:noFill/>
        </p:spPr>
        <p:txBody>
          <a:bodyPr wrap="square" lIns="0" rIns="0" tIns="0" bIns="0" anchor="t">
            <a:noAutofit/>
          </a:bodyPr>
          <a:lstStyle/>
          <a:p>
            <a:pPr algn="l">
              <a:lnSpc>
                <a:spcPts val="1430"/>
              </a:lnSpc>
            </a:pPr>
            <a:r>
              <a:rPr sz="1100" b="1">
                <a:solidFill>
                  <a:srgbClr val="756E65"/>
                </a:solidFill>
                <a:latin typeface="Lexend"/>
              </a:rPr>
              <a:t>WHY IT MATTERS</a:t>
            </a:r>
          </a:p>
        </p:txBody>
      </p:sp>
      <p:sp>
        <p:nvSpPr>
          <p:cNvPr id="19" name="TextBox 18"/>
          <p:cNvSpPr txBox="1"/>
          <p:nvPr/>
        </p:nvSpPr>
        <p:spPr>
          <a:xfrm>
            <a:off x="863600" y="3853179"/>
            <a:ext cx="10515600" cy="306070"/>
          </a:xfrm>
          <a:prstGeom prst="rect">
            <a:avLst/>
          </a:prstGeom>
          <a:noFill/>
        </p:spPr>
        <p:txBody>
          <a:bodyPr wrap="square" lIns="0" rIns="0" tIns="0" bIns="0" anchor="t">
            <a:noAutofit/>
          </a:bodyPr>
          <a:lstStyle/>
          <a:p>
            <a:pPr algn="l">
              <a:lnSpc>
                <a:spcPts val="2210"/>
              </a:lnSpc>
            </a:pPr>
            <a:r>
              <a:rPr sz="1700" b="1">
                <a:solidFill>
                  <a:srgbClr val="2C2C2A"/>
                </a:solidFill>
                <a:latin typeface="Lexend"/>
              </a:rPr>
              <a:t>Tables Planned Once Are Cheap, Fixed Later Are Not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Quick Check</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How The System Makes The Tables</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M05 · v1 · Slide 12</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scripts/modules/M05.json · AF-UNDERSTANDING-2026-10-22.md, APP-FACTORY-FRAMEWORK.md, BRICK-KITS.csv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sp>
        <p:nvSpPr>
          <p:cNvPr id="10" name="TextBox 9"/>
          <p:cNvSpPr txBox="1"/>
          <p:nvPr/>
        </p:nvSpPr>
        <p:spPr>
          <a:xfrm>
            <a:off x="609600" y="1744979"/>
            <a:ext cx="11023600" cy="421640"/>
          </a:xfrm>
          <a:prstGeom prst="rect">
            <a:avLst/>
          </a:prstGeom>
          <a:noFill/>
        </p:spPr>
        <p:txBody>
          <a:bodyPr wrap="square" lIns="0" rIns="0" tIns="0" bIns="0" anchor="t">
            <a:noAutofit/>
          </a:bodyPr>
          <a:lstStyle/>
          <a:p>
            <a:pPr algn="l">
              <a:lnSpc>
                <a:spcPts val="3120"/>
              </a:lnSpc>
            </a:pPr>
            <a:r>
              <a:rPr sz="2400" b="1">
                <a:solidFill>
                  <a:srgbClr val="2C2C2A"/>
                </a:solidFill>
                <a:latin typeface="Lexend"/>
              </a:rPr>
              <a:t>What is a schema?</a:t>
            </a:r>
          </a:p>
        </p:txBody>
      </p:sp>
      <p:sp>
        <p:nvSpPr>
          <p:cNvPr id="11" name="Rounded Rectangle 10"/>
          <p:cNvSpPr/>
          <p:nvPr/>
        </p:nvSpPr>
        <p:spPr>
          <a:xfrm>
            <a:off x="609600" y="2331719"/>
            <a:ext cx="5384800" cy="952500"/>
          </a:xfrm>
          <a:prstGeom prst="roundRect">
            <a:avLst>
              <a:gd name="adj" fmla="val 32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12800" y="2611119"/>
            <a:ext cx="431800" cy="388620"/>
          </a:xfrm>
          <a:prstGeom prst="rect">
            <a:avLst/>
          </a:prstGeom>
          <a:noFill/>
        </p:spPr>
        <p:txBody>
          <a:bodyPr wrap="square" lIns="0" rIns="0" tIns="0" bIns="0" anchor="t">
            <a:noAutofit/>
          </a:bodyPr>
          <a:lstStyle/>
          <a:p>
            <a:pPr algn="l">
              <a:lnSpc>
                <a:spcPts val="2860"/>
              </a:lnSpc>
            </a:pPr>
            <a:r>
              <a:rPr sz="2200" b="1">
                <a:solidFill>
                  <a:srgbClr val="756E65"/>
                </a:solidFill>
                <a:latin typeface="Lexend"/>
              </a:rPr>
              <a:t>A</a:t>
            </a:r>
          </a:p>
        </p:txBody>
      </p:sp>
      <p:sp>
        <p:nvSpPr>
          <p:cNvPr id="13" name="TextBox 12"/>
          <p:cNvSpPr txBox="1"/>
          <p:nvPr/>
        </p:nvSpPr>
        <p:spPr>
          <a:xfrm>
            <a:off x="1244600" y="2522219"/>
            <a:ext cx="4610100" cy="28956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The sales plan</a:t>
            </a:r>
          </a:p>
        </p:txBody>
      </p:sp>
      <p:sp>
        <p:nvSpPr>
          <p:cNvPr id="14" name="Rounded Rectangle 13"/>
          <p:cNvSpPr/>
          <p:nvPr/>
        </p:nvSpPr>
        <p:spPr>
          <a:xfrm>
            <a:off x="6197600" y="2331719"/>
            <a:ext cx="5384800" cy="952500"/>
          </a:xfrm>
          <a:prstGeom prst="roundRect">
            <a:avLst>
              <a:gd name="adj" fmla="val 32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400800" y="2611119"/>
            <a:ext cx="431800" cy="388620"/>
          </a:xfrm>
          <a:prstGeom prst="rect">
            <a:avLst/>
          </a:prstGeom>
          <a:noFill/>
        </p:spPr>
        <p:txBody>
          <a:bodyPr wrap="square" lIns="0" rIns="0" tIns="0" bIns="0" anchor="t">
            <a:noAutofit/>
          </a:bodyPr>
          <a:lstStyle/>
          <a:p>
            <a:pPr algn="l">
              <a:lnSpc>
                <a:spcPts val="2860"/>
              </a:lnSpc>
            </a:pPr>
            <a:r>
              <a:rPr sz="2200" b="1">
                <a:solidFill>
                  <a:srgbClr val="756E65"/>
                </a:solidFill>
                <a:latin typeface="Lexend"/>
              </a:rPr>
              <a:t>B</a:t>
            </a:r>
          </a:p>
        </p:txBody>
      </p:sp>
      <p:sp>
        <p:nvSpPr>
          <p:cNvPr id="16" name="TextBox 15"/>
          <p:cNvSpPr txBox="1"/>
          <p:nvPr/>
        </p:nvSpPr>
        <p:spPr>
          <a:xfrm>
            <a:off x="6832600" y="2522219"/>
            <a:ext cx="4610100" cy="28956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The plan of the tables that hold the data</a:t>
            </a:r>
          </a:p>
        </p:txBody>
      </p:sp>
      <p:sp>
        <p:nvSpPr>
          <p:cNvPr id="17" name="Rounded Rectangle 16"/>
          <p:cNvSpPr/>
          <p:nvPr/>
        </p:nvSpPr>
        <p:spPr>
          <a:xfrm>
            <a:off x="609600" y="3462019"/>
            <a:ext cx="5384800" cy="952500"/>
          </a:xfrm>
          <a:prstGeom prst="roundRect">
            <a:avLst>
              <a:gd name="adj" fmla="val 32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12800" y="3741419"/>
            <a:ext cx="431800" cy="388620"/>
          </a:xfrm>
          <a:prstGeom prst="rect">
            <a:avLst/>
          </a:prstGeom>
          <a:noFill/>
        </p:spPr>
        <p:txBody>
          <a:bodyPr wrap="square" lIns="0" rIns="0" tIns="0" bIns="0" anchor="t">
            <a:noAutofit/>
          </a:bodyPr>
          <a:lstStyle/>
          <a:p>
            <a:pPr algn="l">
              <a:lnSpc>
                <a:spcPts val="2860"/>
              </a:lnSpc>
            </a:pPr>
            <a:r>
              <a:rPr sz="2200" b="1">
                <a:solidFill>
                  <a:srgbClr val="756E65"/>
                </a:solidFill>
                <a:latin typeface="Lexend"/>
              </a:rPr>
              <a:t>C</a:t>
            </a:r>
          </a:p>
        </p:txBody>
      </p:sp>
      <p:sp>
        <p:nvSpPr>
          <p:cNvPr id="19" name="TextBox 18"/>
          <p:cNvSpPr txBox="1"/>
          <p:nvPr/>
        </p:nvSpPr>
        <p:spPr>
          <a:xfrm>
            <a:off x="1244600" y="3652519"/>
            <a:ext cx="4610100" cy="28956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A type of brick</a:t>
            </a:r>
          </a:p>
        </p:txBody>
      </p:sp>
      <p:sp>
        <p:nvSpPr>
          <p:cNvPr id="20" name="Rounded Rectangle 19"/>
          <p:cNvSpPr/>
          <p:nvPr/>
        </p:nvSpPr>
        <p:spPr>
          <a:xfrm>
            <a:off x="6197600" y="3462019"/>
            <a:ext cx="5384800" cy="952500"/>
          </a:xfrm>
          <a:prstGeom prst="roundRect">
            <a:avLst>
              <a:gd name="adj" fmla="val 32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400800" y="3741419"/>
            <a:ext cx="431800" cy="388620"/>
          </a:xfrm>
          <a:prstGeom prst="rect">
            <a:avLst/>
          </a:prstGeom>
          <a:noFill/>
        </p:spPr>
        <p:txBody>
          <a:bodyPr wrap="square" lIns="0" rIns="0" tIns="0" bIns="0" anchor="t">
            <a:noAutofit/>
          </a:bodyPr>
          <a:lstStyle/>
          <a:p>
            <a:pPr algn="l">
              <a:lnSpc>
                <a:spcPts val="2860"/>
              </a:lnSpc>
            </a:pPr>
            <a:r>
              <a:rPr sz="2200" b="1">
                <a:solidFill>
                  <a:srgbClr val="756E65"/>
                </a:solidFill>
                <a:latin typeface="Lexend"/>
              </a:rPr>
              <a:t>D</a:t>
            </a:r>
          </a:p>
        </p:txBody>
      </p:sp>
      <p:sp>
        <p:nvSpPr>
          <p:cNvPr id="22" name="TextBox 21"/>
          <p:cNvSpPr txBox="1"/>
          <p:nvPr/>
        </p:nvSpPr>
        <p:spPr>
          <a:xfrm>
            <a:off x="6832600" y="3652519"/>
            <a:ext cx="4610100" cy="28956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The launch checklist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Walls And Table Tests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M05-L2 · About 6 Minutes</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M05 · v1 · Slide 13</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scripts/modules/M05.json · AF-UNDERSTANDING-2026-10-22.md, APP-FACTORY-FRAMEWORK.md, BRICK-KITS.csv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target-2C2C2A.png"/>
          <p:cNvPicPr>
            <a:picLocks noChangeAspect="1"/>
          </p:cNvPicPr>
          <p:nvPr/>
        </p:nvPicPr>
        <p:blipFill>
          <a:blip r:embed="rId2"/>
          <a:stretch>
            <a:fillRect/>
          </a:stretch>
        </p:blipFill>
        <p:spPr>
          <a:xfrm>
            <a:off x="609600" y="2851150"/>
            <a:ext cx="1016000" cy="1016000"/>
          </a:xfrm>
          <a:prstGeom prst="rect">
            <a:avLst/>
          </a:prstGeom>
        </p:spPr>
      </p:pic>
      <p:sp>
        <p:nvSpPr>
          <p:cNvPr id="11" name="TextBox 10"/>
          <p:cNvSpPr txBox="1"/>
          <p:nvPr/>
        </p:nvSpPr>
        <p:spPr>
          <a:xfrm>
            <a:off x="2070100" y="2813050"/>
            <a:ext cx="9563100" cy="180848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You can name the eight walls and</a:t>
            </a:r>
          </a:p>
          <a:p>
            <a:pPr algn="l">
              <a:lnSpc>
                <a:spcPts val="4680"/>
              </a:lnSpc>
            </a:pPr>
            <a:r>
              <a:rPr sz="3600" b="1">
                <a:solidFill>
                  <a:srgbClr val="2C2C2A"/>
                </a:solidFill>
                <a:latin typeface="Lexend"/>
              </a:rPr>
              <a:t>describe the table tests that must pass</a:t>
            </a:r>
          </a:p>
          <a:p>
            <a:pPr algn="l">
              <a:lnSpc>
                <a:spcPts val="4680"/>
              </a:lnSpc>
            </a:pPr>
            <a:r>
              <a:rPr sz="3600" b="1">
                <a:solidFill>
                  <a:srgbClr val="2C2C2A"/>
                </a:solidFill>
                <a:latin typeface="Lexend"/>
              </a:rPr>
              <a:t>before the Schema gate.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Walls And Table Tests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M05-L2</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M05 · v1 · Slide 14</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scripts/modules/M05.json · AF-UNDERSTANDING-2026-10-22.md, APP-FACTORY-FRAMEWORK.md, BRICK-KITS.csv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alert-triangle-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Seeing Someone Else's Clients</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Theo's cousin works at a grooming salon.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Walls And Table Tests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M05-L2</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M05 · v1 · Slide 15</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scripts/modules/M05.json · AF-UNDERSTANDING-2026-10-22.md, APP-FACTORY-FRAMEWORK.md, BRICK-KITS.csv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wall-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A Wall Keeps Two Parties Apart</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In the factory, a wall is a rule that keeps two parties' data apart.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Walls And Table Tests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M05-L2</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M05 · v1 · Slide 16</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scripts/modules/M05.json · AF-UNDERSTANDING-2026-10-22.md, APP-FACTORY-FRAMEWORK.md, BRICK-KITS.csv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shield-check-2C2C2A.png"/>
          <p:cNvPicPr>
            <a:picLocks noChangeAspect="1"/>
          </p:cNvPicPr>
          <p:nvPr/>
        </p:nvPicPr>
        <p:blipFill>
          <a:blip r:embed="rId2"/>
          <a:stretch>
            <a:fillRect/>
          </a:stretch>
        </p:blipFill>
        <p:spPr>
          <a:xfrm>
            <a:off x="609600" y="3020060"/>
            <a:ext cx="1016000" cy="1016000"/>
          </a:xfrm>
          <a:prstGeom prst="rect">
            <a:avLst/>
          </a:prstGeom>
        </p:spPr>
      </p:pic>
      <p:sp>
        <p:nvSpPr>
          <p:cNvPr id="11" name="TextBox 10"/>
          <p:cNvSpPr txBox="1"/>
          <p:nvPr/>
        </p:nvSpPr>
        <p:spPr>
          <a:xfrm>
            <a:off x="2070100" y="29819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The Eight Walls W1-W8</a:t>
            </a:r>
          </a:p>
        </p:txBody>
      </p:sp>
      <p:sp>
        <p:nvSpPr>
          <p:cNvPr id="12" name="TextBox 11"/>
          <p:cNvSpPr txBox="1"/>
          <p:nvPr/>
        </p:nvSpPr>
        <p:spPr>
          <a:xfrm>
            <a:off x="2070100" y="3766820"/>
            <a:ext cx="9563100" cy="6858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The full set has eight walls, numbered W1-W8, and most codes on the idea</a:t>
            </a:r>
          </a:p>
          <a:p>
            <a:pPr algn="l">
              <a:lnSpc>
                <a:spcPts val="2600"/>
              </a:lnSpc>
            </a:pPr>
            <a:r>
              <a:rPr sz="2000" b="0">
                <a:solidFill>
                  <a:srgbClr val="756E65"/>
                </a:solidFill>
                <a:latin typeface="Lexend"/>
              </a:rPr>
              <a:t>card point to one.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Walls And Table Tests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M05-L2</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M05 · v1 · Slide 17</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scripts/modules/M05.json · AF-UNDERSTANDING-2026-10-22.md, APP-FACTORY-FRAMEWORK.md, BRICK-KITS.csv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test-pipe-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Each Table Gets The Right Test</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Stage 4 ends with table tests, section 4.4 of the document.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Walls And Table Tests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M05-L2</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M05 · v1 · Slide 18</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scripts/modules/M05.json · AF-UNDERSTANDING-2026-10-22.md, APP-FACTORY-FRAMEWORK.md, BRICK-KITS.csv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lock-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A 401 Means Not Allowed In</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401 is a status code, a number a web server sends back with every answer.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Walls And Table Tests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M05-L2</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M05 · v1 · Slide 19</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scripts/modules/M05.json · AF-UNDERSTANDING-2026-10-22.md, APP-FACTORY-FRAMEWORK.md, BRICK-KITS.csv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filter-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Shared Tables Need Field-Level Tests</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Some tables are shared on purpose.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Walls And Table Tests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M05-L2</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M05 · v1 · Slide 20</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scripts/modules/M05.json · AF-UNDERSTANDING-2026-10-22.md, APP-FACTORY-FRAMEWORK.md, BRICK-KITS.csv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calendar-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Every Test Has A Dated Result</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A test without a result is just a hope.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Walls And Table Tests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M05-L2</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M05 · v1 · Slide 21</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scripts/modules/M05.json · AF-UNDERSTANDING-2026-10-22.md, APP-FACTORY-FRAMEWORK.md, BRICK-KITS.csv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table-options-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The Schema Gate Passes By Itself</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Then comes the Schema gate.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Recap</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Walls And Table Tests</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M05 · v1 · Slide 22</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scripts/modules/M05.json · AF-UNDERSTANDING-2026-10-22.md, APP-FACTORY-FRAMEWORK.md, BRICK-KITS.csv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circle-check-217A2D.png"/>
          <p:cNvPicPr>
            <a:picLocks noChangeAspect="1"/>
          </p:cNvPicPr>
          <p:nvPr/>
        </p:nvPicPr>
        <p:blipFill>
          <a:blip r:embed="rId2"/>
          <a:stretch>
            <a:fillRect/>
          </a:stretch>
        </p:blipFill>
        <p:spPr>
          <a:xfrm>
            <a:off x="609600" y="1808479"/>
            <a:ext cx="304800" cy="304800"/>
          </a:xfrm>
          <a:prstGeom prst="rect">
            <a:avLst/>
          </a:prstGeom>
        </p:spPr>
      </p:pic>
      <p:sp>
        <p:nvSpPr>
          <p:cNvPr id="11" name="TextBox 10"/>
          <p:cNvSpPr txBox="1"/>
          <p:nvPr/>
        </p:nvSpPr>
        <p:spPr>
          <a:xfrm>
            <a:off x="1092200" y="1833879"/>
            <a:ext cx="10541000" cy="339090"/>
          </a:xfrm>
          <a:prstGeom prst="rect">
            <a:avLst/>
          </a:prstGeom>
          <a:noFill/>
        </p:spPr>
        <p:txBody>
          <a:bodyPr wrap="square" lIns="0" rIns="0" tIns="0" bIns="0" anchor="t">
            <a:noAutofit/>
          </a:bodyPr>
          <a:lstStyle/>
          <a:p>
            <a:pPr algn="l">
              <a:lnSpc>
                <a:spcPts val="2470"/>
              </a:lnSpc>
            </a:pPr>
            <a:r>
              <a:rPr sz="1900" b="0">
                <a:solidFill>
                  <a:srgbClr val="2C2C2A"/>
                </a:solidFill>
                <a:latin typeface="Lexend SemiBold"/>
              </a:rPr>
              <a:t>Eight Walls W1-W8 Keep Parties Apart</a:t>
            </a:r>
          </a:p>
        </p:txBody>
      </p:sp>
      <p:pic>
        <p:nvPicPr>
          <p:cNvPr id="12" name="Picture 11" descr="circle-check-217A2D.png"/>
          <p:cNvPicPr>
            <a:picLocks noChangeAspect="1"/>
          </p:cNvPicPr>
          <p:nvPr/>
        </p:nvPicPr>
        <p:blipFill>
          <a:blip r:embed="rId2"/>
          <a:stretch>
            <a:fillRect/>
          </a:stretch>
        </p:blipFill>
        <p:spPr>
          <a:xfrm>
            <a:off x="609600" y="2316479"/>
            <a:ext cx="304800" cy="304800"/>
          </a:xfrm>
          <a:prstGeom prst="rect">
            <a:avLst/>
          </a:prstGeom>
        </p:spPr>
      </p:pic>
      <p:sp>
        <p:nvSpPr>
          <p:cNvPr id="13" name="TextBox 12"/>
          <p:cNvSpPr txBox="1"/>
          <p:nvPr/>
        </p:nvSpPr>
        <p:spPr>
          <a:xfrm>
            <a:off x="1092200" y="2341879"/>
            <a:ext cx="10541000" cy="339090"/>
          </a:xfrm>
          <a:prstGeom prst="rect">
            <a:avLst/>
          </a:prstGeom>
          <a:noFill/>
        </p:spPr>
        <p:txBody>
          <a:bodyPr wrap="square" lIns="0" rIns="0" tIns="0" bIns="0" anchor="t">
            <a:noAutofit/>
          </a:bodyPr>
          <a:lstStyle/>
          <a:p>
            <a:pPr algn="l">
              <a:lnSpc>
                <a:spcPts val="2470"/>
              </a:lnSpc>
            </a:pPr>
            <a:r>
              <a:rPr sz="1900" b="0">
                <a:solidFill>
                  <a:srgbClr val="2C2C2A"/>
                </a:solidFill>
                <a:latin typeface="Lexend SemiBold"/>
              </a:rPr>
              <a:t>Brand-Wall, User-Wall And Anonymous 401 Table Tests</a:t>
            </a:r>
          </a:p>
        </p:txBody>
      </p:sp>
      <p:pic>
        <p:nvPicPr>
          <p:cNvPr id="14" name="Picture 13" descr="circle-check-217A2D.png"/>
          <p:cNvPicPr>
            <a:picLocks noChangeAspect="1"/>
          </p:cNvPicPr>
          <p:nvPr/>
        </p:nvPicPr>
        <p:blipFill>
          <a:blip r:embed="rId2"/>
          <a:stretch>
            <a:fillRect/>
          </a:stretch>
        </p:blipFill>
        <p:spPr>
          <a:xfrm>
            <a:off x="609600" y="2824479"/>
            <a:ext cx="304800" cy="304800"/>
          </a:xfrm>
          <a:prstGeom prst="rect">
            <a:avLst/>
          </a:prstGeom>
        </p:spPr>
      </p:pic>
      <p:sp>
        <p:nvSpPr>
          <p:cNvPr id="15" name="TextBox 14"/>
          <p:cNvSpPr txBox="1"/>
          <p:nvPr/>
        </p:nvSpPr>
        <p:spPr>
          <a:xfrm>
            <a:off x="1092200" y="2849879"/>
            <a:ext cx="10541000" cy="339090"/>
          </a:xfrm>
          <a:prstGeom prst="rect">
            <a:avLst/>
          </a:prstGeom>
          <a:noFill/>
        </p:spPr>
        <p:txBody>
          <a:bodyPr wrap="square" lIns="0" rIns="0" tIns="0" bIns="0" anchor="t">
            <a:noAutofit/>
          </a:bodyPr>
          <a:lstStyle/>
          <a:p>
            <a:pPr algn="l">
              <a:lnSpc>
                <a:spcPts val="2470"/>
              </a:lnSpc>
            </a:pPr>
            <a:r>
              <a:rPr sz="1900" b="0">
                <a:solidFill>
                  <a:srgbClr val="2C2C2A"/>
                </a:solidFill>
                <a:latin typeface="Lexend SemiBold"/>
              </a:rPr>
              <a:t>Shared Tables Need Field-Level Tests, Then Auto Schema Gate</a:t>
            </a:r>
          </a:p>
        </p:txBody>
      </p:sp>
      <p:sp>
        <p:nvSpPr>
          <p:cNvPr id="16" name="Rounded Rectangle 15"/>
          <p:cNvSpPr/>
          <p:nvPr/>
        </p:nvSpPr>
        <p:spPr>
          <a:xfrm>
            <a:off x="609600" y="3459479"/>
            <a:ext cx="10972800" cy="852169"/>
          </a:xfrm>
          <a:prstGeom prst="roundRect">
            <a:avLst>
              <a:gd name="adj" fmla="val 35767"/>
            </a:avLst>
          </a:prstGeom>
          <a:solidFill>
            <a:srgbClr val="F2E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609600" y="3459479"/>
            <a:ext cx="38100" cy="852169"/>
          </a:xfrm>
          <a:prstGeom prst="roundRect">
            <a:avLst>
              <a:gd name="adj" fmla="val 50000"/>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63600" y="3611879"/>
            <a:ext cx="3860800" cy="207010"/>
          </a:xfrm>
          <a:prstGeom prst="rect">
            <a:avLst/>
          </a:prstGeom>
          <a:noFill/>
        </p:spPr>
        <p:txBody>
          <a:bodyPr wrap="square" lIns="0" rIns="0" tIns="0" bIns="0" anchor="t">
            <a:noAutofit/>
          </a:bodyPr>
          <a:lstStyle/>
          <a:p>
            <a:pPr algn="l">
              <a:lnSpc>
                <a:spcPts val="1430"/>
              </a:lnSpc>
            </a:pPr>
            <a:r>
              <a:rPr sz="1100" b="1">
                <a:solidFill>
                  <a:srgbClr val="756E65"/>
                </a:solidFill>
                <a:latin typeface="Lexend"/>
              </a:rPr>
              <a:t>WHY IT MATTERS</a:t>
            </a:r>
          </a:p>
        </p:txBody>
      </p:sp>
      <p:sp>
        <p:nvSpPr>
          <p:cNvPr id="19" name="TextBox 18"/>
          <p:cNvSpPr txBox="1"/>
          <p:nvPr/>
        </p:nvSpPr>
        <p:spPr>
          <a:xfrm>
            <a:off x="863600" y="3853179"/>
            <a:ext cx="10515600" cy="306070"/>
          </a:xfrm>
          <a:prstGeom prst="rect">
            <a:avLst/>
          </a:prstGeom>
          <a:noFill/>
        </p:spPr>
        <p:txBody>
          <a:bodyPr wrap="square" lIns="0" rIns="0" tIns="0" bIns="0" anchor="t">
            <a:noAutofit/>
          </a:bodyPr>
          <a:lstStyle/>
          <a:p>
            <a:pPr algn="l">
              <a:lnSpc>
                <a:spcPts val="2210"/>
              </a:lnSpc>
            </a:pPr>
            <a:r>
              <a:rPr sz="1700" b="1">
                <a:solidFill>
                  <a:srgbClr val="2C2C2A"/>
                </a:solidFill>
                <a:latin typeface="Lexend"/>
              </a:rPr>
              <a:t>A Test That Can Fail Is The Only Proof</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Quick Check</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Walls And Table Tests</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M05 · v1 · Slide 23</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scripts/modules/M05.json · AF-UNDERSTANDING-2026-10-22.md, APP-FACTORY-FRAMEWORK.md, BRICK-KITS.csv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sp>
        <p:nvSpPr>
          <p:cNvPr id="10" name="TextBox 9"/>
          <p:cNvSpPr txBox="1"/>
          <p:nvPr/>
        </p:nvSpPr>
        <p:spPr>
          <a:xfrm>
            <a:off x="609600" y="1744979"/>
            <a:ext cx="11023600" cy="421640"/>
          </a:xfrm>
          <a:prstGeom prst="rect">
            <a:avLst/>
          </a:prstGeom>
          <a:noFill/>
        </p:spPr>
        <p:txBody>
          <a:bodyPr wrap="square" lIns="0" rIns="0" tIns="0" bIns="0" anchor="t">
            <a:noAutofit/>
          </a:bodyPr>
          <a:lstStyle/>
          <a:p>
            <a:pPr algn="l">
              <a:lnSpc>
                <a:spcPts val="3120"/>
              </a:lnSpc>
            </a:pPr>
            <a:r>
              <a:rPr sz="2400" b="1">
                <a:solidFill>
                  <a:srgbClr val="2C2C2A"/>
                </a:solidFill>
                <a:latin typeface="Lexend"/>
              </a:rPr>
              <a:t>Which wall keeps one business's data away from another business?</a:t>
            </a:r>
          </a:p>
        </p:txBody>
      </p:sp>
      <p:sp>
        <p:nvSpPr>
          <p:cNvPr id="11" name="Rounded Rectangle 10"/>
          <p:cNvSpPr/>
          <p:nvPr/>
        </p:nvSpPr>
        <p:spPr>
          <a:xfrm>
            <a:off x="609600" y="2331719"/>
            <a:ext cx="5384800" cy="952500"/>
          </a:xfrm>
          <a:prstGeom prst="roundRect">
            <a:avLst>
              <a:gd name="adj" fmla="val 32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12800" y="2611119"/>
            <a:ext cx="431800" cy="388620"/>
          </a:xfrm>
          <a:prstGeom prst="rect">
            <a:avLst/>
          </a:prstGeom>
          <a:noFill/>
        </p:spPr>
        <p:txBody>
          <a:bodyPr wrap="square" lIns="0" rIns="0" tIns="0" bIns="0" anchor="t">
            <a:noAutofit/>
          </a:bodyPr>
          <a:lstStyle/>
          <a:p>
            <a:pPr algn="l">
              <a:lnSpc>
                <a:spcPts val="2860"/>
              </a:lnSpc>
            </a:pPr>
            <a:r>
              <a:rPr sz="2200" b="1">
                <a:solidFill>
                  <a:srgbClr val="756E65"/>
                </a:solidFill>
                <a:latin typeface="Lexend"/>
              </a:rPr>
              <a:t>A</a:t>
            </a:r>
          </a:p>
        </p:txBody>
      </p:sp>
      <p:sp>
        <p:nvSpPr>
          <p:cNvPr id="13" name="TextBox 12"/>
          <p:cNvSpPr txBox="1"/>
          <p:nvPr/>
        </p:nvSpPr>
        <p:spPr>
          <a:xfrm>
            <a:off x="1244600" y="2522219"/>
            <a:ext cx="4610100" cy="28956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W1 Brand Wall</a:t>
            </a:r>
          </a:p>
        </p:txBody>
      </p:sp>
      <p:sp>
        <p:nvSpPr>
          <p:cNvPr id="14" name="Rounded Rectangle 13"/>
          <p:cNvSpPr/>
          <p:nvPr/>
        </p:nvSpPr>
        <p:spPr>
          <a:xfrm>
            <a:off x="6197600" y="2331719"/>
            <a:ext cx="5384800" cy="952500"/>
          </a:xfrm>
          <a:prstGeom prst="roundRect">
            <a:avLst>
              <a:gd name="adj" fmla="val 32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400800" y="2611119"/>
            <a:ext cx="431800" cy="388620"/>
          </a:xfrm>
          <a:prstGeom prst="rect">
            <a:avLst/>
          </a:prstGeom>
          <a:noFill/>
        </p:spPr>
        <p:txBody>
          <a:bodyPr wrap="square" lIns="0" rIns="0" tIns="0" bIns="0" anchor="t">
            <a:noAutofit/>
          </a:bodyPr>
          <a:lstStyle/>
          <a:p>
            <a:pPr algn="l">
              <a:lnSpc>
                <a:spcPts val="2860"/>
              </a:lnSpc>
            </a:pPr>
            <a:r>
              <a:rPr sz="2200" b="1">
                <a:solidFill>
                  <a:srgbClr val="756E65"/>
                </a:solidFill>
                <a:latin typeface="Lexend"/>
              </a:rPr>
              <a:t>B</a:t>
            </a:r>
          </a:p>
        </p:txBody>
      </p:sp>
      <p:sp>
        <p:nvSpPr>
          <p:cNvPr id="16" name="TextBox 15"/>
          <p:cNvSpPr txBox="1"/>
          <p:nvPr/>
        </p:nvSpPr>
        <p:spPr>
          <a:xfrm>
            <a:off x="6832600" y="2522219"/>
            <a:ext cx="4610100" cy="28956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W6 Public Wall</a:t>
            </a:r>
          </a:p>
        </p:txBody>
      </p:sp>
      <p:sp>
        <p:nvSpPr>
          <p:cNvPr id="17" name="Rounded Rectangle 16"/>
          <p:cNvSpPr/>
          <p:nvPr/>
        </p:nvSpPr>
        <p:spPr>
          <a:xfrm>
            <a:off x="609600" y="3462019"/>
            <a:ext cx="5384800" cy="952500"/>
          </a:xfrm>
          <a:prstGeom prst="roundRect">
            <a:avLst>
              <a:gd name="adj" fmla="val 32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12800" y="3741419"/>
            <a:ext cx="431800" cy="388620"/>
          </a:xfrm>
          <a:prstGeom prst="rect">
            <a:avLst/>
          </a:prstGeom>
          <a:noFill/>
        </p:spPr>
        <p:txBody>
          <a:bodyPr wrap="square" lIns="0" rIns="0" tIns="0" bIns="0" anchor="t">
            <a:noAutofit/>
          </a:bodyPr>
          <a:lstStyle/>
          <a:p>
            <a:pPr algn="l">
              <a:lnSpc>
                <a:spcPts val="2860"/>
              </a:lnSpc>
            </a:pPr>
            <a:r>
              <a:rPr sz="2200" b="1">
                <a:solidFill>
                  <a:srgbClr val="756E65"/>
                </a:solidFill>
                <a:latin typeface="Lexend"/>
              </a:rPr>
              <a:t>C</a:t>
            </a:r>
          </a:p>
        </p:txBody>
      </p:sp>
      <p:sp>
        <p:nvSpPr>
          <p:cNvPr id="19" name="TextBox 18"/>
          <p:cNvSpPr txBox="1"/>
          <p:nvPr/>
        </p:nvSpPr>
        <p:spPr>
          <a:xfrm>
            <a:off x="1244600" y="3652519"/>
            <a:ext cx="4610100" cy="28956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W7 Data-Out Wall</a:t>
            </a:r>
          </a:p>
        </p:txBody>
      </p:sp>
      <p:sp>
        <p:nvSpPr>
          <p:cNvPr id="20" name="Rounded Rectangle 19"/>
          <p:cNvSpPr/>
          <p:nvPr/>
        </p:nvSpPr>
        <p:spPr>
          <a:xfrm>
            <a:off x="6197600" y="3462019"/>
            <a:ext cx="5384800" cy="952500"/>
          </a:xfrm>
          <a:prstGeom prst="roundRect">
            <a:avLst>
              <a:gd name="adj" fmla="val 32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400800" y="3741419"/>
            <a:ext cx="431800" cy="388620"/>
          </a:xfrm>
          <a:prstGeom prst="rect">
            <a:avLst/>
          </a:prstGeom>
          <a:noFill/>
        </p:spPr>
        <p:txBody>
          <a:bodyPr wrap="square" lIns="0" rIns="0" tIns="0" bIns="0" anchor="t">
            <a:noAutofit/>
          </a:bodyPr>
          <a:lstStyle/>
          <a:p>
            <a:pPr algn="l">
              <a:lnSpc>
                <a:spcPts val="2860"/>
              </a:lnSpc>
            </a:pPr>
            <a:r>
              <a:rPr sz="2200" b="1">
                <a:solidFill>
                  <a:srgbClr val="756E65"/>
                </a:solidFill>
                <a:latin typeface="Lexend"/>
              </a:rPr>
              <a:t>D</a:t>
            </a:r>
          </a:p>
        </p:txBody>
      </p:sp>
      <p:sp>
        <p:nvSpPr>
          <p:cNvPr id="22" name="TextBox 21"/>
          <p:cNvSpPr txBox="1"/>
          <p:nvPr/>
        </p:nvSpPr>
        <p:spPr>
          <a:xfrm>
            <a:off x="6832600" y="3652519"/>
            <a:ext cx="4610100" cy="28956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W8 Sensitivity Hold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